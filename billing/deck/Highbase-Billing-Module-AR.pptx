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derived from the prototype build, not from the brief text. Every figure was read out of data.js.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1A37"/>
        </a:solidFill>
      </p:bgPr>
    </p:bg>
    <p:spTree>
      <p:nvGrpSpPr>
        <p:cNvPr id="1" name=""/>
        <p:cNvGrpSpPr/>
        <p:nvPr/>
      </p:nvGrpSpPr>
      <p:grpSpPr>
        <a:xfrm>
          <a:off x="0" y="0"/>
          <a:ext cx="0" cy="0"/>
          <a:chOff x="0" y="0"/>
          <a:chExt cx="0" cy="0"/>
        </a:xfrm>
      </p:grpSpPr>
      <p:sp>
        <p:nvSpPr>
          <p:cNvPr id="2" name="Text 0"/>
          <p:cNvSpPr txBox="1"/>
          <p:nvPr/>
        </p:nvSpPr>
        <p:spPr>
          <a:xfrm>
            <a:off x="4053535" y="1371600"/>
            <a:ext cx="7315200" cy="274320"/>
          </a:xfrm>
          <a:prstGeom prst="rect">
            <a:avLst/>
          </a:prstGeom>
          <a:noFill/>
          <a:ln/>
        </p:spPr>
        <p:txBody>
          <a:bodyPr wrap="square" lIns="0" tIns="0" rIns="0" bIns="0" rtlCol="0" anchor="ctr"/>
          <a:lstStyle/>
          <a:p>
            <a:pPr rtl="1" algn="r" indent="0" marL="0">
              <a:buNone/>
            </a:pPr>
            <a:r>
              <a:rPr lang="en-US" sz="1200" b="1" spc="200" kern="0" dirty="0">
                <a:solidFill>
                  <a:srgbClr val="FE8E00"/>
                </a:solidFill>
                <a:latin typeface="Arial" pitchFamily="34" charset="0"/>
                <a:ea typeface="Arial" pitchFamily="34" charset="-122"/>
                <a:cs typeface="Arial" pitchFamily="34" charset="-120"/>
              </a:rPr>
              <a:t>مراجعة النموذج الأولي · مدير المنتج والرئيس التنفيذي</a:t>
            </a:r>
            <a:endParaRPr lang="en-US" sz="1200" dirty="0"/>
          </a:p>
        </p:txBody>
      </p:sp>
      <p:sp>
        <p:nvSpPr>
          <p:cNvPr id="3" name="Text 1"/>
          <p:cNvSpPr txBox="1"/>
          <p:nvPr/>
        </p:nvSpPr>
        <p:spPr>
          <a:xfrm>
            <a:off x="1310335" y="1828800"/>
            <a:ext cx="10058400" cy="914400"/>
          </a:xfrm>
          <a:prstGeom prst="rect">
            <a:avLst/>
          </a:prstGeom>
          <a:noFill/>
          <a:ln/>
        </p:spPr>
        <p:txBody>
          <a:bodyPr wrap="square" lIns="0" tIns="0" rIns="0" bIns="0" rtlCol="0" anchor="ctr"/>
          <a:lstStyle/>
          <a:p>
            <a:pPr rtl="1" algn="r" indent="0" marL="0">
              <a:buNone/>
            </a:pPr>
            <a:r>
              <a:rPr lang="en-US" sz="4800" b="1" dirty="0">
                <a:solidFill>
                  <a:srgbClr val="FFFFFF"/>
                </a:solidFill>
                <a:latin typeface="Arial" pitchFamily="34" charset="0"/>
                <a:ea typeface="Arial" pitchFamily="34" charset="-122"/>
                <a:cs typeface="Arial" pitchFamily="34" charset="-120"/>
              </a:rPr>
              <a:t>وحدة الفوترة في Highbase</a:t>
            </a:r>
            <a:endParaRPr lang="en-US" sz="4800" dirty="0"/>
          </a:p>
        </p:txBody>
      </p:sp>
      <p:sp>
        <p:nvSpPr>
          <p:cNvPr id="4" name="Text 2"/>
          <p:cNvSpPr txBox="1"/>
          <p:nvPr/>
        </p:nvSpPr>
        <p:spPr>
          <a:xfrm>
            <a:off x="1310335" y="2788920"/>
            <a:ext cx="10058400" cy="731520"/>
          </a:xfrm>
          <a:prstGeom prst="rect">
            <a:avLst/>
          </a:prstGeom>
          <a:noFill/>
          <a:ln/>
        </p:spPr>
        <p:txBody>
          <a:bodyPr wrap="square" lIns="0" tIns="0" rIns="0" bIns="0" rtlCol="0" anchor="ctr"/>
          <a:lstStyle/>
          <a:p>
            <a:pPr rtl="1" algn="r" indent="0" marL="0">
              <a:buNone/>
            </a:pPr>
            <a:r>
              <a:rPr lang="en-US" sz="3400" dirty="0">
                <a:solidFill>
                  <a:srgbClr val="7FC4F0"/>
                </a:solidFill>
                <a:latin typeface="Arial" pitchFamily="34" charset="0"/>
                <a:ea typeface="Arial" pitchFamily="34" charset="-122"/>
                <a:cs typeface="Arial" pitchFamily="34" charset="-120"/>
              </a:rPr>
              <a:t>أين المال؟</a:t>
            </a:r>
            <a:endParaRPr lang="en-US" sz="3400" dirty="0"/>
          </a:p>
        </p:txBody>
      </p:sp>
      <p:sp>
        <p:nvSpPr>
          <p:cNvPr id="5" name="Shape 3"/>
          <p:cNvSpPr/>
          <p:nvPr/>
        </p:nvSpPr>
        <p:spPr>
          <a:xfrm>
            <a:off x="8396935" y="3794760"/>
            <a:ext cx="2926080" cy="18288"/>
          </a:xfrm>
          <a:prstGeom prst="rect">
            <a:avLst/>
          </a:prstGeom>
          <a:solidFill>
            <a:srgbClr val="102641"/>
          </a:solidFill>
          <a:ln/>
        </p:spPr>
      </p:sp>
      <p:sp>
        <p:nvSpPr>
          <p:cNvPr id="6" name="Text 4"/>
          <p:cNvSpPr txBox="1"/>
          <p:nvPr/>
        </p:nvSpPr>
        <p:spPr>
          <a:xfrm>
            <a:off x="3504895" y="4069080"/>
            <a:ext cx="7863840" cy="1097280"/>
          </a:xfrm>
          <a:prstGeom prst="rect">
            <a:avLst/>
          </a:prstGeom>
          <a:noFill/>
          <a:ln/>
        </p:spPr>
        <p:txBody>
          <a:bodyPr wrap="square" lIns="0" tIns="0" rIns="0" bIns="0" rtlCol="0" anchor="ctr"/>
          <a:lstStyle/>
          <a:p>
            <a:pPr rtl="1" algn="r" indent="0" marL="0">
              <a:lnSpc>
                <a:spcPts val="2400"/>
              </a:lnSpc>
              <a:buNone/>
            </a:pPr>
            <a:r>
              <a:rPr lang="en-US" sz="1500" dirty="0">
                <a:solidFill>
                  <a:srgbClr val="A9C3DA"/>
                </a:solidFill>
                <a:latin typeface="Arial" pitchFamily="34" charset="0"/>
                <a:ea typeface="Arial" pitchFamily="34" charset="-122"/>
                <a:cs typeface="Arial" pitchFamily="34" charset="-120"/>
              </a:rPr>
              <a:t>دفتر واحد، وثلاثة قرّاء — البائع، والمشتري، وHighbase.</a:t>
            </a:r>
            <a:endParaRPr lang="en-US" sz="1500" dirty="0"/>
          </a:p>
          <a:p>
            <a:pPr rtl="1" algn="r" indent="0" marL="0">
              <a:lnSpc>
                <a:spcPts val="2400"/>
              </a:lnSpc>
              <a:buNone/>
            </a:pPr>
            <a:r>
              <a:rPr lang="en-US" sz="1500" dirty="0">
                <a:solidFill>
                  <a:srgbClr val="A9C3DA"/>
                </a:solidFill>
                <a:latin typeface="Arial" pitchFamily="34" charset="0"/>
                <a:ea typeface="Arial" pitchFamily="34" charset="-122"/>
                <a:cs typeface="Arial" pitchFamily="34" charset="-120"/>
              </a:rPr>
              <a:t>كل رقم في هذا العرض مشتق من النموذج الأولي، لا منقول من المستند.</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11204143" y="475488"/>
            <a:ext cx="420624" cy="420624"/>
          </a:xfrm>
          <a:prstGeom prst="ellipse">
            <a:avLst/>
          </a:prstGeom>
          <a:solidFill>
            <a:srgbClr val="021A37"/>
          </a:solidFill>
          <a:ln/>
        </p:spPr>
      </p:sp>
      <p:sp>
        <p:nvSpPr>
          <p:cNvPr id="3" name="Text 1"/>
          <p:cNvSpPr txBox="1"/>
          <p:nvPr/>
        </p:nvSpPr>
        <p:spPr>
          <a:xfrm>
            <a:off x="11204143" y="475488"/>
            <a:ext cx="420624" cy="420624"/>
          </a:xfrm>
          <a:prstGeom prst="rect">
            <a:avLst/>
          </a:prstGeom>
          <a:noFill/>
          <a:ln/>
        </p:spPr>
        <p:txBody>
          <a:bodyPr wrap="square" lIns="0" tIns="0" rIns="0" bIns="0" rtlCol="0" anchor="ctr"/>
          <a:lstStyle/>
          <a:p>
            <a:pPr rtl="1" algn="ctr" indent="0" marL="0">
              <a:buNone/>
            </a:pPr>
            <a:r>
              <a:rPr lang="en-US" sz="1300" b="1" dirty="0">
                <a:solidFill>
                  <a:srgbClr val="FFFFFF"/>
                </a:solidFill>
                <a:latin typeface="Arial" pitchFamily="34" charset="0"/>
                <a:ea typeface="Arial" pitchFamily="34" charset="-122"/>
                <a:cs typeface="Arial" pitchFamily="34" charset="-120"/>
              </a:rPr>
              <a:t>01</a:t>
            </a:r>
            <a:endParaRPr lang="en-US" sz="1300" dirty="0"/>
          </a:p>
        </p:txBody>
      </p:sp>
      <p:sp>
        <p:nvSpPr>
          <p:cNvPr id="4" name="Text 2"/>
          <p:cNvSpPr txBox="1"/>
          <p:nvPr/>
        </p:nvSpPr>
        <p:spPr>
          <a:xfrm>
            <a:off x="597103" y="347472"/>
            <a:ext cx="10424160" cy="868680"/>
          </a:xfrm>
          <a:prstGeom prst="rect">
            <a:avLst/>
          </a:prstGeom>
          <a:noFill/>
          <a:ln/>
        </p:spPr>
        <p:txBody>
          <a:bodyPr wrap="square" lIns="0" tIns="0" rIns="0" bIns="0" rtlCol="0" anchor="ctr"/>
          <a:lstStyle/>
          <a:p>
            <a:pPr rtl="1" algn="r" indent="0" marL="0">
              <a:buNone/>
            </a:pPr>
            <a:r>
              <a:rPr lang="en-US" sz="2800" b="1" dirty="0">
                <a:solidFill>
                  <a:srgbClr val="021A37"/>
                </a:solidFill>
                <a:latin typeface="Arial" pitchFamily="34" charset="0"/>
                <a:ea typeface="Arial" pitchFamily="34" charset="-122"/>
                <a:cs typeface="Arial" pitchFamily="34" charset="-120"/>
              </a:rPr>
              <a:t>رصيد واحد، وأربعة أسئلة مختلفة</a:t>
            </a:r>
            <a:endParaRPr lang="en-US" sz="2800" dirty="0"/>
          </a:p>
        </p:txBody>
      </p:sp>
      <p:sp>
        <p:nvSpPr>
          <p:cNvPr id="5" name="Text 3"/>
          <p:cNvSpPr txBox="1"/>
          <p:nvPr/>
        </p:nvSpPr>
        <p:spPr>
          <a:xfrm>
            <a:off x="5717743" y="1417320"/>
            <a:ext cx="5852160" cy="3108960"/>
          </a:xfrm>
          <a:prstGeom prst="rect">
            <a:avLst/>
          </a:prstGeom>
          <a:noFill/>
          <a:ln/>
        </p:spPr>
        <p:txBody>
          <a:bodyPr wrap="square" lIns="0" tIns="0" rIns="0" bIns="0" rtlCol="0" anchor="t"/>
          <a:lstStyle/>
          <a:p>
            <a:pPr rtl="1" algn="r" indent="0" marL="0">
              <a:lnSpc>
                <a:spcPts val="2800"/>
              </a:lnSpc>
              <a:buNone/>
            </a:pPr>
            <a:r>
              <a:rPr lang="en-US" sz="1600" dirty="0">
                <a:solidFill>
                  <a:srgbClr val="0D2136"/>
                </a:solidFill>
                <a:latin typeface="Arial" pitchFamily="34" charset="0"/>
                <a:ea typeface="Arial" pitchFamily="34" charset="-122"/>
                <a:cs typeface="Arial" pitchFamily="34" charset="-120"/>
              </a:rPr>
              <a:t>يعرض كشف حساب البائع رقماً واحداً. وهذا الرقم يخلط بين نقد تحتفظ به Highbase فعلياً، وعمولة مستحقة لها فقط، وطلبات لم يحصّلها أحد بعد.</a:t>
            </a:r>
            <a:endParaRPr lang="en-US" sz="1600" dirty="0"/>
          </a:p>
          <a:p>
            <a:pPr rtl="1" algn="r" indent="0" marL="0">
              <a:lnSpc>
                <a:spcPts val="2800"/>
              </a:lnSpc>
              <a:buNone/>
            </a:pPr>
            <a:endParaRPr lang="en-US" sz="1600" dirty="0"/>
          </a:p>
          <a:p>
            <a:pPr rtl="1" algn="r" indent="0" marL="0">
              <a:lnSpc>
                <a:spcPts val="2800"/>
              </a:lnSpc>
              <a:buNone/>
            </a:pPr>
            <a:r>
              <a:rPr lang="en-US" sz="1600" dirty="0">
                <a:solidFill>
                  <a:srgbClr val="0D2136"/>
                </a:solidFill>
                <a:latin typeface="Arial" pitchFamily="34" charset="0"/>
                <a:ea typeface="Arial" pitchFamily="34" charset="-122"/>
                <a:cs typeface="Arial" pitchFamily="34" charset="-120"/>
              </a:rPr>
              <a:t>وليست المسألة تقريباً حسابياً: على بائع واحد، اليوم، يضخّم هذا الرقم ما يبدو أن Highbase مدينة به بمقدار 291.000 د.ب.</a:t>
            </a:r>
            <a:endParaRPr lang="en-US" sz="1600" dirty="0"/>
          </a:p>
        </p:txBody>
      </p:sp>
      <p:sp>
        <p:nvSpPr>
          <p:cNvPr id="6" name="Shape 4"/>
          <p:cNvSpPr/>
          <p:nvPr/>
        </p:nvSpPr>
        <p:spPr>
          <a:xfrm>
            <a:off x="624535" y="1417320"/>
            <a:ext cx="4663440" cy="3566160"/>
          </a:xfrm>
          <a:prstGeom prst="roundRect">
            <a:avLst>
              <a:gd name="adj" fmla="val 2308"/>
            </a:avLst>
          </a:prstGeom>
          <a:solidFill>
            <a:srgbClr val="F7FAFD"/>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7" name="Text 5"/>
          <p:cNvSpPr txBox="1"/>
          <p:nvPr/>
        </p:nvSpPr>
        <p:spPr>
          <a:xfrm>
            <a:off x="990295" y="1664208"/>
            <a:ext cx="3931920" cy="1234440"/>
          </a:xfrm>
          <a:prstGeom prst="rect">
            <a:avLst/>
          </a:prstGeom>
          <a:noFill/>
          <a:ln/>
        </p:spPr>
        <p:txBody>
          <a:bodyPr wrap="square" lIns="0" tIns="0" rIns="0" bIns="0" rtlCol="0" anchor="ctr"/>
          <a:lstStyle/>
          <a:p>
            <a:pPr algn="ctr" indent="0" marL="0">
              <a:buNone/>
            </a:pPr>
            <a:r>
              <a:rPr lang="en-US" sz="6200" b="1" dirty="0">
                <a:solidFill>
                  <a:srgbClr val="D0402A"/>
                </a:solidFill>
                <a:latin typeface="Arial" pitchFamily="34" charset="0"/>
                <a:ea typeface="Arial" pitchFamily="34" charset="-122"/>
                <a:cs typeface="Arial" pitchFamily="34" charset="-120"/>
              </a:rPr>
              <a:t>291.000</a:t>
            </a:r>
            <a:pPr algn="ctr" indent="0" marL="0">
              <a:buNone/>
            </a:pPr>
            <a:r>
              <a:rPr lang="en-US" sz="2000" b="1" dirty="0">
                <a:solidFill>
                  <a:srgbClr val="D0402A"/>
                </a:solidFill>
                <a:latin typeface="Arial" pitchFamily="34" charset="0"/>
                <a:ea typeface="Arial" pitchFamily="34" charset="-122"/>
                <a:cs typeface="Arial" pitchFamily="34" charset="-120"/>
              </a:rPr>
              <a:t> د.ب</a:t>
            </a:r>
            <a:endParaRPr lang="en-US" sz="6200" dirty="0"/>
          </a:p>
        </p:txBody>
      </p:sp>
      <p:sp>
        <p:nvSpPr>
          <p:cNvPr id="8" name="Text 6"/>
          <p:cNvSpPr txBox="1"/>
          <p:nvPr/>
        </p:nvSpPr>
        <p:spPr>
          <a:xfrm>
            <a:off x="990295" y="2944368"/>
            <a:ext cx="3931920" cy="320040"/>
          </a:xfrm>
          <a:prstGeom prst="rect">
            <a:avLst/>
          </a:prstGeom>
          <a:noFill/>
          <a:ln/>
        </p:spPr>
        <p:txBody>
          <a:bodyPr wrap="square" lIns="0" tIns="0" rIns="0" bIns="0" rtlCol="0" anchor="ctr"/>
          <a:lstStyle/>
          <a:p>
            <a:pPr rtl="1" algn="ctr" indent="0" marL="0">
              <a:buNone/>
            </a:pPr>
            <a:r>
              <a:rPr lang="en-US" sz="1400" dirty="0">
                <a:solidFill>
                  <a:srgbClr val="5B7080"/>
                </a:solidFill>
                <a:latin typeface="Arial" pitchFamily="34" charset="0"/>
                <a:ea typeface="Arial" pitchFamily="34" charset="-122"/>
                <a:cs typeface="Arial" pitchFamily="34" charset="-120"/>
              </a:rPr>
              <a:t>تضخيم على بائع واحد</a:t>
            </a:r>
            <a:endParaRPr lang="en-US" sz="1400" dirty="0"/>
          </a:p>
        </p:txBody>
      </p:sp>
      <p:sp>
        <p:nvSpPr>
          <p:cNvPr id="9" name="Shape 7"/>
          <p:cNvSpPr/>
          <p:nvPr/>
        </p:nvSpPr>
        <p:spPr>
          <a:xfrm>
            <a:off x="1356055" y="3419856"/>
            <a:ext cx="3200400" cy="13716"/>
          </a:xfrm>
          <a:prstGeom prst="rect">
            <a:avLst/>
          </a:prstGeom>
          <a:solidFill>
            <a:srgbClr val="E6EDF3"/>
          </a:solidFill>
          <a:ln/>
        </p:spPr>
      </p:sp>
      <p:sp>
        <p:nvSpPr>
          <p:cNvPr id="10" name="Text 8"/>
          <p:cNvSpPr txBox="1"/>
          <p:nvPr/>
        </p:nvSpPr>
        <p:spPr>
          <a:xfrm>
            <a:off x="3139135" y="3602736"/>
            <a:ext cx="1874520" cy="502920"/>
          </a:xfrm>
          <a:prstGeom prst="rect">
            <a:avLst/>
          </a:prstGeom>
          <a:noFill/>
          <a:ln/>
        </p:spPr>
        <p:txBody>
          <a:bodyPr wrap="square" lIns="0" tIns="0" rIns="0" bIns="0" rtlCol="0" anchor="ctr"/>
          <a:lstStyle/>
          <a:p>
            <a:pPr rtl="1" algn="ctr" indent="0" marL="0">
              <a:buNone/>
            </a:pPr>
            <a:r>
              <a:rPr lang="en-US" sz="2700" b="1" dirty="0">
                <a:solidFill>
                  <a:srgbClr val="021A37"/>
                </a:solidFill>
                <a:latin typeface="Arial" pitchFamily="34" charset="0"/>
                <a:ea typeface="Arial" pitchFamily="34" charset="-122"/>
                <a:cs typeface="Arial" pitchFamily="34" charset="-120"/>
              </a:rPr>
              <a:t>28.0%</a:t>
            </a:r>
            <a:endParaRPr lang="en-US" sz="2700" dirty="0"/>
          </a:p>
        </p:txBody>
      </p:sp>
      <p:sp>
        <p:nvSpPr>
          <p:cNvPr id="11" name="Text 9"/>
          <p:cNvSpPr txBox="1"/>
          <p:nvPr/>
        </p:nvSpPr>
        <p:spPr>
          <a:xfrm>
            <a:off x="3139135" y="4105656"/>
            <a:ext cx="1874520" cy="685800"/>
          </a:xfrm>
          <a:prstGeom prst="rect">
            <a:avLst/>
          </a:prstGeom>
          <a:noFill/>
          <a:ln/>
        </p:spPr>
        <p:txBody>
          <a:bodyPr wrap="square" lIns="0" tIns="0" rIns="0" bIns="0" rtlCol="0" anchor="ctr"/>
          <a:lstStyle/>
          <a:p>
            <a:pPr rtl="1" algn="ctr" indent="0" marL="0">
              <a:buNone/>
            </a:pPr>
            <a:r>
              <a:rPr lang="en-US" sz="1200" dirty="0">
                <a:solidFill>
                  <a:srgbClr val="5B7080"/>
                </a:solidFill>
                <a:latin typeface="Arial" pitchFamily="34" charset="0"/>
                <a:ea typeface="Arial" pitchFamily="34" charset="-122"/>
                <a:cs typeface="Arial" pitchFamily="34" charset="-120"/>
              </a:rPr>
              <a:t>من دفتر هذا البائع</a:t>
            </a:r>
            <a:endParaRPr lang="en-US" sz="1200" dirty="0"/>
          </a:p>
        </p:txBody>
      </p:sp>
      <p:sp>
        <p:nvSpPr>
          <p:cNvPr id="12" name="Text 10"/>
          <p:cNvSpPr txBox="1"/>
          <p:nvPr/>
        </p:nvSpPr>
        <p:spPr>
          <a:xfrm>
            <a:off x="1036015" y="3602736"/>
            <a:ext cx="1874520" cy="502920"/>
          </a:xfrm>
          <a:prstGeom prst="rect">
            <a:avLst/>
          </a:prstGeom>
          <a:noFill/>
          <a:ln/>
        </p:spPr>
        <p:txBody>
          <a:bodyPr wrap="square" lIns="0" tIns="0" rIns="0" bIns="0" rtlCol="0" anchor="ctr"/>
          <a:lstStyle/>
          <a:p>
            <a:pPr rtl="1" algn="ctr" indent="0" marL="0">
              <a:buNone/>
            </a:pPr>
            <a:r>
              <a:rPr lang="en-US" sz="2700" b="1" dirty="0">
                <a:solidFill>
                  <a:srgbClr val="021A37"/>
                </a:solidFill>
                <a:latin typeface="Arial" pitchFamily="34" charset="0"/>
                <a:ea typeface="Arial" pitchFamily="34" charset="-122"/>
                <a:cs typeface="Arial" pitchFamily="34" charset="-120"/>
              </a:rPr>
              <a:t>‎9.33×</a:t>
            </a:r>
            <a:endParaRPr lang="en-US" sz="2700" dirty="0"/>
          </a:p>
        </p:txBody>
      </p:sp>
      <p:sp>
        <p:nvSpPr>
          <p:cNvPr id="13" name="Text 11"/>
          <p:cNvSpPr txBox="1"/>
          <p:nvPr/>
        </p:nvSpPr>
        <p:spPr>
          <a:xfrm>
            <a:off x="1036015" y="4105656"/>
            <a:ext cx="1874520" cy="685800"/>
          </a:xfrm>
          <a:prstGeom prst="rect">
            <a:avLst/>
          </a:prstGeom>
          <a:noFill/>
          <a:ln/>
        </p:spPr>
        <p:txBody>
          <a:bodyPr wrap="square" lIns="0" tIns="0" rIns="0" bIns="0" rtlCol="0" anchor="ctr"/>
          <a:lstStyle/>
          <a:p>
            <a:pPr rtl="1" algn="ctr" indent="0" marL="0">
              <a:buNone/>
            </a:pPr>
            <a:r>
              <a:rPr lang="en-US" sz="1200" dirty="0">
                <a:solidFill>
                  <a:srgbClr val="5B7080"/>
                </a:solidFill>
                <a:latin typeface="Arial" pitchFamily="34" charset="0"/>
                <a:ea typeface="Arial" pitchFamily="34" charset="-122"/>
                <a:cs typeface="Arial" pitchFamily="34" charset="-120"/>
              </a:rPr>
              <a:t>ضعف العمولة المكتسبة على الطلب</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11204143" y="475488"/>
            <a:ext cx="420624" cy="420624"/>
          </a:xfrm>
          <a:prstGeom prst="ellipse">
            <a:avLst/>
          </a:prstGeom>
          <a:solidFill>
            <a:srgbClr val="021A37"/>
          </a:solidFill>
          <a:ln/>
        </p:spPr>
      </p:sp>
      <p:sp>
        <p:nvSpPr>
          <p:cNvPr id="3" name="Text 1"/>
          <p:cNvSpPr txBox="1"/>
          <p:nvPr/>
        </p:nvSpPr>
        <p:spPr>
          <a:xfrm>
            <a:off x="11204143" y="475488"/>
            <a:ext cx="420624" cy="420624"/>
          </a:xfrm>
          <a:prstGeom prst="rect">
            <a:avLst/>
          </a:prstGeom>
          <a:noFill/>
          <a:ln/>
        </p:spPr>
        <p:txBody>
          <a:bodyPr wrap="square" lIns="0" tIns="0" rIns="0" bIns="0" rtlCol="0" anchor="ctr"/>
          <a:lstStyle/>
          <a:p>
            <a:pPr rtl="1" algn="ctr" indent="0" marL="0">
              <a:buNone/>
            </a:pPr>
            <a:r>
              <a:rPr lang="en-US" sz="1300" b="1" dirty="0">
                <a:solidFill>
                  <a:srgbClr val="FFFFFF"/>
                </a:solidFill>
                <a:latin typeface="Arial" pitchFamily="34" charset="0"/>
                <a:ea typeface="Arial" pitchFamily="34" charset="-122"/>
                <a:cs typeface="Arial" pitchFamily="34" charset="-120"/>
              </a:rPr>
              <a:t>02</a:t>
            </a:r>
            <a:endParaRPr lang="en-US" sz="1300" dirty="0"/>
          </a:p>
        </p:txBody>
      </p:sp>
      <p:sp>
        <p:nvSpPr>
          <p:cNvPr id="4" name="Text 2"/>
          <p:cNvSpPr txBox="1"/>
          <p:nvPr/>
        </p:nvSpPr>
        <p:spPr>
          <a:xfrm>
            <a:off x="597103" y="347472"/>
            <a:ext cx="10424160" cy="868680"/>
          </a:xfrm>
          <a:prstGeom prst="rect">
            <a:avLst/>
          </a:prstGeom>
          <a:noFill/>
          <a:ln/>
        </p:spPr>
        <p:txBody>
          <a:bodyPr wrap="square" lIns="0" tIns="0" rIns="0" bIns="0" rtlCol="0" anchor="ctr"/>
          <a:lstStyle/>
          <a:p>
            <a:pPr rtl="1" algn="r" indent="0" marL="0">
              <a:buNone/>
            </a:pPr>
            <a:r>
              <a:rPr lang="en-US" sz="2800" b="1" dirty="0">
                <a:solidFill>
                  <a:srgbClr val="021A37"/>
                </a:solidFill>
                <a:latin typeface="Arial" pitchFamily="34" charset="0"/>
                <a:ea typeface="Arial" pitchFamily="34" charset="-122"/>
                <a:cs typeface="Arial" pitchFamily="34" charset="-120"/>
              </a:rPr>
              <a:t>ما الذي يخفيه الرقم الواحد</a:t>
            </a:r>
            <a:endParaRPr lang="en-US" sz="2800" dirty="0"/>
          </a:p>
        </p:txBody>
      </p:sp>
      <p:sp>
        <p:nvSpPr>
          <p:cNvPr id="5" name="Shape 3"/>
          <p:cNvSpPr/>
          <p:nvPr/>
        </p:nvSpPr>
        <p:spPr>
          <a:xfrm>
            <a:off x="560527" y="1481328"/>
            <a:ext cx="11064240" cy="1371600"/>
          </a:xfrm>
          <a:prstGeom prst="roundRect">
            <a:avLst>
              <a:gd name="adj" fmla="val 6000"/>
            </a:avLst>
          </a:prstGeom>
          <a:solidFill>
            <a:srgbClr val="FFFFFF"/>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6" name="Shape 4"/>
          <p:cNvSpPr/>
          <p:nvPr/>
        </p:nvSpPr>
        <p:spPr>
          <a:xfrm>
            <a:off x="10710367" y="1883664"/>
            <a:ext cx="566928" cy="566928"/>
          </a:xfrm>
          <a:prstGeom prst="ellipse">
            <a:avLst/>
          </a:prstGeom>
          <a:solidFill>
            <a:srgbClr val="EDF7FE"/>
          </a:solidFill>
          <a:ln/>
        </p:spPr>
      </p:sp>
      <p:sp>
        <p:nvSpPr>
          <p:cNvPr id="7" name="Text 5"/>
          <p:cNvSpPr txBox="1"/>
          <p:nvPr/>
        </p:nvSpPr>
        <p:spPr>
          <a:xfrm>
            <a:off x="10710367" y="1883664"/>
            <a:ext cx="566928" cy="566928"/>
          </a:xfrm>
          <a:prstGeom prst="rect">
            <a:avLst/>
          </a:prstGeom>
          <a:noFill/>
          <a:ln/>
        </p:spPr>
        <p:txBody>
          <a:bodyPr wrap="square" lIns="0" tIns="0" rIns="0" bIns="0" rtlCol="0" anchor="ctr"/>
          <a:lstStyle/>
          <a:p>
            <a:pPr rtl="1" algn="ctr" indent="0" marL="0">
              <a:buNone/>
            </a:pPr>
            <a:r>
              <a:rPr lang="en-US" sz="2000" b="1" dirty="0">
                <a:solidFill>
                  <a:srgbClr val="026DBD"/>
                </a:solidFill>
                <a:latin typeface="Arial" pitchFamily="34" charset="0"/>
                <a:ea typeface="Arial" pitchFamily="34" charset="-122"/>
                <a:cs typeface="Arial" pitchFamily="34" charset="-120"/>
              </a:rPr>
              <a:t>1</a:t>
            </a:r>
            <a:endParaRPr lang="en-US" sz="2000" dirty="0"/>
          </a:p>
        </p:txBody>
      </p:sp>
      <p:sp>
        <p:nvSpPr>
          <p:cNvPr id="8" name="Text 6"/>
          <p:cNvSpPr txBox="1"/>
          <p:nvPr/>
        </p:nvSpPr>
        <p:spPr>
          <a:xfrm>
            <a:off x="926287" y="1682496"/>
            <a:ext cx="9509760" cy="365760"/>
          </a:xfrm>
          <a:prstGeom prst="rect">
            <a:avLst/>
          </a:prstGeom>
          <a:noFill/>
          <a:ln/>
        </p:spPr>
        <p:txBody>
          <a:bodyPr wrap="square" lIns="0" tIns="0" rIns="0" bIns="0" rtlCol="0" anchor="ctr"/>
          <a:lstStyle/>
          <a:p>
            <a:pPr rtl="1" algn="r" indent="0" marL="0">
              <a:buNone/>
            </a:pPr>
            <a:r>
              <a:rPr lang="en-US" sz="1900" b="1" dirty="0">
                <a:solidFill>
                  <a:srgbClr val="021A37"/>
                </a:solidFill>
                <a:latin typeface="Arial" pitchFamily="34" charset="0"/>
                <a:ea typeface="Arial" pitchFamily="34" charset="-122"/>
                <a:cs typeface="Arial" pitchFamily="34" charset="-120"/>
              </a:rPr>
              <a:t>البائع هو من حصّل النقد</a:t>
            </a:r>
            <a:endParaRPr lang="en-US" sz="1900" dirty="0"/>
          </a:p>
        </p:txBody>
      </p:sp>
      <p:sp>
        <p:nvSpPr>
          <p:cNvPr id="9" name="Text 7"/>
          <p:cNvSpPr txBox="1"/>
          <p:nvPr/>
        </p:nvSpPr>
        <p:spPr>
          <a:xfrm>
            <a:off x="926287" y="2066544"/>
            <a:ext cx="9509760" cy="658368"/>
          </a:xfrm>
          <a:prstGeom prst="rect">
            <a:avLst/>
          </a:prstGeom>
          <a:noFill/>
          <a:ln/>
        </p:spPr>
        <p:txBody>
          <a:bodyPr wrap="square" lIns="0" tIns="0" rIns="0" bIns="0" rtlCol="0" anchor="ctr"/>
          <a:lstStyle/>
          <a:p>
            <a:pPr rtl="1" algn="r" indent="0" marL="0">
              <a:lnSpc>
                <a:spcPts val="2000"/>
              </a:lnSpc>
              <a:buNone/>
            </a:pPr>
            <a:r>
              <a:rPr lang="en-US" sz="1400" dirty="0">
                <a:solidFill>
                  <a:srgbClr val="5B7080"/>
                </a:solidFill>
                <a:latin typeface="Arial" pitchFamily="34" charset="0"/>
                <a:ea typeface="Arial" pitchFamily="34" charset="-122"/>
                <a:cs typeface="Arial" pitchFamily="34" charset="-120"/>
              </a:rPr>
              <a:t>كثير من الطلبات تُدفع مباشرة إلى البائع — نقداً عند التسليم أو بحوالة بنكية. المال لا يمرّ عبر Highbase إطلاقاً، فما ينشأ هنا عمولة مستحقة لها، لا رصيد تحتفظ به.</a:t>
            </a:r>
            <a:endParaRPr lang="en-US" sz="1400" dirty="0"/>
          </a:p>
        </p:txBody>
      </p:sp>
      <p:sp>
        <p:nvSpPr>
          <p:cNvPr id="10" name="Shape 8"/>
          <p:cNvSpPr/>
          <p:nvPr/>
        </p:nvSpPr>
        <p:spPr>
          <a:xfrm>
            <a:off x="560527" y="3054096"/>
            <a:ext cx="11064240" cy="1371600"/>
          </a:xfrm>
          <a:prstGeom prst="roundRect">
            <a:avLst>
              <a:gd name="adj" fmla="val 6000"/>
            </a:avLst>
          </a:prstGeom>
          <a:solidFill>
            <a:srgbClr val="FFFFFF"/>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11" name="Shape 9"/>
          <p:cNvSpPr/>
          <p:nvPr/>
        </p:nvSpPr>
        <p:spPr>
          <a:xfrm>
            <a:off x="10710367" y="3456432"/>
            <a:ext cx="566928" cy="566928"/>
          </a:xfrm>
          <a:prstGeom prst="ellipse">
            <a:avLst/>
          </a:prstGeom>
          <a:solidFill>
            <a:srgbClr val="FFF5E6"/>
          </a:solidFill>
          <a:ln/>
        </p:spPr>
      </p:sp>
      <p:sp>
        <p:nvSpPr>
          <p:cNvPr id="12" name="Text 10"/>
          <p:cNvSpPr txBox="1"/>
          <p:nvPr/>
        </p:nvSpPr>
        <p:spPr>
          <a:xfrm>
            <a:off x="10710367" y="3456432"/>
            <a:ext cx="566928" cy="566928"/>
          </a:xfrm>
          <a:prstGeom prst="rect">
            <a:avLst/>
          </a:prstGeom>
          <a:noFill/>
          <a:ln/>
        </p:spPr>
        <p:txBody>
          <a:bodyPr wrap="square" lIns="0" tIns="0" rIns="0" bIns="0" rtlCol="0" anchor="ctr"/>
          <a:lstStyle/>
          <a:p>
            <a:pPr rtl="1" algn="ctr" indent="0" marL="0">
              <a:buNone/>
            </a:pPr>
            <a:r>
              <a:rPr lang="en-US" sz="2000" b="1" dirty="0">
                <a:solidFill>
                  <a:srgbClr val="FE8E00"/>
                </a:solidFill>
                <a:latin typeface="Arial" pitchFamily="34" charset="0"/>
                <a:ea typeface="Arial" pitchFamily="34" charset="-122"/>
                <a:cs typeface="Arial" pitchFamily="34" charset="-120"/>
              </a:rPr>
              <a:t>2</a:t>
            </a:r>
            <a:endParaRPr lang="en-US" sz="2000" dirty="0"/>
          </a:p>
        </p:txBody>
      </p:sp>
      <p:sp>
        <p:nvSpPr>
          <p:cNvPr id="13" name="Text 11"/>
          <p:cNvSpPr txBox="1"/>
          <p:nvPr/>
        </p:nvSpPr>
        <p:spPr>
          <a:xfrm>
            <a:off x="926287" y="3255264"/>
            <a:ext cx="9509760" cy="365760"/>
          </a:xfrm>
          <a:prstGeom prst="rect">
            <a:avLst/>
          </a:prstGeom>
          <a:noFill/>
          <a:ln/>
        </p:spPr>
        <p:txBody>
          <a:bodyPr wrap="square" lIns="0" tIns="0" rIns="0" bIns="0" rtlCol="0" anchor="ctr"/>
          <a:lstStyle/>
          <a:p>
            <a:pPr rtl="1" algn="r" indent="0" marL="0">
              <a:buNone/>
            </a:pPr>
            <a:r>
              <a:rPr lang="en-US" sz="1900" b="1" dirty="0">
                <a:solidFill>
                  <a:srgbClr val="021A37"/>
                </a:solidFill>
                <a:latin typeface="Arial" pitchFamily="34" charset="0"/>
                <a:ea typeface="Arial" pitchFamily="34" charset="-122"/>
                <a:cs typeface="Arial" pitchFamily="34" charset="-120"/>
              </a:rPr>
              <a:t>لم يحصّلها أحد بعد</a:t>
            </a:r>
            <a:endParaRPr lang="en-US" sz="1900" dirty="0"/>
          </a:p>
        </p:txBody>
      </p:sp>
      <p:sp>
        <p:nvSpPr>
          <p:cNvPr id="14" name="Text 12"/>
          <p:cNvSpPr txBox="1"/>
          <p:nvPr/>
        </p:nvSpPr>
        <p:spPr>
          <a:xfrm>
            <a:off x="926287" y="3639312"/>
            <a:ext cx="9509760" cy="658368"/>
          </a:xfrm>
          <a:prstGeom prst="rect">
            <a:avLst/>
          </a:prstGeom>
          <a:noFill/>
          <a:ln/>
        </p:spPr>
        <p:txBody>
          <a:bodyPr wrap="square" lIns="0" tIns="0" rIns="0" bIns="0" rtlCol="0" anchor="ctr"/>
          <a:lstStyle/>
          <a:p>
            <a:pPr rtl="1" algn="r" indent="0" marL="0">
              <a:lnSpc>
                <a:spcPts val="2000"/>
              </a:lnSpc>
              <a:buNone/>
            </a:pPr>
            <a:r>
              <a:rPr lang="en-US" sz="1400" dirty="0">
                <a:solidFill>
                  <a:srgbClr val="5B7080"/>
                </a:solidFill>
                <a:latin typeface="Arial" pitchFamily="34" charset="0"/>
                <a:ea typeface="Arial" pitchFamily="34" charset="-122"/>
                <a:cs typeface="Arial" pitchFamily="34" charset="-120"/>
              </a:rPr>
              <a:t>الطلبات الآجلة سُلّمت وفوترت ولم تُحصّل. هي ليست محتجزة ولا مستحقة: إنها قائمة على المشتري.</a:t>
            </a:r>
            <a:endParaRPr lang="en-US" sz="1400" dirty="0"/>
          </a:p>
        </p:txBody>
      </p:sp>
      <p:sp>
        <p:nvSpPr>
          <p:cNvPr id="15" name="Shape 13"/>
          <p:cNvSpPr/>
          <p:nvPr/>
        </p:nvSpPr>
        <p:spPr>
          <a:xfrm>
            <a:off x="560527" y="4626864"/>
            <a:ext cx="11064240" cy="1371600"/>
          </a:xfrm>
          <a:prstGeom prst="roundRect">
            <a:avLst>
              <a:gd name="adj" fmla="val 6000"/>
            </a:avLst>
          </a:prstGeom>
          <a:solidFill>
            <a:srgbClr val="FFFFFF"/>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16" name="Shape 14"/>
          <p:cNvSpPr/>
          <p:nvPr/>
        </p:nvSpPr>
        <p:spPr>
          <a:xfrm>
            <a:off x="10710367" y="5029200"/>
            <a:ext cx="566928" cy="566928"/>
          </a:xfrm>
          <a:prstGeom prst="ellipse">
            <a:avLst/>
          </a:prstGeom>
          <a:solidFill>
            <a:srgbClr val="FEEEE9"/>
          </a:solidFill>
          <a:ln/>
        </p:spPr>
      </p:sp>
      <p:sp>
        <p:nvSpPr>
          <p:cNvPr id="17" name="Text 15"/>
          <p:cNvSpPr txBox="1"/>
          <p:nvPr/>
        </p:nvSpPr>
        <p:spPr>
          <a:xfrm>
            <a:off x="10710367" y="5029200"/>
            <a:ext cx="566928" cy="566928"/>
          </a:xfrm>
          <a:prstGeom prst="rect">
            <a:avLst/>
          </a:prstGeom>
          <a:noFill/>
          <a:ln/>
        </p:spPr>
        <p:txBody>
          <a:bodyPr wrap="square" lIns="0" tIns="0" rIns="0" bIns="0" rtlCol="0" anchor="ctr"/>
          <a:lstStyle/>
          <a:p>
            <a:pPr rtl="1" algn="ctr" indent="0" marL="0">
              <a:buNone/>
            </a:pPr>
            <a:r>
              <a:rPr lang="en-US" sz="2000" b="1" dirty="0">
                <a:solidFill>
                  <a:srgbClr val="D0402A"/>
                </a:solidFill>
                <a:latin typeface="Arial" pitchFamily="34" charset="0"/>
                <a:ea typeface="Arial" pitchFamily="34" charset="-122"/>
                <a:cs typeface="Arial" pitchFamily="34" charset="-120"/>
              </a:rPr>
              <a:t>3</a:t>
            </a:r>
            <a:endParaRPr lang="en-US" sz="2000" dirty="0"/>
          </a:p>
        </p:txBody>
      </p:sp>
      <p:sp>
        <p:nvSpPr>
          <p:cNvPr id="18" name="Text 16"/>
          <p:cNvSpPr txBox="1"/>
          <p:nvPr/>
        </p:nvSpPr>
        <p:spPr>
          <a:xfrm>
            <a:off x="926287" y="4828032"/>
            <a:ext cx="9509760" cy="365760"/>
          </a:xfrm>
          <a:prstGeom prst="rect">
            <a:avLst/>
          </a:prstGeom>
          <a:noFill/>
          <a:ln/>
        </p:spPr>
        <p:txBody>
          <a:bodyPr wrap="square" lIns="0" tIns="0" rIns="0" bIns="0" rtlCol="0" anchor="ctr"/>
          <a:lstStyle/>
          <a:p>
            <a:pPr rtl="1" algn="r" indent="0" marL="0">
              <a:buNone/>
            </a:pPr>
            <a:r>
              <a:rPr lang="en-US" sz="1900" b="1" dirty="0">
                <a:solidFill>
                  <a:srgbClr val="021A37"/>
                </a:solidFill>
                <a:latin typeface="Arial" pitchFamily="34" charset="0"/>
                <a:ea typeface="Arial" pitchFamily="34" charset="-122"/>
                <a:cs typeface="Arial" pitchFamily="34" charset="-120"/>
              </a:rPr>
              <a:t>الدفاتر تحتوي أخطاء إشارة</a:t>
            </a:r>
            <a:endParaRPr lang="en-US" sz="1900" dirty="0"/>
          </a:p>
        </p:txBody>
      </p:sp>
      <p:sp>
        <p:nvSpPr>
          <p:cNvPr id="19" name="Text 17"/>
          <p:cNvSpPr txBox="1"/>
          <p:nvPr/>
        </p:nvSpPr>
        <p:spPr>
          <a:xfrm>
            <a:off x="926287" y="5212080"/>
            <a:ext cx="9509760" cy="658368"/>
          </a:xfrm>
          <a:prstGeom prst="rect">
            <a:avLst/>
          </a:prstGeom>
          <a:noFill/>
          <a:ln/>
        </p:spPr>
        <p:txBody>
          <a:bodyPr wrap="square" lIns="0" tIns="0" rIns="0" bIns="0" rtlCol="0" anchor="ctr"/>
          <a:lstStyle/>
          <a:p>
            <a:pPr rtl="1" algn="r" indent="0" marL="0">
              <a:lnSpc>
                <a:spcPts val="2000"/>
              </a:lnSpc>
              <a:buNone/>
            </a:pPr>
            <a:r>
              <a:rPr lang="en-US" sz="1400" dirty="0">
                <a:solidFill>
                  <a:srgbClr val="5B7080"/>
                </a:solidFill>
                <a:latin typeface="Arial" pitchFamily="34" charset="0"/>
                <a:ea typeface="Arial" pitchFamily="34" charset="-122"/>
                <a:cs typeface="Arial" pitchFamily="34" charset="-120"/>
              </a:rPr>
              <a:t>مرتجع عُكس في عمود الطلب دون عمود العمولة. والخطأ أحادي الاتجاه — فهو يضخّم دائماً ما يبدو أن Highbase مدينة به.</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11204143" y="475488"/>
            <a:ext cx="420624" cy="420624"/>
          </a:xfrm>
          <a:prstGeom prst="ellipse">
            <a:avLst/>
          </a:prstGeom>
          <a:solidFill>
            <a:srgbClr val="021A37"/>
          </a:solidFill>
          <a:ln/>
        </p:spPr>
      </p:sp>
      <p:sp>
        <p:nvSpPr>
          <p:cNvPr id="3" name="Text 1"/>
          <p:cNvSpPr txBox="1"/>
          <p:nvPr/>
        </p:nvSpPr>
        <p:spPr>
          <a:xfrm>
            <a:off x="11204143" y="475488"/>
            <a:ext cx="420624" cy="420624"/>
          </a:xfrm>
          <a:prstGeom prst="rect">
            <a:avLst/>
          </a:prstGeom>
          <a:noFill/>
          <a:ln/>
        </p:spPr>
        <p:txBody>
          <a:bodyPr wrap="square" lIns="0" tIns="0" rIns="0" bIns="0" rtlCol="0" anchor="ctr"/>
          <a:lstStyle/>
          <a:p>
            <a:pPr rtl="1" algn="ctr" indent="0" marL="0">
              <a:buNone/>
            </a:pPr>
            <a:r>
              <a:rPr lang="en-US" sz="1300" b="1" dirty="0">
                <a:solidFill>
                  <a:srgbClr val="FFFFFF"/>
                </a:solidFill>
                <a:latin typeface="Arial" pitchFamily="34" charset="0"/>
                <a:ea typeface="Arial" pitchFamily="34" charset="-122"/>
                <a:cs typeface="Arial" pitchFamily="34" charset="-120"/>
              </a:rPr>
              <a:t>03</a:t>
            </a:r>
            <a:endParaRPr lang="en-US" sz="1300" dirty="0"/>
          </a:p>
        </p:txBody>
      </p:sp>
      <p:sp>
        <p:nvSpPr>
          <p:cNvPr id="4" name="Text 2"/>
          <p:cNvSpPr txBox="1"/>
          <p:nvPr/>
        </p:nvSpPr>
        <p:spPr>
          <a:xfrm>
            <a:off x="597103" y="347472"/>
            <a:ext cx="10424160" cy="868680"/>
          </a:xfrm>
          <a:prstGeom prst="rect">
            <a:avLst/>
          </a:prstGeom>
          <a:noFill/>
          <a:ln/>
        </p:spPr>
        <p:txBody>
          <a:bodyPr wrap="square" lIns="0" tIns="0" rIns="0" bIns="0" rtlCol="0" anchor="ctr"/>
          <a:lstStyle/>
          <a:p>
            <a:pPr rtl="1" algn="r" indent="0" marL="0">
              <a:buNone/>
            </a:pPr>
            <a:r>
              <a:rPr lang="en-US" sz="2800" b="1" dirty="0">
                <a:solidFill>
                  <a:srgbClr val="021A37"/>
                </a:solidFill>
                <a:latin typeface="Arial" pitchFamily="34" charset="0"/>
                <a:ea typeface="Arial" pitchFamily="34" charset="-122"/>
                <a:cs typeface="Arial" pitchFamily="34" charset="-120"/>
              </a:rPr>
              <a:t>سؤال واحد، وأربع إجابات</a:t>
            </a:r>
            <a:endParaRPr lang="en-US" sz="2800" dirty="0"/>
          </a:p>
        </p:txBody>
      </p:sp>
      <p:sp>
        <p:nvSpPr>
          <p:cNvPr id="5" name="Text 3"/>
          <p:cNvSpPr txBox="1"/>
          <p:nvPr/>
        </p:nvSpPr>
        <p:spPr>
          <a:xfrm>
            <a:off x="1054303" y="1371600"/>
            <a:ext cx="10515600" cy="274320"/>
          </a:xfrm>
          <a:prstGeom prst="rect">
            <a:avLst/>
          </a:prstGeom>
          <a:noFill/>
          <a:ln/>
        </p:spPr>
        <p:txBody>
          <a:bodyPr wrap="square" lIns="0" tIns="0" rIns="0" bIns="0" rtlCol="0" anchor="ctr"/>
          <a:lstStyle/>
          <a:p>
            <a:pPr rtl="1" algn="r" indent="0" marL="0">
              <a:buNone/>
            </a:pPr>
            <a:r>
              <a:rPr lang="en-US" sz="1400" dirty="0">
                <a:solidFill>
                  <a:srgbClr val="5B7080"/>
                </a:solidFill>
                <a:latin typeface="Arial" pitchFamily="34" charset="0"/>
                <a:ea typeface="Arial" pitchFamily="34" charset="-122"/>
                <a:cs typeface="Arial" pitchFamily="34" charset="-120"/>
              </a:rPr>
              <a:t>الحالات الأربع ذاتها، والألوان الأربعة ذاتها، على الواجهات الثلاث جميعاً.</a:t>
            </a:r>
            <a:endParaRPr lang="en-US" sz="1400" dirty="0"/>
          </a:p>
        </p:txBody>
      </p:sp>
      <p:sp>
        <p:nvSpPr>
          <p:cNvPr id="6" name="Shape 4"/>
          <p:cNvSpPr/>
          <p:nvPr/>
        </p:nvSpPr>
        <p:spPr>
          <a:xfrm>
            <a:off x="8954719" y="1700784"/>
            <a:ext cx="2670048" cy="3246120"/>
          </a:xfrm>
          <a:prstGeom prst="roundRect">
            <a:avLst>
              <a:gd name="adj" fmla="val 3082"/>
            </a:avLst>
          </a:prstGeom>
          <a:solidFill>
            <a:srgbClr val="E9FDEE"/>
          </a:solidFill>
          <a:ln w="12700">
            <a:solidFill>
              <a:srgbClr val="1F9D55"/>
            </a:solidFill>
            <a:prstDash val="solid"/>
          </a:ln>
          <a:effectLst>
            <a:outerShdw sx="100000" sy="100000" kx="0" ky="0" algn="bl" rotWithShape="0" blurRad="127000" dist="25400" dir="5400000">
              <a:srgbClr val="021A37">
                <a:alpha val="7000"/>
              </a:srgbClr>
            </a:outerShdw>
          </a:effectLst>
        </p:spPr>
      </p:sp>
      <p:sp>
        <p:nvSpPr>
          <p:cNvPr id="7" name="Text 5"/>
          <p:cNvSpPr txBox="1"/>
          <p:nvPr/>
        </p:nvSpPr>
        <p:spPr>
          <a:xfrm>
            <a:off x="9192463" y="1883664"/>
            <a:ext cx="2194560" cy="329184"/>
          </a:xfrm>
          <a:prstGeom prst="rect">
            <a:avLst/>
          </a:prstGeom>
          <a:noFill/>
          <a:ln/>
        </p:spPr>
        <p:txBody>
          <a:bodyPr wrap="square" lIns="0" tIns="0" rIns="0" bIns="0" rtlCol="0" anchor="ctr"/>
          <a:lstStyle/>
          <a:p>
            <a:pPr rtl="1" algn="r" indent="0" marL="0">
              <a:buNone/>
            </a:pPr>
            <a:r>
              <a:rPr lang="en-US" sz="1700" b="1" dirty="0">
                <a:solidFill>
                  <a:srgbClr val="1F9D55"/>
                </a:solidFill>
                <a:latin typeface="Arial" pitchFamily="34" charset="0"/>
                <a:ea typeface="Arial" pitchFamily="34" charset="-122"/>
                <a:cs typeface="Arial" pitchFamily="34" charset="-120"/>
              </a:rPr>
              <a:t>رصيدك</a:t>
            </a:r>
            <a:endParaRPr lang="en-US" sz="1700" dirty="0"/>
          </a:p>
        </p:txBody>
      </p:sp>
      <p:sp>
        <p:nvSpPr>
          <p:cNvPr id="8" name="Text 6"/>
          <p:cNvSpPr txBox="1"/>
          <p:nvPr/>
        </p:nvSpPr>
        <p:spPr>
          <a:xfrm>
            <a:off x="9192463" y="2231136"/>
            <a:ext cx="2194560" cy="566928"/>
          </a:xfrm>
          <a:prstGeom prst="rect">
            <a:avLst/>
          </a:prstGeom>
          <a:noFill/>
          <a:ln/>
        </p:spPr>
        <p:txBody>
          <a:bodyPr wrap="square" lIns="0" tIns="0" rIns="0" bIns="0" rtlCol="0" anchor="ctr"/>
          <a:lstStyle/>
          <a:p>
            <a:pPr rtl="1" algn="r" indent="0" marL="0">
              <a:buNone/>
            </a:pPr>
            <a:r>
              <a:rPr lang="en-US" sz="3000" b="1" dirty="0">
                <a:solidFill>
                  <a:srgbClr val="021A37"/>
                </a:solidFill>
                <a:latin typeface="Arial" pitchFamily="34" charset="0"/>
                <a:ea typeface="Arial" pitchFamily="34" charset="-122"/>
                <a:cs typeface="Arial" pitchFamily="34" charset="-120"/>
              </a:rPr>
              <a:t>227.500</a:t>
            </a:r>
            <a:endParaRPr lang="en-US" sz="3000" dirty="0"/>
          </a:p>
        </p:txBody>
      </p:sp>
      <p:sp>
        <p:nvSpPr>
          <p:cNvPr id="9" name="Text 7"/>
          <p:cNvSpPr txBox="1"/>
          <p:nvPr/>
        </p:nvSpPr>
        <p:spPr>
          <a:xfrm>
            <a:off x="9192463" y="2798064"/>
            <a:ext cx="2194560" cy="274320"/>
          </a:xfrm>
          <a:prstGeom prst="rect">
            <a:avLst/>
          </a:prstGeom>
          <a:noFill/>
          <a:ln/>
        </p:spPr>
        <p:txBody>
          <a:bodyPr wrap="square" lIns="0" tIns="0" rIns="0" bIns="0" rtlCol="0" anchor="ctr"/>
          <a:lstStyle/>
          <a:p>
            <a:pPr rtl="1" algn="r" indent="0" marL="0">
              <a:buNone/>
            </a:pPr>
            <a:r>
              <a:rPr lang="en-US" sz="1100" i="1" dirty="0">
                <a:solidFill>
                  <a:srgbClr val="5B7080"/>
                </a:solidFill>
                <a:latin typeface="Arial" pitchFamily="34" charset="0"/>
                <a:ea typeface="Arial" pitchFamily="34" charset="-122"/>
                <a:cs typeface="Arial" pitchFamily="34" charset="-120"/>
              </a:rPr>
              <a:t>Gulf Metal Supplies</a:t>
            </a:r>
            <a:endParaRPr lang="en-US" sz="1100" dirty="0"/>
          </a:p>
        </p:txBody>
      </p:sp>
      <p:sp>
        <p:nvSpPr>
          <p:cNvPr id="10" name="Text 8"/>
          <p:cNvSpPr txBox="1"/>
          <p:nvPr/>
        </p:nvSpPr>
        <p:spPr>
          <a:xfrm>
            <a:off x="9192463" y="3200400"/>
            <a:ext cx="2194560" cy="1463040"/>
          </a:xfrm>
          <a:prstGeom prst="rect">
            <a:avLst/>
          </a:prstGeom>
          <a:noFill/>
          <a:ln/>
        </p:spPr>
        <p:txBody>
          <a:bodyPr wrap="square" lIns="0" tIns="0" rIns="0" bIns="0" rtlCol="0" anchor="ctr"/>
          <a:lstStyle/>
          <a:p>
            <a:pPr rtl="1" algn="r" indent="0" marL="0">
              <a:lnSpc>
                <a:spcPts val="1800"/>
              </a:lnSpc>
              <a:buNone/>
            </a:pPr>
            <a:r>
              <a:rPr lang="en-US" sz="1250" dirty="0">
                <a:solidFill>
                  <a:srgbClr val="0D2136"/>
                </a:solidFill>
                <a:latin typeface="Arial" pitchFamily="34" charset="0"/>
                <a:ea typeface="Arial" pitchFamily="34" charset="-122"/>
                <a:cs typeface="Arial" pitchFamily="34" charset="-120"/>
              </a:rPr>
              <a:t>نقد محتفظ به، بعد خصم العمولة والرسوم، مُفرج عنه وجاهز للصرف</a:t>
            </a:r>
            <a:endParaRPr lang="en-US" sz="1250" dirty="0"/>
          </a:p>
        </p:txBody>
      </p:sp>
      <p:sp>
        <p:nvSpPr>
          <p:cNvPr id="11" name="Shape 9"/>
          <p:cNvSpPr/>
          <p:nvPr/>
        </p:nvSpPr>
        <p:spPr>
          <a:xfrm>
            <a:off x="6156655" y="1700784"/>
            <a:ext cx="2670048" cy="3246120"/>
          </a:xfrm>
          <a:prstGeom prst="roundRect">
            <a:avLst>
              <a:gd name="adj" fmla="val 3082"/>
            </a:avLst>
          </a:prstGeom>
          <a:solidFill>
            <a:srgbClr val="FFF5E6"/>
          </a:solidFill>
          <a:ln w="12700">
            <a:solidFill>
              <a:srgbClr val="FE8E00"/>
            </a:solidFill>
            <a:prstDash val="solid"/>
          </a:ln>
          <a:effectLst>
            <a:outerShdw sx="100000" sy="100000" kx="0" ky="0" algn="bl" rotWithShape="0" blurRad="127000" dist="25400" dir="5400000">
              <a:srgbClr val="021A37">
                <a:alpha val="7000"/>
              </a:srgbClr>
            </a:outerShdw>
          </a:effectLst>
        </p:spPr>
      </p:sp>
      <p:sp>
        <p:nvSpPr>
          <p:cNvPr id="12" name="Text 10"/>
          <p:cNvSpPr txBox="1"/>
          <p:nvPr/>
        </p:nvSpPr>
        <p:spPr>
          <a:xfrm>
            <a:off x="6394399" y="1883664"/>
            <a:ext cx="2194560" cy="329184"/>
          </a:xfrm>
          <a:prstGeom prst="rect">
            <a:avLst/>
          </a:prstGeom>
          <a:noFill/>
          <a:ln/>
        </p:spPr>
        <p:txBody>
          <a:bodyPr wrap="square" lIns="0" tIns="0" rIns="0" bIns="0" rtlCol="0" anchor="ctr"/>
          <a:lstStyle/>
          <a:p>
            <a:pPr rtl="1" algn="r" indent="0" marL="0">
              <a:buNone/>
            </a:pPr>
            <a:r>
              <a:rPr lang="en-US" sz="1700" b="1" dirty="0">
                <a:solidFill>
                  <a:srgbClr val="FE8E00"/>
                </a:solidFill>
                <a:latin typeface="Arial" pitchFamily="34" charset="0"/>
                <a:ea typeface="Arial" pitchFamily="34" charset="-122"/>
                <a:cs typeface="Arial" pitchFamily="34" charset="-120"/>
              </a:rPr>
              <a:t>محتجز</a:t>
            </a:r>
            <a:endParaRPr lang="en-US" sz="1700" dirty="0"/>
          </a:p>
        </p:txBody>
      </p:sp>
      <p:sp>
        <p:nvSpPr>
          <p:cNvPr id="13" name="Text 11"/>
          <p:cNvSpPr txBox="1"/>
          <p:nvPr/>
        </p:nvSpPr>
        <p:spPr>
          <a:xfrm>
            <a:off x="6394399" y="2231136"/>
            <a:ext cx="2194560" cy="566928"/>
          </a:xfrm>
          <a:prstGeom prst="rect">
            <a:avLst/>
          </a:prstGeom>
          <a:noFill/>
          <a:ln/>
        </p:spPr>
        <p:txBody>
          <a:bodyPr wrap="square" lIns="0" tIns="0" rIns="0" bIns="0" rtlCol="0" anchor="ctr"/>
          <a:lstStyle/>
          <a:p>
            <a:pPr rtl="1" algn="r" indent="0" marL="0">
              <a:buNone/>
            </a:pPr>
            <a:r>
              <a:rPr lang="en-US" sz="3000" b="1" dirty="0">
                <a:solidFill>
                  <a:srgbClr val="021A37"/>
                </a:solidFill>
                <a:latin typeface="Arial" pitchFamily="34" charset="0"/>
                <a:ea typeface="Arial" pitchFamily="34" charset="-122"/>
                <a:cs typeface="Arial" pitchFamily="34" charset="-120"/>
              </a:rPr>
              <a:t>200.000</a:t>
            </a:r>
            <a:endParaRPr lang="en-US" sz="3000" dirty="0"/>
          </a:p>
        </p:txBody>
      </p:sp>
      <p:sp>
        <p:nvSpPr>
          <p:cNvPr id="14" name="Text 12"/>
          <p:cNvSpPr txBox="1"/>
          <p:nvPr/>
        </p:nvSpPr>
        <p:spPr>
          <a:xfrm>
            <a:off x="6394399" y="2798064"/>
            <a:ext cx="2194560" cy="274320"/>
          </a:xfrm>
          <a:prstGeom prst="rect">
            <a:avLst/>
          </a:prstGeom>
          <a:noFill/>
          <a:ln/>
        </p:spPr>
        <p:txBody>
          <a:bodyPr wrap="square" lIns="0" tIns="0" rIns="0" bIns="0" rtlCol="0" anchor="ctr"/>
          <a:lstStyle/>
          <a:p>
            <a:pPr rtl="1" algn="r" indent="0" marL="0">
              <a:buNone/>
            </a:pPr>
            <a:r>
              <a:rPr lang="en-US" sz="1100" i="1" dirty="0">
                <a:solidFill>
                  <a:srgbClr val="5B7080"/>
                </a:solidFill>
                <a:latin typeface="Arial" pitchFamily="34" charset="0"/>
                <a:ea typeface="Arial" pitchFamily="34" charset="-122"/>
                <a:cs typeface="Arial" pitchFamily="34" charset="-120"/>
              </a:rPr>
              <a:t>حساب توضيحي</a:t>
            </a:r>
            <a:endParaRPr lang="en-US" sz="1100" dirty="0"/>
          </a:p>
        </p:txBody>
      </p:sp>
      <p:sp>
        <p:nvSpPr>
          <p:cNvPr id="15" name="Text 13"/>
          <p:cNvSpPr txBox="1"/>
          <p:nvPr/>
        </p:nvSpPr>
        <p:spPr>
          <a:xfrm>
            <a:off x="6394399" y="3200400"/>
            <a:ext cx="2194560" cy="1463040"/>
          </a:xfrm>
          <a:prstGeom prst="rect">
            <a:avLst/>
          </a:prstGeom>
          <a:noFill/>
          <a:ln/>
        </p:spPr>
        <p:txBody>
          <a:bodyPr wrap="square" lIns="0" tIns="0" rIns="0" bIns="0" rtlCol="0" anchor="ctr"/>
          <a:lstStyle/>
          <a:p>
            <a:pPr rtl="1" algn="r" indent="0" marL="0">
              <a:lnSpc>
                <a:spcPts val="1800"/>
              </a:lnSpc>
              <a:buNone/>
            </a:pPr>
            <a:r>
              <a:rPr lang="en-US" sz="1250" dirty="0">
                <a:solidFill>
                  <a:srgbClr val="0D2136"/>
                </a:solidFill>
                <a:latin typeface="Arial" pitchFamily="34" charset="0"/>
                <a:ea typeface="Arial" pitchFamily="34" charset="-122"/>
                <a:cs typeface="Arial" pitchFamily="34" charset="-120"/>
              </a:rPr>
              <a:t>نقد محتفظ به ولا يمكن الإفراج عنه — التسليم غير مؤكد، أو نافذة الإرجاع مفتوحة</a:t>
            </a:r>
            <a:endParaRPr lang="en-US" sz="1250" dirty="0"/>
          </a:p>
        </p:txBody>
      </p:sp>
      <p:sp>
        <p:nvSpPr>
          <p:cNvPr id="16" name="Shape 14"/>
          <p:cNvSpPr/>
          <p:nvPr/>
        </p:nvSpPr>
        <p:spPr>
          <a:xfrm>
            <a:off x="3358591" y="1700784"/>
            <a:ext cx="2670048" cy="3246120"/>
          </a:xfrm>
          <a:prstGeom prst="roundRect">
            <a:avLst>
              <a:gd name="adj" fmla="val 3082"/>
            </a:avLst>
          </a:prstGeom>
          <a:solidFill>
            <a:srgbClr val="FEEEE9"/>
          </a:solidFill>
          <a:ln w="12700">
            <a:solidFill>
              <a:srgbClr val="D0402A"/>
            </a:solidFill>
            <a:prstDash val="solid"/>
          </a:ln>
          <a:effectLst>
            <a:outerShdw sx="100000" sy="100000" kx="0" ky="0" algn="bl" rotWithShape="0" blurRad="127000" dist="25400" dir="5400000">
              <a:srgbClr val="021A37">
                <a:alpha val="7000"/>
              </a:srgbClr>
            </a:outerShdw>
          </a:effectLst>
        </p:spPr>
      </p:sp>
      <p:sp>
        <p:nvSpPr>
          <p:cNvPr id="17" name="Text 15"/>
          <p:cNvSpPr txBox="1"/>
          <p:nvPr/>
        </p:nvSpPr>
        <p:spPr>
          <a:xfrm>
            <a:off x="3596335" y="1883664"/>
            <a:ext cx="2194560" cy="329184"/>
          </a:xfrm>
          <a:prstGeom prst="rect">
            <a:avLst/>
          </a:prstGeom>
          <a:noFill/>
          <a:ln/>
        </p:spPr>
        <p:txBody>
          <a:bodyPr wrap="square" lIns="0" tIns="0" rIns="0" bIns="0" rtlCol="0" anchor="ctr"/>
          <a:lstStyle/>
          <a:p>
            <a:pPr rtl="1" algn="r" indent="0" marL="0">
              <a:buNone/>
            </a:pPr>
            <a:r>
              <a:rPr lang="en-US" sz="1700" b="1" dirty="0">
                <a:solidFill>
                  <a:srgbClr val="D0402A"/>
                </a:solidFill>
                <a:latin typeface="Arial" pitchFamily="34" charset="0"/>
                <a:ea typeface="Arial" pitchFamily="34" charset="-122"/>
                <a:cs typeface="Arial" pitchFamily="34" charset="-120"/>
              </a:rPr>
              <a:t>مستحقات عليك</a:t>
            </a:r>
            <a:endParaRPr lang="en-US" sz="1700" dirty="0"/>
          </a:p>
        </p:txBody>
      </p:sp>
      <p:sp>
        <p:nvSpPr>
          <p:cNvPr id="18" name="Text 16"/>
          <p:cNvSpPr txBox="1"/>
          <p:nvPr/>
        </p:nvSpPr>
        <p:spPr>
          <a:xfrm>
            <a:off x="3596335" y="2231136"/>
            <a:ext cx="2194560" cy="566928"/>
          </a:xfrm>
          <a:prstGeom prst="rect">
            <a:avLst/>
          </a:prstGeom>
          <a:noFill/>
          <a:ln/>
        </p:spPr>
        <p:txBody>
          <a:bodyPr wrap="square" lIns="0" tIns="0" rIns="0" bIns="0" rtlCol="0" anchor="ctr"/>
          <a:lstStyle/>
          <a:p>
            <a:pPr rtl="1" algn="r" indent="0" marL="0">
              <a:buNone/>
            </a:pPr>
            <a:r>
              <a:rPr lang="en-US" sz="3000" b="1" dirty="0">
                <a:solidFill>
                  <a:srgbClr val="021A37"/>
                </a:solidFill>
                <a:latin typeface="Arial" pitchFamily="34" charset="0"/>
                <a:ea typeface="Arial" pitchFamily="34" charset="-122"/>
                <a:cs typeface="Arial" pitchFamily="34" charset="-120"/>
              </a:rPr>
              <a:t>159.000</a:t>
            </a:r>
            <a:endParaRPr lang="en-US" sz="3000" dirty="0"/>
          </a:p>
        </p:txBody>
      </p:sp>
      <p:sp>
        <p:nvSpPr>
          <p:cNvPr id="19" name="Text 17"/>
          <p:cNvSpPr txBox="1"/>
          <p:nvPr/>
        </p:nvSpPr>
        <p:spPr>
          <a:xfrm>
            <a:off x="3596335" y="2798064"/>
            <a:ext cx="2194560" cy="274320"/>
          </a:xfrm>
          <a:prstGeom prst="rect">
            <a:avLst/>
          </a:prstGeom>
          <a:noFill/>
          <a:ln/>
        </p:spPr>
        <p:txBody>
          <a:bodyPr wrap="square" lIns="0" tIns="0" rIns="0" bIns="0" rtlCol="0" anchor="ctr"/>
          <a:lstStyle/>
          <a:p>
            <a:pPr rtl="1" algn="r" indent="0" marL="0">
              <a:buNone/>
            </a:pPr>
            <a:r>
              <a:rPr lang="en-US" sz="1100" i="1" dirty="0">
                <a:solidFill>
                  <a:srgbClr val="5B7080"/>
                </a:solidFill>
                <a:latin typeface="Arial" pitchFamily="34" charset="0"/>
                <a:ea typeface="Arial" pitchFamily="34" charset="-122"/>
                <a:cs typeface="Arial" pitchFamily="34" charset="-120"/>
              </a:rPr>
              <a:t>Riffa Building Materials</a:t>
            </a:r>
            <a:endParaRPr lang="en-US" sz="1100" dirty="0"/>
          </a:p>
        </p:txBody>
      </p:sp>
      <p:sp>
        <p:nvSpPr>
          <p:cNvPr id="20" name="Text 18"/>
          <p:cNvSpPr txBox="1"/>
          <p:nvPr/>
        </p:nvSpPr>
        <p:spPr>
          <a:xfrm>
            <a:off x="3596335" y="3200400"/>
            <a:ext cx="2194560" cy="1463040"/>
          </a:xfrm>
          <a:prstGeom prst="rect">
            <a:avLst/>
          </a:prstGeom>
          <a:noFill/>
          <a:ln/>
        </p:spPr>
        <p:txBody>
          <a:bodyPr wrap="square" lIns="0" tIns="0" rIns="0" bIns="0" rtlCol="0" anchor="ctr"/>
          <a:lstStyle/>
          <a:p>
            <a:pPr rtl="1" algn="r" indent="0" marL="0">
              <a:lnSpc>
                <a:spcPts val="1800"/>
              </a:lnSpc>
              <a:buNone/>
            </a:pPr>
            <a:r>
              <a:rPr lang="en-US" sz="1250" dirty="0">
                <a:solidFill>
                  <a:srgbClr val="0D2136"/>
                </a:solidFill>
                <a:latin typeface="Arial" pitchFamily="34" charset="0"/>
                <a:ea typeface="Arial" pitchFamily="34" charset="-122"/>
                <a:cs typeface="Arial" pitchFamily="34" charset="-120"/>
              </a:rPr>
              <a:t>عمولة ورسوم على طلبات حصّل البائع نقدها بنفسه</a:t>
            </a:r>
            <a:endParaRPr lang="en-US" sz="1250" dirty="0"/>
          </a:p>
        </p:txBody>
      </p:sp>
      <p:sp>
        <p:nvSpPr>
          <p:cNvPr id="21" name="Shape 19"/>
          <p:cNvSpPr/>
          <p:nvPr/>
        </p:nvSpPr>
        <p:spPr>
          <a:xfrm>
            <a:off x="560527" y="1700784"/>
            <a:ext cx="2670048" cy="3246120"/>
          </a:xfrm>
          <a:prstGeom prst="roundRect">
            <a:avLst>
              <a:gd name="adj" fmla="val 3082"/>
            </a:avLst>
          </a:prstGeom>
          <a:solidFill>
            <a:srgbClr val="EDF7FE"/>
          </a:solidFill>
          <a:ln w="12700">
            <a:solidFill>
              <a:srgbClr val="026DBD"/>
            </a:solidFill>
            <a:prstDash val="solid"/>
          </a:ln>
          <a:effectLst>
            <a:outerShdw sx="100000" sy="100000" kx="0" ky="0" algn="bl" rotWithShape="0" blurRad="127000" dist="25400" dir="5400000">
              <a:srgbClr val="021A37">
                <a:alpha val="7000"/>
              </a:srgbClr>
            </a:outerShdw>
          </a:effectLst>
        </p:spPr>
      </p:sp>
      <p:sp>
        <p:nvSpPr>
          <p:cNvPr id="22" name="Text 20"/>
          <p:cNvSpPr txBox="1"/>
          <p:nvPr/>
        </p:nvSpPr>
        <p:spPr>
          <a:xfrm>
            <a:off x="798271" y="1883664"/>
            <a:ext cx="2194560" cy="329184"/>
          </a:xfrm>
          <a:prstGeom prst="rect">
            <a:avLst/>
          </a:prstGeom>
          <a:noFill/>
          <a:ln/>
        </p:spPr>
        <p:txBody>
          <a:bodyPr wrap="square" lIns="0" tIns="0" rIns="0" bIns="0" rtlCol="0" anchor="ctr"/>
          <a:lstStyle/>
          <a:p>
            <a:pPr rtl="1" algn="r" indent="0" marL="0">
              <a:buNone/>
            </a:pPr>
            <a:r>
              <a:rPr lang="en-US" sz="1700" b="1" dirty="0">
                <a:solidFill>
                  <a:srgbClr val="026DBD"/>
                </a:solidFill>
                <a:latin typeface="Arial" pitchFamily="34" charset="0"/>
                <a:ea typeface="Arial" pitchFamily="34" charset="-122"/>
                <a:cs typeface="Arial" pitchFamily="34" charset="-120"/>
              </a:rPr>
              <a:t>بانتظار المشتري</a:t>
            </a:r>
            <a:endParaRPr lang="en-US" sz="1700" dirty="0"/>
          </a:p>
        </p:txBody>
      </p:sp>
      <p:sp>
        <p:nvSpPr>
          <p:cNvPr id="23" name="Text 21"/>
          <p:cNvSpPr txBox="1"/>
          <p:nvPr/>
        </p:nvSpPr>
        <p:spPr>
          <a:xfrm>
            <a:off x="798271" y="2231136"/>
            <a:ext cx="2194560" cy="566928"/>
          </a:xfrm>
          <a:prstGeom prst="rect">
            <a:avLst/>
          </a:prstGeom>
          <a:noFill/>
          <a:ln/>
        </p:spPr>
        <p:txBody>
          <a:bodyPr wrap="square" lIns="0" tIns="0" rIns="0" bIns="0" rtlCol="0" anchor="ctr"/>
          <a:lstStyle/>
          <a:p>
            <a:pPr rtl="1" algn="r" indent="0" marL="0">
              <a:buNone/>
            </a:pPr>
            <a:r>
              <a:rPr lang="en-US" sz="3000" b="1" dirty="0">
                <a:solidFill>
                  <a:srgbClr val="021A37"/>
                </a:solidFill>
                <a:latin typeface="Arial" pitchFamily="34" charset="0"/>
                <a:ea typeface="Arial" pitchFamily="34" charset="-122"/>
                <a:cs typeface="Arial" pitchFamily="34" charset="-120"/>
              </a:rPr>
              <a:t>300.000</a:t>
            </a:r>
            <a:endParaRPr lang="en-US" sz="3000" dirty="0"/>
          </a:p>
        </p:txBody>
      </p:sp>
      <p:sp>
        <p:nvSpPr>
          <p:cNvPr id="24" name="Text 22"/>
          <p:cNvSpPr txBox="1"/>
          <p:nvPr/>
        </p:nvSpPr>
        <p:spPr>
          <a:xfrm>
            <a:off x="798271" y="2798064"/>
            <a:ext cx="2194560" cy="274320"/>
          </a:xfrm>
          <a:prstGeom prst="rect">
            <a:avLst/>
          </a:prstGeom>
          <a:noFill/>
          <a:ln/>
        </p:spPr>
        <p:txBody>
          <a:bodyPr wrap="square" lIns="0" tIns="0" rIns="0" bIns="0" rtlCol="0" anchor="ctr"/>
          <a:lstStyle/>
          <a:p>
            <a:pPr rtl="1" algn="r" indent="0" marL="0">
              <a:buNone/>
            </a:pPr>
            <a:r>
              <a:rPr lang="en-US" sz="1100" i="1" dirty="0">
                <a:solidFill>
                  <a:srgbClr val="5B7080"/>
                </a:solidFill>
                <a:latin typeface="Arial" pitchFamily="34" charset="0"/>
                <a:ea typeface="Arial" pitchFamily="34" charset="-122"/>
                <a:cs typeface="Arial" pitchFamily="34" charset="-120"/>
              </a:rPr>
              <a:t>Sitra Industrial Tools</a:t>
            </a:r>
            <a:endParaRPr lang="en-US" sz="1100" dirty="0"/>
          </a:p>
        </p:txBody>
      </p:sp>
      <p:sp>
        <p:nvSpPr>
          <p:cNvPr id="25" name="Text 23"/>
          <p:cNvSpPr txBox="1"/>
          <p:nvPr/>
        </p:nvSpPr>
        <p:spPr>
          <a:xfrm>
            <a:off x="798271" y="3200400"/>
            <a:ext cx="2194560" cy="1463040"/>
          </a:xfrm>
          <a:prstGeom prst="rect">
            <a:avLst/>
          </a:prstGeom>
          <a:noFill/>
          <a:ln/>
        </p:spPr>
        <p:txBody>
          <a:bodyPr wrap="square" lIns="0" tIns="0" rIns="0" bIns="0" rtlCol="0" anchor="ctr"/>
          <a:lstStyle/>
          <a:p>
            <a:pPr rtl="1" algn="r" indent="0" marL="0">
              <a:lnSpc>
                <a:spcPts val="1800"/>
              </a:lnSpc>
              <a:buNone/>
            </a:pPr>
            <a:r>
              <a:rPr lang="en-US" sz="1250" dirty="0">
                <a:solidFill>
                  <a:srgbClr val="0D2136"/>
                </a:solidFill>
                <a:latin typeface="Arial" pitchFamily="34" charset="0"/>
                <a:ea typeface="Arial" pitchFamily="34" charset="-122"/>
                <a:cs typeface="Arial" pitchFamily="34" charset="-120"/>
              </a:rPr>
              <a:t>طلبات آجلة — سُلّمت وفوترت ولم تُحصّل من أحد بعد</a:t>
            </a:r>
            <a:endParaRPr lang="en-US" sz="1250" dirty="0"/>
          </a:p>
        </p:txBody>
      </p:sp>
      <p:sp>
        <p:nvSpPr>
          <p:cNvPr id="26" name="Text 24"/>
          <p:cNvSpPr txBox="1"/>
          <p:nvPr/>
        </p:nvSpPr>
        <p:spPr>
          <a:xfrm>
            <a:off x="597103" y="4983480"/>
            <a:ext cx="10972800" cy="731520"/>
          </a:xfrm>
          <a:prstGeom prst="rect">
            <a:avLst/>
          </a:prstGeom>
          <a:noFill/>
          <a:ln/>
        </p:spPr>
        <p:txBody>
          <a:bodyPr wrap="square" lIns="0" tIns="0" rIns="0" bIns="0" rtlCol="0" anchor="ctr"/>
          <a:lstStyle/>
          <a:p>
            <a:pPr rtl="1" algn="r" indent="0" marL="0">
              <a:lnSpc>
                <a:spcPts val="1700"/>
              </a:lnSpc>
              <a:buNone/>
            </a:pPr>
            <a:r>
              <a:rPr lang="en-US" sz="1150" dirty="0">
                <a:solidFill>
                  <a:srgbClr val="93A4B4"/>
                </a:solidFill>
                <a:latin typeface="Arial" pitchFamily="34" charset="0"/>
                <a:ea typeface="Arial" pitchFamily="34" charset="-122"/>
                <a:cs typeface="Arial" pitchFamily="34" charset="-120"/>
              </a:rPr>
              <a:t>«رصيدك» و«مستحقات عليك» هما تعبيرا فريق Highbase نفسه من هامش الكشف. حالة «محتجز» تساوي 0.000 لدى كل بائع في البيانات الأساسية، لذا فالرقم المعروض من حساب أُضيف خصيصاً ليجعل الحالة قابلة للمراجعة.</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11204143" y="475488"/>
            <a:ext cx="420624" cy="420624"/>
          </a:xfrm>
          <a:prstGeom prst="ellipse">
            <a:avLst/>
          </a:prstGeom>
          <a:solidFill>
            <a:srgbClr val="021A37"/>
          </a:solidFill>
          <a:ln/>
        </p:spPr>
      </p:sp>
      <p:sp>
        <p:nvSpPr>
          <p:cNvPr id="3" name="Text 1"/>
          <p:cNvSpPr txBox="1"/>
          <p:nvPr/>
        </p:nvSpPr>
        <p:spPr>
          <a:xfrm>
            <a:off x="11204143" y="475488"/>
            <a:ext cx="420624" cy="420624"/>
          </a:xfrm>
          <a:prstGeom prst="rect">
            <a:avLst/>
          </a:prstGeom>
          <a:noFill/>
          <a:ln/>
        </p:spPr>
        <p:txBody>
          <a:bodyPr wrap="square" lIns="0" tIns="0" rIns="0" bIns="0" rtlCol="0" anchor="ctr"/>
          <a:lstStyle/>
          <a:p>
            <a:pPr rtl="1" algn="ctr" indent="0" marL="0">
              <a:buNone/>
            </a:pPr>
            <a:r>
              <a:rPr lang="en-US" sz="1300" b="1" dirty="0">
                <a:solidFill>
                  <a:srgbClr val="FFFFFF"/>
                </a:solidFill>
                <a:latin typeface="Arial" pitchFamily="34" charset="0"/>
                <a:ea typeface="Arial" pitchFamily="34" charset="-122"/>
                <a:cs typeface="Arial" pitchFamily="34" charset="-120"/>
              </a:rPr>
              <a:t>04</a:t>
            </a:r>
            <a:endParaRPr lang="en-US" sz="1300" dirty="0"/>
          </a:p>
        </p:txBody>
      </p:sp>
      <p:sp>
        <p:nvSpPr>
          <p:cNvPr id="4" name="Text 2"/>
          <p:cNvSpPr txBox="1"/>
          <p:nvPr/>
        </p:nvSpPr>
        <p:spPr>
          <a:xfrm>
            <a:off x="597103" y="347472"/>
            <a:ext cx="10424160" cy="868680"/>
          </a:xfrm>
          <a:prstGeom prst="rect">
            <a:avLst/>
          </a:prstGeom>
          <a:noFill/>
          <a:ln/>
        </p:spPr>
        <p:txBody>
          <a:bodyPr wrap="square" lIns="0" tIns="0" rIns="0" bIns="0" rtlCol="0" anchor="ctr"/>
          <a:lstStyle/>
          <a:p>
            <a:pPr rtl="1" algn="r" indent="0" marL="0">
              <a:buNone/>
            </a:pPr>
            <a:r>
              <a:rPr lang="en-US" sz="2800" b="1" dirty="0">
                <a:solidFill>
                  <a:srgbClr val="021A37"/>
                </a:solidFill>
                <a:latin typeface="Arial" pitchFamily="34" charset="0"/>
                <a:ea typeface="Arial" pitchFamily="34" charset="-122"/>
                <a:cs typeface="Arial" pitchFamily="34" charset="-120"/>
              </a:rPr>
              <a:t>كم يكلّف سطر واحد أُدخل خطأً</a:t>
            </a:r>
            <a:endParaRPr lang="en-US" sz="2800" dirty="0"/>
          </a:p>
        </p:txBody>
      </p:sp>
      <p:sp>
        <p:nvSpPr>
          <p:cNvPr id="5" name="Text 3"/>
          <p:cNvSpPr txBox="1"/>
          <p:nvPr/>
        </p:nvSpPr>
        <p:spPr>
          <a:xfrm>
            <a:off x="597103" y="1371600"/>
            <a:ext cx="10972800" cy="365760"/>
          </a:xfrm>
          <a:prstGeom prst="rect">
            <a:avLst/>
          </a:prstGeom>
          <a:noFill/>
          <a:ln/>
        </p:spPr>
        <p:txBody>
          <a:bodyPr wrap="square" lIns="0" tIns="0" rIns="0" bIns="0" rtlCol="0" anchor="ctr"/>
          <a:lstStyle/>
          <a:p>
            <a:pPr rtl="1" algn="r" indent="0" marL="0">
              <a:buNone/>
            </a:pPr>
            <a:r>
              <a:rPr lang="en-US" sz="1500" dirty="0">
                <a:solidFill>
                  <a:srgbClr val="0D2136"/>
                </a:solidFill>
                <a:latin typeface="Arial" pitchFamily="34" charset="0"/>
                <a:ea typeface="Arial" pitchFamily="34" charset="-122"/>
                <a:cs typeface="Arial" pitchFamily="34" charset="-120"/>
              </a:rPr>
              <a:t>السطر RET-1007 مرتجع قُيّد كأنه عملية بيع: عُكس في عمود الطلب، وحُمّل في عمود العمولة.</a:t>
            </a:r>
            <a:endParaRPr lang="en-US" sz="1500" dirty="0"/>
          </a:p>
        </p:txBody>
      </p:sp>
      <p:sp>
        <p:nvSpPr>
          <p:cNvPr id="6" name="Shape 4"/>
          <p:cNvSpPr/>
          <p:nvPr/>
        </p:nvSpPr>
        <p:spPr>
          <a:xfrm>
            <a:off x="560527" y="1810512"/>
            <a:ext cx="11064240" cy="841248"/>
          </a:xfrm>
          <a:prstGeom prst="roundRect">
            <a:avLst>
              <a:gd name="adj" fmla="val 9783"/>
            </a:avLst>
          </a:prstGeom>
          <a:solidFill>
            <a:srgbClr val="FFFFFF"/>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7" name="Text 5"/>
          <p:cNvSpPr txBox="1"/>
          <p:nvPr/>
        </p:nvSpPr>
        <p:spPr>
          <a:xfrm>
            <a:off x="7253935" y="1920240"/>
            <a:ext cx="4023360" cy="621792"/>
          </a:xfrm>
          <a:prstGeom prst="rect">
            <a:avLst/>
          </a:prstGeom>
          <a:noFill/>
          <a:ln/>
        </p:spPr>
        <p:txBody>
          <a:bodyPr wrap="square" lIns="0" tIns="0" rIns="0" bIns="0" rtlCol="0" anchor="ctr"/>
          <a:lstStyle/>
          <a:p>
            <a:pPr rtl="1" algn="r" indent="0" marL="0">
              <a:buNone/>
            </a:pPr>
            <a:r>
              <a:rPr lang="en-US" sz="1700" b="1" dirty="0">
                <a:solidFill>
                  <a:srgbClr val="021A37"/>
                </a:solidFill>
                <a:latin typeface="Arial" pitchFamily="34" charset="0"/>
                <a:ea typeface="Arial" pitchFamily="34" charset="-122"/>
                <a:cs typeface="Arial" pitchFamily="34" charset="-120"/>
              </a:rPr>
              <a:t>الطرف النقدي</a:t>
            </a:r>
            <a:endParaRPr lang="en-US" sz="1700" dirty="0"/>
          </a:p>
        </p:txBody>
      </p:sp>
      <p:sp>
        <p:nvSpPr>
          <p:cNvPr id="8" name="Text 6"/>
          <p:cNvSpPr txBox="1"/>
          <p:nvPr/>
        </p:nvSpPr>
        <p:spPr>
          <a:xfrm>
            <a:off x="3139135" y="1920240"/>
            <a:ext cx="4023360" cy="621792"/>
          </a:xfrm>
          <a:prstGeom prst="rect">
            <a:avLst/>
          </a:prstGeom>
          <a:noFill/>
          <a:ln/>
        </p:spPr>
        <p:txBody>
          <a:bodyPr wrap="square" lIns="0" tIns="0" rIns="0" bIns="0" rtlCol="0" anchor="ctr"/>
          <a:lstStyle/>
          <a:p>
            <a:pPr rtl="1" algn="r" indent="0" marL="0">
              <a:buNone/>
            </a:pPr>
            <a:r>
              <a:rPr lang="en-US" sz="1250" dirty="0">
                <a:solidFill>
                  <a:srgbClr val="5B7080"/>
                </a:solidFill>
                <a:latin typeface="Arial" pitchFamily="34" charset="0"/>
                <a:ea typeface="Arial" pitchFamily="34" charset="-122"/>
                <a:cs typeface="Arial" pitchFamily="34" charset="-120"/>
              </a:rPr>
              <a:t>وهو الخطأ الأكبر بفارق واسع</a:t>
            </a:r>
            <a:endParaRPr lang="en-US" sz="1250" dirty="0"/>
          </a:p>
        </p:txBody>
      </p:sp>
      <p:sp>
        <p:nvSpPr>
          <p:cNvPr id="9" name="Text 7"/>
          <p:cNvSpPr txBox="1"/>
          <p:nvPr/>
        </p:nvSpPr>
        <p:spPr>
          <a:xfrm>
            <a:off x="898855" y="1920240"/>
            <a:ext cx="2148840" cy="621792"/>
          </a:xfrm>
          <a:prstGeom prst="rect">
            <a:avLst/>
          </a:prstGeom>
          <a:noFill/>
          <a:ln/>
        </p:spPr>
        <p:txBody>
          <a:bodyPr wrap="square" lIns="0" tIns="0" rIns="0" bIns="0" rtlCol="0" anchor="ctr"/>
          <a:lstStyle/>
          <a:p>
            <a:pPr rtl="1" algn="l" indent="0" marL="0">
              <a:buNone/>
            </a:pPr>
            <a:r>
              <a:rPr lang="en-US" sz="2400" b="1" dirty="0">
                <a:solidFill>
                  <a:srgbClr val="1F9D55"/>
                </a:solidFill>
                <a:latin typeface="Arial" pitchFamily="34" charset="0"/>
                <a:ea typeface="Arial" pitchFamily="34" charset="-122"/>
                <a:cs typeface="Arial" pitchFamily="34" charset="-120"/>
              </a:rPr>
              <a:t>‎+300.000</a:t>
            </a:r>
            <a:endParaRPr lang="en-US" sz="2400" dirty="0"/>
          </a:p>
        </p:txBody>
      </p:sp>
      <p:sp>
        <p:nvSpPr>
          <p:cNvPr id="10" name="Shape 8"/>
          <p:cNvSpPr/>
          <p:nvPr/>
        </p:nvSpPr>
        <p:spPr>
          <a:xfrm>
            <a:off x="560527" y="2779776"/>
            <a:ext cx="11064240" cy="841248"/>
          </a:xfrm>
          <a:prstGeom prst="roundRect">
            <a:avLst>
              <a:gd name="adj" fmla="val 9783"/>
            </a:avLst>
          </a:prstGeom>
          <a:solidFill>
            <a:srgbClr val="FFFFFF"/>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11" name="Text 9"/>
          <p:cNvSpPr txBox="1"/>
          <p:nvPr/>
        </p:nvSpPr>
        <p:spPr>
          <a:xfrm>
            <a:off x="7253935" y="2889504"/>
            <a:ext cx="4023360" cy="621792"/>
          </a:xfrm>
          <a:prstGeom prst="rect">
            <a:avLst/>
          </a:prstGeom>
          <a:noFill/>
          <a:ln/>
        </p:spPr>
        <p:txBody>
          <a:bodyPr wrap="square" lIns="0" tIns="0" rIns="0" bIns="0" rtlCol="0" anchor="ctr"/>
          <a:lstStyle/>
          <a:p>
            <a:pPr rtl="1" algn="r" indent="0" marL="0">
              <a:buNone/>
            </a:pPr>
            <a:r>
              <a:rPr lang="en-US" sz="1700" b="1" dirty="0">
                <a:solidFill>
                  <a:srgbClr val="021A37"/>
                </a:solidFill>
                <a:latin typeface="Arial" pitchFamily="34" charset="0"/>
                <a:ea typeface="Arial" pitchFamily="34" charset="-122"/>
                <a:cs typeface="Arial" pitchFamily="34" charset="-120"/>
              </a:rPr>
              <a:t>طرف العمولة</a:t>
            </a:r>
            <a:endParaRPr lang="en-US" sz="1700" dirty="0"/>
          </a:p>
        </p:txBody>
      </p:sp>
      <p:sp>
        <p:nvSpPr>
          <p:cNvPr id="12" name="Text 10"/>
          <p:cNvSpPr txBox="1"/>
          <p:nvPr/>
        </p:nvSpPr>
        <p:spPr>
          <a:xfrm>
            <a:off x="3139135" y="2889504"/>
            <a:ext cx="4023360" cy="621792"/>
          </a:xfrm>
          <a:prstGeom prst="rect">
            <a:avLst/>
          </a:prstGeom>
          <a:noFill/>
          <a:ln/>
        </p:spPr>
        <p:txBody>
          <a:bodyPr wrap="square" lIns="0" tIns="0" rIns="0" bIns="0" rtlCol="0" anchor="ctr"/>
          <a:lstStyle/>
          <a:p>
            <a:pPr rtl="1" algn="r" indent="0" marL="0">
              <a:buNone/>
            </a:pPr>
            <a:r>
              <a:rPr lang="en-US" sz="1250" dirty="0">
                <a:solidFill>
                  <a:srgbClr val="5B7080"/>
                </a:solidFill>
                <a:latin typeface="Arial" pitchFamily="34" charset="0"/>
                <a:ea typeface="Arial" pitchFamily="34" charset="-122"/>
                <a:cs typeface="Arial" pitchFamily="34" charset="-120"/>
              </a:rPr>
              <a:t>وهو الطرف الوحيد الذي يراه فحص العمولة</a:t>
            </a:r>
            <a:endParaRPr lang="en-US" sz="1250" dirty="0"/>
          </a:p>
        </p:txBody>
      </p:sp>
      <p:sp>
        <p:nvSpPr>
          <p:cNvPr id="13" name="Text 11"/>
          <p:cNvSpPr txBox="1"/>
          <p:nvPr/>
        </p:nvSpPr>
        <p:spPr>
          <a:xfrm>
            <a:off x="898855" y="2889504"/>
            <a:ext cx="2148840" cy="621792"/>
          </a:xfrm>
          <a:prstGeom prst="rect">
            <a:avLst/>
          </a:prstGeom>
          <a:noFill/>
          <a:ln/>
        </p:spPr>
        <p:txBody>
          <a:bodyPr wrap="square" lIns="0" tIns="0" rIns="0" bIns="0" rtlCol="0" anchor="ctr"/>
          <a:lstStyle/>
          <a:p>
            <a:pPr rtl="1" algn="l" indent="0" marL="0">
              <a:buNone/>
            </a:pPr>
            <a:r>
              <a:rPr lang="en-US" sz="2400" b="1" dirty="0">
                <a:solidFill>
                  <a:srgbClr val="D0402A"/>
                </a:solidFill>
                <a:latin typeface="Arial" pitchFamily="34" charset="0"/>
                <a:ea typeface="Arial" pitchFamily="34" charset="-122"/>
                <a:cs typeface="Arial" pitchFamily="34" charset="-120"/>
              </a:rPr>
              <a:t>‎−9.000</a:t>
            </a:r>
            <a:endParaRPr lang="en-US" sz="2400" dirty="0"/>
          </a:p>
        </p:txBody>
      </p:sp>
      <p:sp>
        <p:nvSpPr>
          <p:cNvPr id="14" name="Shape 12"/>
          <p:cNvSpPr/>
          <p:nvPr/>
        </p:nvSpPr>
        <p:spPr>
          <a:xfrm>
            <a:off x="560527" y="3749040"/>
            <a:ext cx="11064240" cy="841248"/>
          </a:xfrm>
          <a:prstGeom prst="roundRect">
            <a:avLst>
              <a:gd name="adj" fmla="val 9783"/>
            </a:avLst>
          </a:prstGeom>
          <a:solidFill>
            <a:srgbClr val="021A37"/>
          </a:solidFill>
          <a:ln w="12700">
            <a:solidFill>
              <a:srgbClr val="021A37"/>
            </a:solidFill>
            <a:prstDash val="solid"/>
          </a:ln>
          <a:effectLst>
            <a:outerShdw sx="100000" sy="100000" kx="0" ky="0" algn="bl" rotWithShape="0" blurRad="127000" dist="25400" dir="5400000">
              <a:srgbClr val="021A37">
                <a:alpha val="7000"/>
              </a:srgbClr>
            </a:outerShdw>
          </a:effectLst>
        </p:spPr>
      </p:sp>
      <p:sp>
        <p:nvSpPr>
          <p:cNvPr id="15" name="Text 13"/>
          <p:cNvSpPr txBox="1"/>
          <p:nvPr/>
        </p:nvSpPr>
        <p:spPr>
          <a:xfrm>
            <a:off x="7253935" y="3858768"/>
            <a:ext cx="4023360" cy="621792"/>
          </a:xfrm>
          <a:prstGeom prst="rect">
            <a:avLst/>
          </a:prstGeom>
          <a:noFill/>
          <a:ln/>
        </p:spPr>
        <p:txBody>
          <a:bodyPr wrap="square" lIns="0" tIns="0" rIns="0" bIns="0" rtlCol="0" anchor="ctr"/>
          <a:lstStyle/>
          <a:p>
            <a:pPr rtl="1" algn="r" indent="0" marL="0">
              <a:buNone/>
            </a:pPr>
            <a:r>
              <a:rPr lang="en-US" sz="1700" b="1" dirty="0">
                <a:solidFill>
                  <a:srgbClr val="FFFFFF"/>
                </a:solidFill>
                <a:latin typeface="Arial" pitchFamily="34" charset="0"/>
                <a:ea typeface="Arial" pitchFamily="34" charset="-122"/>
                <a:cs typeface="Arial" pitchFamily="34" charset="-120"/>
              </a:rPr>
              <a:t>الأثر على الرصيد المعلن</a:t>
            </a:r>
            <a:endParaRPr lang="en-US" sz="1700" dirty="0"/>
          </a:p>
        </p:txBody>
      </p:sp>
      <p:sp>
        <p:nvSpPr>
          <p:cNvPr id="16" name="Text 14"/>
          <p:cNvSpPr txBox="1"/>
          <p:nvPr/>
        </p:nvSpPr>
        <p:spPr>
          <a:xfrm>
            <a:off x="3139135" y="3858768"/>
            <a:ext cx="4023360" cy="621792"/>
          </a:xfrm>
          <a:prstGeom prst="rect">
            <a:avLst/>
          </a:prstGeom>
          <a:noFill/>
          <a:ln/>
        </p:spPr>
        <p:txBody>
          <a:bodyPr wrap="square" lIns="0" tIns="0" rIns="0" bIns="0" rtlCol="0" anchor="ctr"/>
          <a:lstStyle/>
          <a:p>
            <a:pPr rtl="1" algn="r" indent="0" marL="0">
              <a:buNone/>
            </a:pPr>
            <a:r>
              <a:rPr lang="en-US" sz="1250" dirty="0">
                <a:solidFill>
                  <a:srgbClr val="9FC4E4"/>
                </a:solidFill>
                <a:latin typeface="Arial" pitchFamily="34" charset="0"/>
                <a:ea typeface="Arial" pitchFamily="34" charset="-122"/>
                <a:cs typeface="Arial" pitchFamily="34" charset="-120"/>
              </a:rPr>
              <a:t>رصيد معلن 518.500 مقابل 227.500 صحيح</a:t>
            </a:r>
            <a:endParaRPr lang="en-US" sz="1250" dirty="0"/>
          </a:p>
        </p:txBody>
      </p:sp>
      <p:sp>
        <p:nvSpPr>
          <p:cNvPr id="17" name="Text 15"/>
          <p:cNvSpPr txBox="1"/>
          <p:nvPr/>
        </p:nvSpPr>
        <p:spPr>
          <a:xfrm>
            <a:off x="898855" y="3858768"/>
            <a:ext cx="2148840" cy="621792"/>
          </a:xfrm>
          <a:prstGeom prst="rect">
            <a:avLst/>
          </a:prstGeom>
          <a:noFill/>
          <a:ln/>
        </p:spPr>
        <p:txBody>
          <a:bodyPr wrap="square" lIns="0" tIns="0" rIns="0" bIns="0" rtlCol="0" anchor="ctr"/>
          <a:lstStyle/>
          <a:p>
            <a:pPr rtl="1" algn="l" indent="0" marL="0">
              <a:buNone/>
            </a:pPr>
            <a:r>
              <a:rPr lang="en-US" sz="2400" b="1" dirty="0">
                <a:solidFill>
                  <a:srgbClr val="FFFFFF"/>
                </a:solidFill>
                <a:latin typeface="Arial" pitchFamily="34" charset="0"/>
                <a:ea typeface="Arial" pitchFamily="34" charset="-122"/>
                <a:cs typeface="Arial" pitchFamily="34" charset="-120"/>
              </a:rPr>
              <a:t>291.000</a:t>
            </a:r>
            <a:endParaRPr lang="en-US" sz="2400" dirty="0"/>
          </a:p>
        </p:txBody>
      </p:sp>
      <p:sp>
        <p:nvSpPr>
          <p:cNvPr id="18" name="Shape 16"/>
          <p:cNvSpPr/>
          <p:nvPr/>
        </p:nvSpPr>
        <p:spPr>
          <a:xfrm>
            <a:off x="560527" y="4882896"/>
            <a:ext cx="11064240" cy="1024128"/>
          </a:xfrm>
          <a:prstGeom prst="roundRect">
            <a:avLst>
              <a:gd name="adj" fmla="val 8036"/>
            </a:avLst>
          </a:prstGeom>
          <a:solidFill>
            <a:srgbClr val="FFF5E6"/>
          </a:solidFill>
          <a:ln w="12700">
            <a:solidFill>
              <a:srgbClr val="F6E1BF"/>
            </a:solidFill>
            <a:prstDash val="solid"/>
          </a:ln>
          <a:effectLst>
            <a:outerShdw sx="100000" sy="100000" kx="0" ky="0" algn="bl" rotWithShape="0" blurRad="127000" dist="25400" dir="5400000">
              <a:srgbClr val="021A37">
                <a:alpha val="7000"/>
              </a:srgbClr>
            </a:outerShdw>
          </a:effectLst>
        </p:spPr>
      </p:sp>
      <p:sp>
        <p:nvSpPr>
          <p:cNvPr id="19" name="Text 17"/>
          <p:cNvSpPr txBox="1"/>
          <p:nvPr/>
        </p:nvSpPr>
        <p:spPr>
          <a:xfrm>
            <a:off x="898855" y="5010912"/>
            <a:ext cx="10378440" cy="786384"/>
          </a:xfrm>
          <a:prstGeom prst="rect">
            <a:avLst/>
          </a:prstGeom>
          <a:noFill/>
          <a:ln/>
        </p:spPr>
        <p:txBody>
          <a:bodyPr wrap="square" lIns="0" tIns="0" rIns="0" bIns="0" rtlCol="0" anchor="ctr"/>
          <a:lstStyle/>
          <a:p>
            <a:pPr rtl="1" algn="r" indent="0" marL="0">
              <a:lnSpc>
                <a:spcPts val="1900"/>
              </a:lnSpc>
              <a:buNone/>
            </a:pPr>
            <a:r>
              <a:rPr lang="en-US" sz="1350" dirty="0">
                <a:solidFill>
                  <a:srgbClr val="A35C00"/>
                </a:solidFill>
                <a:latin typeface="Arial" pitchFamily="34" charset="0"/>
                <a:ea typeface="Arial" pitchFamily="34" charset="-122"/>
                <a:cs typeface="Arial" pitchFamily="34" charset="-120"/>
              </a:rPr>
              <a:t>الخطأ النقدي يعادل 33.3 ضعف خطأ العمولة — وهو بالضبط 1 ÷ 3٪. هذه النسبة هي سبب كون خطأ بهذا الشكل شبه خفيّ أمام فحص يقرأ العمولة وحدها.</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11204143" y="475488"/>
            <a:ext cx="420624" cy="420624"/>
          </a:xfrm>
          <a:prstGeom prst="ellipse">
            <a:avLst/>
          </a:prstGeom>
          <a:solidFill>
            <a:srgbClr val="021A37"/>
          </a:solidFill>
          <a:ln/>
        </p:spPr>
      </p:sp>
      <p:sp>
        <p:nvSpPr>
          <p:cNvPr id="3" name="Text 1"/>
          <p:cNvSpPr txBox="1"/>
          <p:nvPr/>
        </p:nvSpPr>
        <p:spPr>
          <a:xfrm>
            <a:off x="11204143" y="475488"/>
            <a:ext cx="420624" cy="420624"/>
          </a:xfrm>
          <a:prstGeom prst="rect">
            <a:avLst/>
          </a:prstGeom>
          <a:noFill/>
          <a:ln/>
        </p:spPr>
        <p:txBody>
          <a:bodyPr wrap="square" lIns="0" tIns="0" rIns="0" bIns="0" rtlCol="0" anchor="ctr"/>
          <a:lstStyle/>
          <a:p>
            <a:pPr rtl="1" algn="ctr" indent="0" marL="0">
              <a:buNone/>
            </a:pPr>
            <a:r>
              <a:rPr lang="en-US" sz="1300" b="1" dirty="0">
                <a:solidFill>
                  <a:srgbClr val="FFFFFF"/>
                </a:solidFill>
                <a:latin typeface="Arial" pitchFamily="34" charset="0"/>
                <a:ea typeface="Arial" pitchFamily="34" charset="-122"/>
                <a:cs typeface="Arial" pitchFamily="34" charset="-120"/>
              </a:rPr>
              <a:t>05</a:t>
            </a:r>
            <a:endParaRPr lang="en-US" sz="1300" dirty="0"/>
          </a:p>
        </p:txBody>
      </p:sp>
      <p:sp>
        <p:nvSpPr>
          <p:cNvPr id="4" name="Text 2"/>
          <p:cNvSpPr txBox="1"/>
          <p:nvPr/>
        </p:nvSpPr>
        <p:spPr>
          <a:xfrm>
            <a:off x="597103" y="347472"/>
            <a:ext cx="10424160" cy="868680"/>
          </a:xfrm>
          <a:prstGeom prst="rect">
            <a:avLst/>
          </a:prstGeom>
          <a:noFill/>
          <a:ln/>
        </p:spPr>
        <p:txBody>
          <a:bodyPr wrap="square" lIns="0" tIns="0" rIns="0" bIns="0" rtlCol="0" anchor="ctr"/>
          <a:lstStyle/>
          <a:p>
            <a:pPr rtl="1" algn="r" indent="0" marL="0">
              <a:buNone/>
            </a:pPr>
            <a:r>
              <a:rPr lang="en-US" sz="2800" b="1" dirty="0">
                <a:solidFill>
                  <a:srgbClr val="021A37"/>
                </a:solidFill>
                <a:latin typeface="Arial" pitchFamily="34" charset="0"/>
                <a:ea typeface="Arial" pitchFamily="34" charset="-122"/>
                <a:cs typeface="Arial" pitchFamily="34" charset="-120"/>
              </a:rPr>
              <a:t>استعلام واحد يكشفه ويسمّيه</a:t>
            </a:r>
            <a:endParaRPr lang="en-US" sz="2800" dirty="0"/>
          </a:p>
        </p:txBody>
      </p:sp>
      <p:sp>
        <p:nvSpPr>
          <p:cNvPr id="5" name="Shape 3"/>
          <p:cNvSpPr/>
          <p:nvPr/>
        </p:nvSpPr>
        <p:spPr>
          <a:xfrm>
            <a:off x="560527" y="1371600"/>
            <a:ext cx="11064240" cy="713232"/>
          </a:xfrm>
          <a:prstGeom prst="roundRect">
            <a:avLst>
              <a:gd name="adj" fmla="val 11538"/>
            </a:avLst>
          </a:prstGeom>
          <a:solidFill>
            <a:srgbClr val="021A37"/>
          </a:solidFill>
          <a:ln w="12700">
            <a:solidFill>
              <a:srgbClr val="021A37"/>
            </a:solidFill>
            <a:prstDash val="solid"/>
          </a:ln>
          <a:effectLst>
            <a:outerShdw sx="100000" sy="100000" kx="0" ky="0" algn="bl" rotWithShape="0" blurRad="127000" dist="25400" dir="5400000">
              <a:srgbClr val="021A37">
                <a:alpha val="7000"/>
              </a:srgbClr>
            </a:outerShdw>
          </a:effectLst>
        </p:spPr>
      </p:sp>
      <p:sp>
        <p:nvSpPr>
          <p:cNvPr id="6" name="Text 4"/>
          <p:cNvSpPr txBox="1"/>
          <p:nvPr/>
        </p:nvSpPr>
        <p:spPr>
          <a:xfrm>
            <a:off x="560527" y="1371600"/>
            <a:ext cx="11064240" cy="713232"/>
          </a:xfrm>
          <a:prstGeom prst="rect">
            <a:avLst/>
          </a:prstGeom>
          <a:noFill/>
          <a:ln/>
        </p:spPr>
        <p:txBody>
          <a:bodyPr wrap="square" lIns="0" tIns="0" rIns="0" bIns="0" rtlCol="0" anchor="ctr"/>
          <a:lstStyle/>
          <a:p>
            <a:pPr algn="ctr" indent="0" marL="0">
              <a:buNone/>
            </a:pPr>
            <a:r>
              <a:rPr lang="en-US" sz="1800" dirty="0">
                <a:solidFill>
                  <a:srgbClr val="7FC4F0"/>
                </a:solidFill>
                <a:latin typeface="Courier New" pitchFamily="34" charset="0"/>
                <a:ea typeface="Courier New" pitchFamily="34" charset="-122"/>
                <a:cs typeface="Courier New" pitchFamily="34" charset="-120"/>
              </a:rPr>
              <a:t>sum(commission)  ===  round3( rate × sum(orderValue) )</a:t>
            </a:r>
            <a:endParaRPr lang="en-US" sz="1800" dirty="0"/>
          </a:p>
        </p:txBody>
      </p:sp>
      <p:sp>
        <p:nvSpPr>
          <p:cNvPr id="7" name="Text 5"/>
          <p:cNvSpPr txBox="1"/>
          <p:nvPr/>
        </p:nvSpPr>
        <p:spPr>
          <a:xfrm>
            <a:off x="597103" y="2304288"/>
            <a:ext cx="10972800" cy="777240"/>
          </a:xfrm>
          <a:prstGeom prst="rect">
            <a:avLst/>
          </a:prstGeom>
          <a:noFill/>
          <a:ln/>
        </p:spPr>
        <p:txBody>
          <a:bodyPr wrap="square" lIns="0" tIns="0" rIns="0" bIns="0" rtlCol="0" anchor="ctr"/>
          <a:lstStyle/>
          <a:p>
            <a:pPr rtl="1" algn="r" indent="0" marL="0">
              <a:lnSpc>
                <a:spcPts val="2500"/>
              </a:lnSpc>
              <a:buNone/>
            </a:pPr>
            <a:r>
              <a:rPr lang="en-US" sz="1550" dirty="0">
                <a:solidFill>
                  <a:srgbClr val="0D2136"/>
                </a:solidFill>
                <a:latin typeface="Arial" pitchFamily="34" charset="0"/>
                <a:ea typeface="Arial" pitchFamily="34" charset="-122"/>
                <a:cs typeface="Arial" pitchFamily="34" charset="-120"/>
              </a:rPr>
              <a:t>الضابط يفشل على الحالة المُقيَّدة وينجح على الحالة المصححة. وهو لا يقول إن «هناك عدم تطابق» — بل يسمّي RET-1007، مع المتوقع مقابل المحمَّل، والفارق، والبائع الذي يخصّه.</a:t>
            </a:r>
            <a:endParaRPr lang="en-US" sz="1550" dirty="0"/>
          </a:p>
        </p:txBody>
      </p:sp>
      <p:sp>
        <p:nvSpPr>
          <p:cNvPr id="8" name="Shape 6"/>
          <p:cNvSpPr/>
          <p:nvPr/>
        </p:nvSpPr>
        <p:spPr>
          <a:xfrm>
            <a:off x="8095183" y="3310128"/>
            <a:ext cx="3529584" cy="1371600"/>
          </a:xfrm>
          <a:prstGeom prst="roundRect">
            <a:avLst>
              <a:gd name="adj" fmla="val 6000"/>
            </a:avLst>
          </a:prstGeom>
          <a:solidFill>
            <a:srgbClr val="FFFFFF"/>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9" name="Text 7"/>
          <p:cNvSpPr txBox="1"/>
          <p:nvPr/>
        </p:nvSpPr>
        <p:spPr>
          <a:xfrm>
            <a:off x="8332927" y="3493008"/>
            <a:ext cx="3054096" cy="365760"/>
          </a:xfrm>
          <a:prstGeom prst="rect">
            <a:avLst/>
          </a:prstGeom>
          <a:noFill/>
          <a:ln/>
        </p:spPr>
        <p:txBody>
          <a:bodyPr wrap="square" lIns="0" tIns="0" rIns="0" bIns="0" rtlCol="0" anchor="ctr"/>
          <a:lstStyle/>
          <a:p>
            <a:pPr rtl="1" algn="r" indent="0" marL="0">
              <a:buNone/>
            </a:pPr>
            <a:r>
              <a:rPr lang="en-US" sz="1700" b="1" dirty="0">
                <a:solidFill>
                  <a:srgbClr val="D0402A"/>
                </a:solidFill>
                <a:latin typeface="Arial" pitchFamily="34" charset="0"/>
                <a:ea typeface="Arial" pitchFamily="34" charset="-122"/>
                <a:cs typeface="Arial" pitchFamily="34" charset="-120"/>
              </a:rPr>
              <a:t>يفشل كما هو مُقيَّد</a:t>
            </a:r>
            <a:endParaRPr lang="en-US" sz="1700" dirty="0"/>
          </a:p>
        </p:txBody>
      </p:sp>
      <p:sp>
        <p:nvSpPr>
          <p:cNvPr id="10" name="Text 8"/>
          <p:cNvSpPr txBox="1"/>
          <p:nvPr/>
        </p:nvSpPr>
        <p:spPr>
          <a:xfrm>
            <a:off x="8332927" y="3877056"/>
            <a:ext cx="3054096" cy="640080"/>
          </a:xfrm>
          <a:prstGeom prst="rect">
            <a:avLst/>
          </a:prstGeom>
          <a:noFill/>
          <a:ln/>
        </p:spPr>
        <p:txBody>
          <a:bodyPr wrap="square" lIns="0" tIns="0" rIns="0" bIns="0" rtlCol="0" anchor="ctr"/>
          <a:lstStyle/>
          <a:p>
            <a:pPr rtl="1" algn="r" indent="0" marL="0">
              <a:lnSpc>
                <a:spcPts val="1800"/>
              </a:lnSpc>
              <a:buNone/>
            </a:pPr>
            <a:r>
              <a:rPr lang="en-US" sz="1300" dirty="0">
                <a:solidFill>
                  <a:srgbClr val="5B7080"/>
                </a:solidFill>
                <a:latin typeface="Arial" pitchFamily="34" charset="0"/>
                <a:ea typeface="Arial" pitchFamily="34" charset="-122"/>
                <a:cs typeface="Arial" pitchFamily="34" charset="-120"/>
              </a:rPr>
              <a:t>فارق +9.000 على طرف العمولة</a:t>
            </a:r>
            <a:endParaRPr lang="en-US" sz="1300" dirty="0"/>
          </a:p>
        </p:txBody>
      </p:sp>
      <p:sp>
        <p:nvSpPr>
          <p:cNvPr id="11" name="Shape 9"/>
          <p:cNvSpPr/>
          <p:nvPr/>
        </p:nvSpPr>
        <p:spPr>
          <a:xfrm>
            <a:off x="4419295" y="3310128"/>
            <a:ext cx="3529584" cy="1371600"/>
          </a:xfrm>
          <a:prstGeom prst="roundRect">
            <a:avLst>
              <a:gd name="adj" fmla="val 6000"/>
            </a:avLst>
          </a:prstGeom>
          <a:solidFill>
            <a:srgbClr val="FFFFFF"/>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12" name="Text 10"/>
          <p:cNvSpPr txBox="1"/>
          <p:nvPr/>
        </p:nvSpPr>
        <p:spPr>
          <a:xfrm>
            <a:off x="4657039" y="3493008"/>
            <a:ext cx="3054096" cy="365760"/>
          </a:xfrm>
          <a:prstGeom prst="rect">
            <a:avLst/>
          </a:prstGeom>
          <a:noFill/>
          <a:ln/>
        </p:spPr>
        <p:txBody>
          <a:bodyPr wrap="square" lIns="0" tIns="0" rIns="0" bIns="0" rtlCol="0" anchor="ctr"/>
          <a:lstStyle/>
          <a:p>
            <a:pPr rtl="1" algn="r" indent="0" marL="0">
              <a:buNone/>
            </a:pPr>
            <a:r>
              <a:rPr lang="en-US" sz="1700" b="1" dirty="0">
                <a:solidFill>
                  <a:srgbClr val="1F9D55"/>
                </a:solidFill>
                <a:latin typeface="Arial" pitchFamily="34" charset="0"/>
                <a:ea typeface="Arial" pitchFamily="34" charset="-122"/>
                <a:cs typeface="Arial" pitchFamily="34" charset="-120"/>
              </a:rPr>
              <a:t>ينجح بعد التصحيح</a:t>
            </a:r>
            <a:endParaRPr lang="en-US" sz="1700" dirty="0"/>
          </a:p>
        </p:txBody>
      </p:sp>
      <p:sp>
        <p:nvSpPr>
          <p:cNvPr id="13" name="Text 11"/>
          <p:cNvSpPr txBox="1"/>
          <p:nvPr/>
        </p:nvSpPr>
        <p:spPr>
          <a:xfrm>
            <a:off x="4657039" y="3877056"/>
            <a:ext cx="3054096" cy="640080"/>
          </a:xfrm>
          <a:prstGeom prst="rect">
            <a:avLst/>
          </a:prstGeom>
          <a:noFill/>
          <a:ln/>
        </p:spPr>
        <p:txBody>
          <a:bodyPr wrap="square" lIns="0" tIns="0" rIns="0" bIns="0" rtlCol="0" anchor="ctr"/>
          <a:lstStyle/>
          <a:p>
            <a:pPr rtl="1" algn="r" indent="0" marL="0">
              <a:lnSpc>
                <a:spcPts val="1800"/>
              </a:lnSpc>
              <a:buNone/>
            </a:pPr>
            <a:r>
              <a:rPr lang="en-US" sz="1300" dirty="0">
                <a:solidFill>
                  <a:srgbClr val="5B7080"/>
                </a:solidFill>
                <a:latin typeface="Arial" pitchFamily="34" charset="0"/>
                <a:ea typeface="Arial" pitchFamily="34" charset="-122"/>
                <a:cs typeface="Arial" pitchFamily="34" charset="-120"/>
              </a:rPr>
              <a:t>كل سطر آخر يتطابق</a:t>
            </a:r>
            <a:endParaRPr lang="en-US" sz="1300" dirty="0"/>
          </a:p>
        </p:txBody>
      </p:sp>
      <p:sp>
        <p:nvSpPr>
          <p:cNvPr id="14" name="Shape 12"/>
          <p:cNvSpPr/>
          <p:nvPr/>
        </p:nvSpPr>
        <p:spPr>
          <a:xfrm>
            <a:off x="743407" y="3310128"/>
            <a:ext cx="3529584" cy="1371600"/>
          </a:xfrm>
          <a:prstGeom prst="roundRect">
            <a:avLst>
              <a:gd name="adj" fmla="val 6000"/>
            </a:avLst>
          </a:prstGeom>
          <a:solidFill>
            <a:srgbClr val="FFFFFF"/>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15" name="Text 13"/>
          <p:cNvSpPr txBox="1"/>
          <p:nvPr/>
        </p:nvSpPr>
        <p:spPr>
          <a:xfrm>
            <a:off x="981151" y="3493008"/>
            <a:ext cx="3054096" cy="365760"/>
          </a:xfrm>
          <a:prstGeom prst="rect">
            <a:avLst/>
          </a:prstGeom>
          <a:noFill/>
          <a:ln/>
        </p:spPr>
        <p:txBody>
          <a:bodyPr wrap="square" lIns="0" tIns="0" rIns="0" bIns="0" rtlCol="0" anchor="ctr"/>
          <a:lstStyle/>
          <a:p>
            <a:pPr rtl="1" algn="r" indent="0" marL="0">
              <a:buNone/>
            </a:pPr>
            <a:r>
              <a:rPr lang="en-US" sz="1700" b="1" dirty="0">
                <a:solidFill>
                  <a:srgbClr val="026DBD"/>
                </a:solidFill>
                <a:latin typeface="Arial" pitchFamily="34" charset="0"/>
                <a:ea typeface="Arial" pitchFamily="34" charset="-122"/>
                <a:cs typeface="Arial" pitchFamily="34" charset="-120"/>
              </a:rPr>
              <a:t>يسمّي السطر</a:t>
            </a:r>
            <a:endParaRPr lang="en-US" sz="1700" dirty="0"/>
          </a:p>
        </p:txBody>
      </p:sp>
      <p:sp>
        <p:nvSpPr>
          <p:cNvPr id="16" name="Text 14"/>
          <p:cNvSpPr txBox="1"/>
          <p:nvPr/>
        </p:nvSpPr>
        <p:spPr>
          <a:xfrm>
            <a:off x="981151" y="3877056"/>
            <a:ext cx="3054096" cy="640080"/>
          </a:xfrm>
          <a:prstGeom prst="rect">
            <a:avLst/>
          </a:prstGeom>
          <a:noFill/>
          <a:ln/>
        </p:spPr>
        <p:txBody>
          <a:bodyPr wrap="square" lIns="0" tIns="0" rIns="0" bIns="0" rtlCol="0" anchor="ctr"/>
          <a:lstStyle/>
          <a:p>
            <a:pPr rtl="1" algn="r" indent="0" marL="0">
              <a:lnSpc>
                <a:spcPts val="1800"/>
              </a:lnSpc>
              <a:buNone/>
            </a:pPr>
            <a:r>
              <a:rPr lang="en-US" sz="1300" dirty="0">
                <a:solidFill>
                  <a:srgbClr val="5B7080"/>
                </a:solidFill>
                <a:latin typeface="Arial" pitchFamily="34" charset="0"/>
                <a:ea typeface="Arial" pitchFamily="34" charset="-122"/>
                <a:cs typeface="Arial" pitchFamily="34" charset="-120"/>
              </a:rPr>
              <a:t>ضابط لا يمكن التصرف بناءً عليه هو تقرير</a:t>
            </a:r>
            <a:endParaRPr lang="en-US" sz="1300" dirty="0"/>
          </a:p>
        </p:txBody>
      </p:sp>
      <p:sp>
        <p:nvSpPr>
          <p:cNvPr id="17" name="Text 15"/>
          <p:cNvSpPr txBox="1"/>
          <p:nvPr/>
        </p:nvSpPr>
        <p:spPr>
          <a:xfrm>
            <a:off x="597103" y="4956048"/>
            <a:ext cx="10972800" cy="457200"/>
          </a:xfrm>
          <a:prstGeom prst="rect">
            <a:avLst/>
          </a:prstGeom>
          <a:noFill/>
          <a:ln/>
        </p:spPr>
        <p:txBody>
          <a:bodyPr wrap="square" lIns="0" tIns="0" rIns="0" bIns="0" rtlCol="0" anchor="ctr"/>
          <a:lstStyle/>
          <a:p>
            <a:pPr rtl="1" algn="r" indent="0" marL="0">
              <a:buNone/>
            </a:pPr>
            <a:r>
              <a:rPr lang="en-US" sz="1450" i="1" dirty="0">
                <a:solidFill>
                  <a:srgbClr val="021A37"/>
                </a:solidFill>
                <a:latin typeface="Arial" pitchFamily="34" charset="0"/>
                <a:ea typeface="Arial" pitchFamily="34" charset="-122"/>
                <a:cs typeface="Arial" pitchFamily="34" charset="-120"/>
              </a:rPr>
              <a:t>قرار يستحق الحسم: أن يعمل هذا كبوابة على كل دورة تسوية، لا كتقرير شهري.</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11204143" y="475488"/>
            <a:ext cx="420624" cy="420624"/>
          </a:xfrm>
          <a:prstGeom prst="ellipse">
            <a:avLst/>
          </a:prstGeom>
          <a:solidFill>
            <a:srgbClr val="021A37"/>
          </a:solidFill>
          <a:ln/>
        </p:spPr>
      </p:sp>
      <p:sp>
        <p:nvSpPr>
          <p:cNvPr id="3" name="Text 1"/>
          <p:cNvSpPr txBox="1"/>
          <p:nvPr/>
        </p:nvSpPr>
        <p:spPr>
          <a:xfrm>
            <a:off x="11204143" y="475488"/>
            <a:ext cx="420624" cy="420624"/>
          </a:xfrm>
          <a:prstGeom prst="rect">
            <a:avLst/>
          </a:prstGeom>
          <a:noFill/>
          <a:ln/>
        </p:spPr>
        <p:txBody>
          <a:bodyPr wrap="square" lIns="0" tIns="0" rIns="0" bIns="0" rtlCol="0" anchor="ctr"/>
          <a:lstStyle/>
          <a:p>
            <a:pPr rtl="1" algn="ctr" indent="0" marL="0">
              <a:buNone/>
            </a:pPr>
            <a:r>
              <a:rPr lang="en-US" sz="1300" b="1" dirty="0">
                <a:solidFill>
                  <a:srgbClr val="FFFFFF"/>
                </a:solidFill>
                <a:latin typeface="Arial" pitchFamily="34" charset="0"/>
                <a:ea typeface="Arial" pitchFamily="34" charset="-122"/>
                <a:cs typeface="Arial" pitchFamily="34" charset="-120"/>
              </a:rPr>
              <a:t>06</a:t>
            </a:r>
            <a:endParaRPr lang="en-US" sz="1300" dirty="0"/>
          </a:p>
        </p:txBody>
      </p:sp>
      <p:sp>
        <p:nvSpPr>
          <p:cNvPr id="4" name="Text 2"/>
          <p:cNvSpPr txBox="1"/>
          <p:nvPr/>
        </p:nvSpPr>
        <p:spPr>
          <a:xfrm>
            <a:off x="597103" y="347472"/>
            <a:ext cx="10424160" cy="868680"/>
          </a:xfrm>
          <a:prstGeom prst="rect">
            <a:avLst/>
          </a:prstGeom>
          <a:noFill/>
          <a:ln/>
        </p:spPr>
        <p:txBody>
          <a:bodyPr wrap="square" lIns="0" tIns="0" rIns="0" bIns="0" rtlCol="0" anchor="ctr"/>
          <a:lstStyle/>
          <a:p>
            <a:pPr rtl="1" algn="r" indent="0" marL="0">
              <a:buNone/>
            </a:pPr>
            <a:r>
              <a:rPr lang="en-US" sz="2800" b="1" dirty="0">
                <a:solidFill>
                  <a:srgbClr val="021A37"/>
                </a:solidFill>
                <a:latin typeface="Arial" pitchFamily="34" charset="0"/>
                <a:ea typeface="Arial" pitchFamily="34" charset="-122"/>
                <a:cs typeface="Arial" pitchFamily="34" charset="-120"/>
              </a:rPr>
              <a:t>لا تُدفع مستحقات بائع من أموال بائع آخر</a:t>
            </a:r>
            <a:endParaRPr lang="en-US" sz="2800" dirty="0"/>
          </a:p>
        </p:txBody>
      </p:sp>
      <p:sp>
        <p:nvSpPr>
          <p:cNvPr id="5" name="Text 3"/>
          <p:cNvSpPr txBox="1"/>
          <p:nvPr/>
        </p:nvSpPr>
        <p:spPr>
          <a:xfrm>
            <a:off x="5626303" y="1371600"/>
            <a:ext cx="5943600" cy="1737360"/>
          </a:xfrm>
          <a:prstGeom prst="rect">
            <a:avLst/>
          </a:prstGeom>
          <a:noFill/>
          <a:ln/>
        </p:spPr>
        <p:txBody>
          <a:bodyPr wrap="square" lIns="0" tIns="0" rIns="0" bIns="0" rtlCol="0" anchor="t"/>
          <a:lstStyle/>
          <a:p>
            <a:pPr rtl="1" algn="r" indent="0" marL="0">
              <a:lnSpc>
                <a:spcPts val="2600"/>
              </a:lnSpc>
              <a:buNone/>
            </a:pPr>
            <a:r>
              <a:rPr lang="en-US" sz="1550" dirty="0">
                <a:solidFill>
                  <a:srgbClr val="0D2136"/>
                </a:solidFill>
                <a:latin typeface="Arial" pitchFamily="34" charset="0"/>
                <a:ea typeface="Arial" pitchFamily="34" charset="-122"/>
                <a:cs typeface="Arial" pitchFamily="34" charset="-120"/>
              </a:rPr>
              <a:t>الدفتر يقول إن Manama Packaging Co. مستحق له 81.300، بينما تحتفظ Highbase بـ 81.000 من نقده. دفعة التسوية تُفرج عن النقد، وتعلن العجز، وترفض إتمام الدفعة — لا تكتفي بالتحذير ثم المضي.</a:t>
            </a:r>
            <a:endParaRPr lang="en-US" sz="1550" dirty="0"/>
          </a:p>
        </p:txBody>
      </p:sp>
      <p:sp>
        <p:nvSpPr>
          <p:cNvPr id="6" name="Shape 4"/>
          <p:cNvSpPr/>
          <p:nvPr/>
        </p:nvSpPr>
        <p:spPr>
          <a:xfrm>
            <a:off x="5589727" y="3246120"/>
            <a:ext cx="6035040" cy="1417320"/>
          </a:xfrm>
          <a:prstGeom prst="roundRect">
            <a:avLst>
              <a:gd name="adj" fmla="val 5806"/>
            </a:avLst>
          </a:prstGeom>
          <a:solidFill>
            <a:srgbClr val="FFF5E6"/>
          </a:solidFill>
          <a:ln w="12700">
            <a:solidFill>
              <a:srgbClr val="F6E1BF"/>
            </a:solidFill>
            <a:prstDash val="solid"/>
          </a:ln>
          <a:effectLst>
            <a:outerShdw sx="100000" sy="100000" kx="0" ky="0" algn="bl" rotWithShape="0" blurRad="127000" dist="25400" dir="5400000">
              <a:srgbClr val="021A37">
                <a:alpha val="7000"/>
              </a:srgbClr>
            </a:outerShdw>
          </a:effectLst>
        </p:spPr>
      </p:sp>
      <p:sp>
        <p:nvSpPr>
          <p:cNvPr id="7" name="Text 5"/>
          <p:cNvSpPr txBox="1"/>
          <p:nvPr/>
        </p:nvSpPr>
        <p:spPr>
          <a:xfrm>
            <a:off x="5882335" y="3364992"/>
            <a:ext cx="5449824" cy="1188720"/>
          </a:xfrm>
          <a:prstGeom prst="rect">
            <a:avLst/>
          </a:prstGeom>
          <a:noFill/>
          <a:ln/>
        </p:spPr>
        <p:txBody>
          <a:bodyPr wrap="square" lIns="0" tIns="0" rIns="0" bIns="0" rtlCol="0" anchor="ctr"/>
          <a:lstStyle/>
          <a:p>
            <a:pPr rtl="1" algn="r" indent="0" marL="0">
              <a:lnSpc>
                <a:spcPts val="1900"/>
              </a:lnSpc>
              <a:buNone/>
            </a:pPr>
            <a:r>
              <a:rPr lang="en-US" sz="1300" dirty="0">
                <a:solidFill>
                  <a:srgbClr val="A35C00"/>
                </a:solidFill>
                <a:latin typeface="Arial" pitchFamily="34" charset="0"/>
                <a:ea typeface="Arial" pitchFamily="34" charset="-122"/>
                <a:cs typeface="Arial" pitchFamily="34" charset="-120"/>
              </a:rPr>
              <a:t>أما موقف Highbase نفسها على ذلك الطلب: 2.700 عمولة مكتسبة مقابل 9.000 خصم مموَّل — أي −6.300 على طلب واحد. هذا قرار تجاري، ومن حقه أن يظهر بوصفه كذلك.</a:t>
            </a:r>
            <a:endParaRPr lang="en-US" sz="1300" dirty="0"/>
          </a:p>
        </p:txBody>
      </p:sp>
      <p:sp>
        <p:nvSpPr>
          <p:cNvPr id="8" name="Shape 6"/>
          <p:cNvSpPr/>
          <p:nvPr/>
        </p:nvSpPr>
        <p:spPr>
          <a:xfrm>
            <a:off x="560527" y="1371600"/>
            <a:ext cx="4663440" cy="3291840"/>
          </a:xfrm>
          <a:prstGeom prst="roundRect">
            <a:avLst>
              <a:gd name="adj" fmla="val 2500"/>
            </a:avLst>
          </a:prstGeom>
          <a:solidFill>
            <a:srgbClr val="F7FAFD"/>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9" name="Text 7"/>
          <p:cNvSpPr txBox="1"/>
          <p:nvPr/>
        </p:nvSpPr>
        <p:spPr>
          <a:xfrm>
            <a:off x="2453335" y="1664208"/>
            <a:ext cx="2468880" cy="457200"/>
          </a:xfrm>
          <a:prstGeom prst="rect">
            <a:avLst/>
          </a:prstGeom>
          <a:noFill/>
          <a:ln/>
        </p:spPr>
        <p:txBody>
          <a:bodyPr wrap="square" lIns="0" tIns="0" rIns="0" bIns="0" rtlCol="0" anchor="ctr"/>
          <a:lstStyle/>
          <a:p>
            <a:pPr rtl="1" algn="r" indent="0" marL="0">
              <a:buNone/>
            </a:pPr>
            <a:r>
              <a:rPr lang="en-US" sz="1350" dirty="0">
                <a:solidFill>
                  <a:srgbClr val="5B7080"/>
                </a:solidFill>
                <a:latin typeface="Arial" pitchFamily="34" charset="0"/>
                <a:ea typeface="Arial" pitchFamily="34" charset="-122"/>
                <a:cs typeface="Arial" pitchFamily="34" charset="-120"/>
              </a:rPr>
              <a:t>ما يطلبه الدفتر</a:t>
            </a:r>
            <a:endParaRPr lang="en-US" sz="1350" dirty="0"/>
          </a:p>
        </p:txBody>
      </p:sp>
      <p:sp>
        <p:nvSpPr>
          <p:cNvPr id="10" name="Text 8"/>
          <p:cNvSpPr txBox="1"/>
          <p:nvPr/>
        </p:nvSpPr>
        <p:spPr>
          <a:xfrm>
            <a:off x="853135" y="1664208"/>
            <a:ext cx="1600200" cy="457200"/>
          </a:xfrm>
          <a:prstGeom prst="rect">
            <a:avLst/>
          </a:prstGeom>
          <a:noFill/>
          <a:ln/>
        </p:spPr>
        <p:txBody>
          <a:bodyPr wrap="square" lIns="0" tIns="0" rIns="0" bIns="0" rtlCol="0" anchor="ctr"/>
          <a:lstStyle/>
          <a:p>
            <a:pPr rtl="1" algn="l" indent="0" marL="0">
              <a:buNone/>
            </a:pPr>
            <a:r>
              <a:rPr lang="en-US" sz="1900" b="1" dirty="0">
                <a:solidFill>
                  <a:srgbClr val="021A37"/>
                </a:solidFill>
                <a:latin typeface="Arial" pitchFamily="34" charset="0"/>
                <a:ea typeface="Arial" pitchFamily="34" charset="-122"/>
                <a:cs typeface="Arial" pitchFamily="34" charset="-120"/>
              </a:rPr>
              <a:t>81.300</a:t>
            </a:r>
            <a:endParaRPr lang="en-US" sz="1900" dirty="0"/>
          </a:p>
        </p:txBody>
      </p:sp>
      <p:sp>
        <p:nvSpPr>
          <p:cNvPr id="11" name="Text 9"/>
          <p:cNvSpPr txBox="1"/>
          <p:nvPr/>
        </p:nvSpPr>
        <p:spPr>
          <a:xfrm>
            <a:off x="2453335" y="2377440"/>
            <a:ext cx="2468880" cy="457200"/>
          </a:xfrm>
          <a:prstGeom prst="rect">
            <a:avLst/>
          </a:prstGeom>
          <a:noFill/>
          <a:ln/>
        </p:spPr>
        <p:txBody>
          <a:bodyPr wrap="square" lIns="0" tIns="0" rIns="0" bIns="0" rtlCol="0" anchor="ctr"/>
          <a:lstStyle/>
          <a:p>
            <a:pPr rtl="1" algn="r" indent="0" marL="0">
              <a:buNone/>
            </a:pPr>
            <a:r>
              <a:rPr lang="en-US" sz="1350" dirty="0">
                <a:solidFill>
                  <a:srgbClr val="5B7080"/>
                </a:solidFill>
                <a:latin typeface="Arial" pitchFamily="34" charset="0"/>
                <a:ea typeface="Arial" pitchFamily="34" charset="-122"/>
                <a:cs typeface="Arial" pitchFamily="34" charset="-120"/>
              </a:rPr>
              <a:t>النقد المحتفظ به فعلياً</a:t>
            </a:r>
            <a:endParaRPr lang="en-US" sz="1350" dirty="0"/>
          </a:p>
        </p:txBody>
      </p:sp>
      <p:sp>
        <p:nvSpPr>
          <p:cNvPr id="12" name="Text 10"/>
          <p:cNvSpPr txBox="1"/>
          <p:nvPr/>
        </p:nvSpPr>
        <p:spPr>
          <a:xfrm>
            <a:off x="853135" y="2377440"/>
            <a:ext cx="1600200" cy="457200"/>
          </a:xfrm>
          <a:prstGeom prst="rect">
            <a:avLst/>
          </a:prstGeom>
          <a:noFill/>
          <a:ln/>
        </p:spPr>
        <p:txBody>
          <a:bodyPr wrap="square" lIns="0" tIns="0" rIns="0" bIns="0" rtlCol="0" anchor="ctr"/>
          <a:lstStyle/>
          <a:p>
            <a:pPr rtl="1" algn="l" indent="0" marL="0">
              <a:buNone/>
            </a:pPr>
            <a:r>
              <a:rPr lang="en-US" sz="1900" b="1" dirty="0">
                <a:solidFill>
                  <a:srgbClr val="021A37"/>
                </a:solidFill>
                <a:latin typeface="Arial" pitchFamily="34" charset="0"/>
                <a:ea typeface="Arial" pitchFamily="34" charset="-122"/>
                <a:cs typeface="Arial" pitchFamily="34" charset="-120"/>
              </a:rPr>
              <a:t>81.000</a:t>
            </a:r>
            <a:endParaRPr lang="en-US" sz="1900" dirty="0"/>
          </a:p>
        </p:txBody>
      </p:sp>
      <p:sp>
        <p:nvSpPr>
          <p:cNvPr id="13" name="Shape 11"/>
          <p:cNvSpPr/>
          <p:nvPr/>
        </p:nvSpPr>
        <p:spPr>
          <a:xfrm>
            <a:off x="853135" y="2907792"/>
            <a:ext cx="4069080" cy="13716"/>
          </a:xfrm>
          <a:prstGeom prst="rect">
            <a:avLst/>
          </a:prstGeom>
          <a:solidFill>
            <a:srgbClr val="E6EDF3"/>
          </a:solidFill>
          <a:ln/>
        </p:spPr>
      </p:sp>
      <p:sp>
        <p:nvSpPr>
          <p:cNvPr id="14" name="Text 12"/>
          <p:cNvSpPr txBox="1"/>
          <p:nvPr/>
        </p:nvSpPr>
        <p:spPr>
          <a:xfrm>
            <a:off x="2453335" y="3090672"/>
            <a:ext cx="2468880" cy="457200"/>
          </a:xfrm>
          <a:prstGeom prst="rect">
            <a:avLst/>
          </a:prstGeom>
          <a:noFill/>
          <a:ln/>
        </p:spPr>
        <p:txBody>
          <a:bodyPr wrap="square" lIns="0" tIns="0" rIns="0" bIns="0" rtlCol="0" anchor="ctr"/>
          <a:lstStyle/>
          <a:p>
            <a:pPr rtl="1" algn="r" indent="0" marL="0">
              <a:buNone/>
            </a:pPr>
            <a:r>
              <a:rPr lang="en-US" sz="1350" b="1" dirty="0">
                <a:solidFill>
                  <a:srgbClr val="021A37"/>
                </a:solidFill>
                <a:latin typeface="Arial" pitchFamily="34" charset="0"/>
                <a:ea typeface="Arial" pitchFamily="34" charset="-122"/>
                <a:cs typeface="Arial" pitchFamily="34" charset="-120"/>
              </a:rPr>
              <a:t>المُفرج عنه</a:t>
            </a:r>
            <a:endParaRPr lang="en-US" sz="1350" dirty="0"/>
          </a:p>
        </p:txBody>
      </p:sp>
      <p:sp>
        <p:nvSpPr>
          <p:cNvPr id="15" name="Text 13"/>
          <p:cNvSpPr txBox="1"/>
          <p:nvPr/>
        </p:nvSpPr>
        <p:spPr>
          <a:xfrm>
            <a:off x="853135" y="3090672"/>
            <a:ext cx="1600200" cy="457200"/>
          </a:xfrm>
          <a:prstGeom prst="rect">
            <a:avLst/>
          </a:prstGeom>
          <a:noFill/>
          <a:ln/>
        </p:spPr>
        <p:txBody>
          <a:bodyPr wrap="square" lIns="0" tIns="0" rIns="0" bIns="0" rtlCol="0" anchor="ctr"/>
          <a:lstStyle/>
          <a:p>
            <a:pPr rtl="1" algn="l" indent="0" marL="0">
              <a:buNone/>
            </a:pPr>
            <a:r>
              <a:rPr lang="en-US" sz="1900" b="1" dirty="0">
                <a:solidFill>
                  <a:srgbClr val="1F9D55"/>
                </a:solidFill>
                <a:latin typeface="Arial" pitchFamily="34" charset="0"/>
                <a:ea typeface="Arial" pitchFamily="34" charset="-122"/>
                <a:cs typeface="Arial" pitchFamily="34" charset="-120"/>
              </a:rPr>
              <a:t>81.000</a:t>
            </a:r>
            <a:endParaRPr lang="en-US" sz="1900" dirty="0"/>
          </a:p>
        </p:txBody>
      </p:sp>
      <p:sp>
        <p:nvSpPr>
          <p:cNvPr id="16" name="Text 14"/>
          <p:cNvSpPr txBox="1"/>
          <p:nvPr/>
        </p:nvSpPr>
        <p:spPr>
          <a:xfrm>
            <a:off x="2453335" y="3803904"/>
            <a:ext cx="2468880" cy="457200"/>
          </a:xfrm>
          <a:prstGeom prst="rect">
            <a:avLst/>
          </a:prstGeom>
          <a:noFill/>
          <a:ln/>
        </p:spPr>
        <p:txBody>
          <a:bodyPr wrap="square" lIns="0" tIns="0" rIns="0" bIns="0" rtlCol="0" anchor="ctr"/>
          <a:lstStyle/>
          <a:p>
            <a:pPr rtl="1" algn="r" indent="0" marL="0">
              <a:buNone/>
            </a:pPr>
            <a:r>
              <a:rPr lang="en-US" sz="1350" b="1" dirty="0">
                <a:solidFill>
                  <a:srgbClr val="021A37"/>
                </a:solidFill>
                <a:latin typeface="Arial" pitchFamily="34" charset="0"/>
                <a:ea typeface="Arial" pitchFamily="34" charset="-122"/>
                <a:cs typeface="Arial" pitchFamily="34" charset="-120"/>
              </a:rPr>
              <a:t>العجز المعلن</a:t>
            </a:r>
            <a:endParaRPr lang="en-US" sz="1350" dirty="0"/>
          </a:p>
        </p:txBody>
      </p:sp>
      <p:sp>
        <p:nvSpPr>
          <p:cNvPr id="17" name="Text 15"/>
          <p:cNvSpPr txBox="1"/>
          <p:nvPr/>
        </p:nvSpPr>
        <p:spPr>
          <a:xfrm>
            <a:off x="853135" y="3803904"/>
            <a:ext cx="1600200" cy="457200"/>
          </a:xfrm>
          <a:prstGeom prst="rect">
            <a:avLst/>
          </a:prstGeom>
          <a:noFill/>
          <a:ln/>
        </p:spPr>
        <p:txBody>
          <a:bodyPr wrap="square" lIns="0" tIns="0" rIns="0" bIns="0" rtlCol="0" anchor="ctr"/>
          <a:lstStyle/>
          <a:p>
            <a:pPr rtl="1" algn="l" indent="0" marL="0">
              <a:buNone/>
            </a:pPr>
            <a:r>
              <a:rPr lang="en-US" sz="1900" b="1" dirty="0">
                <a:solidFill>
                  <a:srgbClr val="D0402A"/>
                </a:solidFill>
                <a:latin typeface="Arial" pitchFamily="34" charset="0"/>
                <a:ea typeface="Arial" pitchFamily="34" charset="-122"/>
                <a:cs typeface="Arial" pitchFamily="34" charset="-120"/>
              </a:rPr>
              <a:t>0.300</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11204143" y="475488"/>
            <a:ext cx="420624" cy="420624"/>
          </a:xfrm>
          <a:prstGeom prst="ellipse">
            <a:avLst/>
          </a:prstGeom>
          <a:solidFill>
            <a:srgbClr val="021A37"/>
          </a:solidFill>
          <a:ln/>
        </p:spPr>
      </p:sp>
      <p:sp>
        <p:nvSpPr>
          <p:cNvPr id="3" name="Text 1"/>
          <p:cNvSpPr txBox="1"/>
          <p:nvPr/>
        </p:nvSpPr>
        <p:spPr>
          <a:xfrm>
            <a:off x="11204143" y="475488"/>
            <a:ext cx="420624" cy="420624"/>
          </a:xfrm>
          <a:prstGeom prst="rect">
            <a:avLst/>
          </a:prstGeom>
          <a:noFill/>
          <a:ln/>
        </p:spPr>
        <p:txBody>
          <a:bodyPr wrap="square" lIns="0" tIns="0" rIns="0" bIns="0" rtlCol="0" anchor="ctr"/>
          <a:lstStyle/>
          <a:p>
            <a:pPr rtl="1" algn="ctr" indent="0" marL="0">
              <a:buNone/>
            </a:pPr>
            <a:r>
              <a:rPr lang="en-US" sz="1300" b="1" dirty="0">
                <a:solidFill>
                  <a:srgbClr val="FFFFFF"/>
                </a:solidFill>
                <a:latin typeface="Arial" pitchFamily="34" charset="0"/>
                <a:ea typeface="Arial" pitchFamily="34" charset="-122"/>
                <a:cs typeface="Arial" pitchFamily="34" charset="-120"/>
              </a:rPr>
              <a:t>07</a:t>
            </a:r>
            <a:endParaRPr lang="en-US" sz="1300" dirty="0"/>
          </a:p>
        </p:txBody>
      </p:sp>
      <p:sp>
        <p:nvSpPr>
          <p:cNvPr id="4" name="Text 2"/>
          <p:cNvSpPr txBox="1"/>
          <p:nvPr/>
        </p:nvSpPr>
        <p:spPr>
          <a:xfrm>
            <a:off x="597103" y="347472"/>
            <a:ext cx="10424160" cy="868680"/>
          </a:xfrm>
          <a:prstGeom prst="rect">
            <a:avLst/>
          </a:prstGeom>
          <a:noFill/>
          <a:ln/>
        </p:spPr>
        <p:txBody>
          <a:bodyPr wrap="square" lIns="0" tIns="0" rIns="0" bIns="0" rtlCol="0" anchor="ctr"/>
          <a:lstStyle/>
          <a:p>
            <a:pPr rtl="1" algn="r" indent="0" marL="0">
              <a:buNone/>
            </a:pPr>
            <a:r>
              <a:rPr lang="en-US" sz="2800" b="1" dirty="0">
                <a:solidFill>
                  <a:srgbClr val="021A37"/>
                </a:solidFill>
                <a:latin typeface="Arial" pitchFamily="34" charset="0"/>
                <a:ea typeface="Arial" pitchFamily="34" charset="-122"/>
                <a:cs typeface="Arial" pitchFamily="34" charset="-120"/>
              </a:rPr>
              <a:t>الحالة التي وُجد النموذج كله من أجلها</a:t>
            </a:r>
            <a:endParaRPr lang="en-US" sz="2800" dirty="0"/>
          </a:p>
        </p:txBody>
      </p:sp>
      <p:sp>
        <p:nvSpPr>
          <p:cNvPr id="5" name="Text 3"/>
          <p:cNvSpPr txBox="1"/>
          <p:nvPr/>
        </p:nvSpPr>
        <p:spPr>
          <a:xfrm>
            <a:off x="597103" y="1371600"/>
            <a:ext cx="10972800" cy="384048"/>
          </a:xfrm>
          <a:prstGeom prst="rect">
            <a:avLst/>
          </a:prstGeom>
          <a:noFill/>
          <a:ln/>
        </p:spPr>
        <p:txBody>
          <a:bodyPr wrap="square" lIns="0" tIns="0" rIns="0" bIns="0" rtlCol="0" anchor="ctr"/>
          <a:lstStyle/>
          <a:p>
            <a:pPr rtl="1" algn="r" indent="0" marL="0">
              <a:buNone/>
            </a:pPr>
            <a:r>
              <a:rPr lang="en-US" sz="2000" b="1" dirty="0">
                <a:solidFill>
                  <a:srgbClr val="D0402A"/>
                </a:solidFill>
                <a:latin typeface="Arial" pitchFamily="34" charset="0"/>
                <a:ea typeface="Arial" pitchFamily="34" charset="-122"/>
                <a:cs typeface="Arial" pitchFamily="34" charset="-120"/>
              </a:rPr>
              <a:t>Riffa Building Materials</a:t>
            </a:r>
            <a:endParaRPr lang="en-US" sz="2000" dirty="0"/>
          </a:p>
        </p:txBody>
      </p:sp>
      <p:sp>
        <p:nvSpPr>
          <p:cNvPr id="6" name="Shape 4"/>
          <p:cNvSpPr/>
          <p:nvPr/>
        </p:nvSpPr>
        <p:spPr>
          <a:xfrm>
            <a:off x="8095183" y="1847088"/>
            <a:ext cx="3529584" cy="1481328"/>
          </a:xfrm>
          <a:prstGeom prst="roundRect">
            <a:avLst>
              <a:gd name="adj" fmla="val 5556"/>
            </a:avLst>
          </a:prstGeom>
          <a:solidFill>
            <a:srgbClr val="FFFFFF"/>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7" name="Text 5"/>
          <p:cNvSpPr txBox="1"/>
          <p:nvPr/>
        </p:nvSpPr>
        <p:spPr>
          <a:xfrm>
            <a:off x="8278063" y="2029968"/>
            <a:ext cx="3163824" cy="685800"/>
          </a:xfrm>
          <a:prstGeom prst="rect">
            <a:avLst/>
          </a:prstGeom>
          <a:noFill/>
          <a:ln/>
        </p:spPr>
        <p:txBody>
          <a:bodyPr wrap="square" lIns="0" tIns="0" rIns="0" bIns="0" rtlCol="0" anchor="ctr"/>
          <a:lstStyle/>
          <a:p>
            <a:pPr rtl="1" algn="ctr" indent="0" marL="0">
              <a:buNone/>
            </a:pPr>
            <a:r>
              <a:rPr lang="en-US" sz="3800" b="1" dirty="0">
                <a:solidFill>
                  <a:srgbClr val="021A37"/>
                </a:solidFill>
                <a:latin typeface="Arial" pitchFamily="34" charset="0"/>
                <a:ea typeface="Arial" pitchFamily="34" charset="-122"/>
                <a:cs typeface="Arial" pitchFamily="34" charset="-120"/>
              </a:rPr>
              <a:t>159.000</a:t>
            </a:r>
            <a:endParaRPr lang="en-US" sz="3800" dirty="0"/>
          </a:p>
        </p:txBody>
      </p:sp>
      <p:sp>
        <p:nvSpPr>
          <p:cNvPr id="8" name="Text 6"/>
          <p:cNvSpPr txBox="1"/>
          <p:nvPr/>
        </p:nvSpPr>
        <p:spPr>
          <a:xfrm>
            <a:off x="8278063" y="2743200"/>
            <a:ext cx="3163824" cy="365760"/>
          </a:xfrm>
          <a:prstGeom prst="rect">
            <a:avLst/>
          </a:prstGeom>
          <a:noFill/>
          <a:ln/>
        </p:spPr>
        <p:txBody>
          <a:bodyPr wrap="square" lIns="0" tIns="0" rIns="0" bIns="0" rtlCol="0" anchor="ctr"/>
          <a:lstStyle/>
          <a:p>
            <a:pPr rtl="1" algn="ctr" indent="0" marL="0">
              <a:buNone/>
            </a:pPr>
            <a:r>
              <a:rPr lang="en-US" sz="1300" dirty="0">
                <a:solidFill>
                  <a:srgbClr val="5B7080"/>
                </a:solidFill>
                <a:latin typeface="Arial" pitchFamily="34" charset="0"/>
                <a:ea typeface="Arial" pitchFamily="34" charset="-122"/>
                <a:cs typeface="Arial" pitchFamily="34" charset="-120"/>
              </a:rPr>
              <a:t>عمولة مكتسبة</a:t>
            </a:r>
            <a:endParaRPr lang="en-US" sz="1300" dirty="0"/>
          </a:p>
        </p:txBody>
      </p:sp>
      <p:sp>
        <p:nvSpPr>
          <p:cNvPr id="9" name="Shape 7"/>
          <p:cNvSpPr/>
          <p:nvPr/>
        </p:nvSpPr>
        <p:spPr>
          <a:xfrm>
            <a:off x="4419295" y="1847088"/>
            <a:ext cx="3529584" cy="1481328"/>
          </a:xfrm>
          <a:prstGeom prst="roundRect">
            <a:avLst>
              <a:gd name="adj" fmla="val 5556"/>
            </a:avLst>
          </a:prstGeom>
          <a:solidFill>
            <a:srgbClr val="FEEEE9"/>
          </a:solidFill>
          <a:ln w="12700">
            <a:solidFill>
              <a:srgbClr val="F6D5CD"/>
            </a:solidFill>
            <a:prstDash val="solid"/>
          </a:ln>
          <a:effectLst>
            <a:outerShdw sx="100000" sy="100000" kx="0" ky="0" algn="bl" rotWithShape="0" blurRad="127000" dist="25400" dir="5400000">
              <a:srgbClr val="021A37">
                <a:alpha val="7000"/>
              </a:srgbClr>
            </a:outerShdw>
          </a:effectLst>
        </p:spPr>
      </p:sp>
      <p:sp>
        <p:nvSpPr>
          <p:cNvPr id="10" name="Text 8"/>
          <p:cNvSpPr txBox="1"/>
          <p:nvPr/>
        </p:nvSpPr>
        <p:spPr>
          <a:xfrm>
            <a:off x="4602175" y="2029968"/>
            <a:ext cx="3163824" cy="685800"/>
          </a:xfrm>
          <a:prstGeom prst="rect">
            <a:avLst/>
          </a:prstGeom>
          <a:noFill/>
          <a:ln/>
        </p:spPr>
        <p:txBody>
          <a:bodyPr wrap="square" lIns="0" tIns="0" rIns="0" bIns="0" rtlCol="0" anchor="ctr"/>
          <a:lstStyle/>
          <a:p>
            <a:pPr rtl="1" algn="ctr" indent="0" marL="0">
              <a:buNone/>
            </a:pPr>
            <a:r>
              <a:rPr lang="en-US" sz="3800" b="1" dirty="0">
                <a:solidFill>
                  <a:srgbClr val="D0402A"/>
                </a:solidFill>
                <a:latin typeface="Arial" pitchFamily="34" charset="0"/>
                <a:ea typeface="Arial" pitchFamily="34" charset="-122"/>
                <a:cs typeface="Arial" pitchFamily="34" charset="-120"/>
              </a:rPr>
              <a:t>0.000</a:t>
            </a:r>
            <a:endParaRPr lang="en-US" sz="3800" dirty="0"/>
          </a:p>
        </p:txBody>
      </p:sp>
      <p:sp>
        <p:nvSpPr>
          <p:cNvPr id="11" name="Text 9"/>
          <p:cNvSpPr txBox="1"/>
          <p:nvPr/>
        </p:nvSpPr>
        <p:spPr>
          <a:xfrm>
            <a:off x="4602175" y="2743200"/>
            <a:ext cx="3163824" cy="365760"/>
          </a:xfrm>
          <a:prstGeom prst="rect">
            <a:avLst/>
          </a:prstGeom>
          <a:noFill/>
          <a:ln/>
        </p:spPr>
        <p:txBody>
          <a:bodyPr wrap="square" lIns="0" tIns="0" rIns="0" bIns="0" rtlCol="0" anchor="ctr"/>
          <a:lstStyle/>
          <a:p>
            <a:pPr rtl="1" algn="ctr" indent="0" marL="0">
              <a:buNone/>
            </a:pPr>
            <a:r>
              <a:rPr lang="en-US" sz="1300" dirty="0">
                <a:solidFill>
                  <a:srgbClr val="5B7080"/>
                </a:solidFill>
                <a:latin typeface="Arial" pitchFamily="34" charset="0"/>
                <a:ea typeface="Arial" pitchFamily="34" charset="-122"/>
                <a:cs typeface="Arial" pitchFamily="34" charset="-120"/>
              </a:rPr>
              <a:t>من نقده محتفظ به</a:t>
            </a:r>
            <a:endParaRPr lang="en-US" sz="1300" dirty="0"/>
          </a:p>
        </p:txBody>
      </p:sp>
      <p:sp>
        <p:nvSpPr>
          <p:cNvPr id="12" name="Shape 10"/>
          <p:cNvSpPr/>
          <p:nvPr/>
        </p:nvSpPr>
        <p:spPr>
          <a:xfrm>
            <a:off x="743407" y="1847088"/>
            <a:ext cx="3529584" cy="1481328"/>
          </a:xfrm>
          <a:prstGeom prst="roundRect">
            <a:avLst>
              <a:gd name="adj" fmla="val 5556"/>
            </a:avLst>
          </a:prstGeom>
          <a:solidFill>
            <a:srgbClr val="FFFFFF"/>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13" name="Text 11"/>
          <p:cNvSpPr txBox="1"/>
          <p:nvPr/>
        </p:nvSpPr>
        <p:spPr>
          <a:xfrm>
            <a:off x="926287" y="2029968"/>
            <a:ext cx="3163824" cy="685800"/>
          </a:xfrm>
          <a:prstGeom prst="rect">
            <a:avLst/>
          </a:prstGeom>
          <a:noFill/>
          <a:ln/>
        </p:spPr>
        <p:txBody>
          <a:bodyPr wrap="square" lIns="0" tIns="0" rIns="0" bIns="0" rtlCol="0" anchor="ctr"/>
          <a:lstStyle/>
          <a:p>
            <a:pPr rtl="1" algn="ctr" indent="0" marL="0">
              <a:buNone/>
            </a:pPr>
            <a:r>
              <a:rPr lang="en-US" sz="3800" b="1" dirty="0">
                <a:solidFill>
                  <a:srgbClr val="021A37"/>
                </a:solidFill>
                <a:latin typeface="Arial" pitchFamily="34" charset="0"/>
                <a:ea typeface="Arial" pitchFamily="34" charset="-122"/>
                <a:cs typeface="Arial" pitchFamily="34" charset="-120"/>
              </a:rPr>
              <a:t>‎1.06×</a:t>
            </a:r>
            <a:endParaRPr lang="en-US" sz="3800" dirty="0"/>
          </a:p>
        </p:txBody>
      </p:sp>
      <p:sp>
        <p:nvSpPr>
          <p:cNvPr id="14" name="Text 12"/>
          <p:cNvSpPr txBox="1"/>
          <p:nvPr/>
        </p:nvSpPr>
        <p:spPr>
          <a:xfrm>
            <a:off x="926287" y="2743200"/>
            <a:ext cx="3163824" cy="365760"/>
          </a:xfrm>
          <a:prstGeom prst="rect">
            <a:avLst/>
          </a:prstGeom>
          <a:noFill/>
          <a:ln/>
        </p:spPr>
        <p:txBody>
          <a:bodyPr wrap="square" lIns="0" tIns="0" rIns="0" bIns="0" rtlCol="0" anchor="ctr"/>
          <a:lstStyle/>
          <a:p>
            <a:pPr rtl="1" algn="ctr" indent="0" marL="0">
              <a:buNone/>
            </a:pPr>
            <a:r>
              <a:rPr lang="en-US" sz="1300" dirty="0">
                <a:solidFill>
                  <a:srgbClr val="5B7080"/>
                </a:solidFill>
                <a:latin typeface="Arial" pitchFamily="34" charset="0"/>
                <a:ea typeface="Arial" pitchFamily="34" charset="-122"/>
                <a:cs typeface="Arial" pitchFamily="34" charset="-120"/>
              </a:rPr>
              <a:t>من سقف المتأخرات</a:t>
            </a:r>
            <a:endParaRPr lang="en-US" sz="1300" dirty="0"/>
          </a:p>
        </p:txBody>
      </p:sp>
      <p:sp>
        <p:nvSpPr>
          <p:cNvPr id="15" name="Text 13"/>
          <p:cNvSpPr txBox="1"/>
          <p:nvPr/>
        </p:nvSpPr>
        <p:spPr>
          <a:xfrm>
            <a:off x="597103" y="3584448"/>
            <a:ext cx="10972800" cy="1005840"/>
          </a:xfrm>
          <a:prstGeom prst="rect">
            <a:avLst/>
          </a:prstGeom>
          <a:noFill/>
          <a:ln/>
        </p:spPr>
        <p:txBody>
          <a:bodyPr wrap="square" lIns="0" tIns="0" rIns="0" bIns="0" rtlCol="0" anchor="ctr"/>
          <a:lstStyle/>
          <a:p>
            <a:pPr rtl="1" algn="r" indent="0" marL="0">
              <a:lnSpc>
                <a:spcPts val="2700"/>
              </a:lnSpc>
              <a:buNone/>
            </a:pPr>
            <a:r>
              <a:rPr lang="en-US" sz="1600" dirty="0">
                <a:solidFill>
                  <a:srgbClr val="0D2136"/>
                </a:solidFill>
                <a:latin typeface="Arial" pitchFamily="34" charset="0"/>
                <a:ea typeface="Arial" pitchFamily="34" charset="-122"/>
                <a:cs typeface="Arial" pitchFamily="34" charset="-120"/>
              </a:rPr>
              <a:t>كل طلباته حصّلها البائع مباشرة. كسبت Highbase 159.000 ولا تستطيع استرداد أي جزء منها بالمقاصة من دفعة قادمة، لأنها لا تحتفظ بشيء من نقده. التصنيف: الائتمان موقوف.</a:t>
            </a:r>
            <a:endParaRPr lang="en-US" sz="1600" dirty="0"/>
          </a:p>
        </p:txBody>
      </p:sp>
      <p:sp>
        <p:nvSpPr>
          <p:cNvPr id="16" name="Shape 14"/>
          <p:cNvSpPr/>
          <p:nvPr/>
        </p:nvSpPr>
        <p:spPr>
          <a:xfrm>
            <a:off x="560527" y="4736592"/>
            <a:ext cx="11064240" cy="868680"/>
          </a:xfrm>
          <a:prstGeom prst="roundRect">
            <a:avLst>
              <a:gd name="adj" fmla="val 9474"/>
            </a:avLst>
          </a:prstGeom>
          <a:solidFill>
            <a:srgbClr val="021A37"/>
          </a:solidFill>
          <a:ln w="12700">
            <a:solidFill>
              <a:srgbClr val="021A37"/>
            </a:solidFill>
            <a:prstDash val="solid"/>
          </a:ln>
          <a:effectLst>
            <a:outerShdw sx="100000" sy="100000" kx="0" ky="0" algn="bl" rotWithShape="0" blurRad="127000" dist="25400" dir="5400000">
              <a:srgbClr val="021A37">
                <a:alpha val="7000"/>
              </a:srgbClr>
            </a:outerShdw>
          </a:effectLst>
        </p:spPr>
      </p:sp>
      <p:sp>
        <p:nvSpPr>
          <p:cNvPr id="17" name="Text 15"/>
          <p:cNvSpPr txBox="1"/>
          <p:nvPr/>
        </p:nvSpPr>
        <p:spPr>
          <a:xfrm>
            <a:off x="898855" y="4818888"/>
            <a:ext cx="10378440" cy="713232"/>
          </a:xfrm>
          <a:prstGeom prst="rect">
            <a:avLst/>
          </a:prstGeom>
          <a:noFill/>
          <a:ln/>
        </p:spPr>
        <p:txBody>
          <a:bodyPr wrap="square" lIns="0" tIns="0" rIns="0" bIns="0" rtlCol="0" anchor="ctr"/>
          <a:lstStyle/>
          <a:p>
            <a:pPr rtl="1" algn="r" indent="0" marL="0">
              <a:buNone/>
            </a:pPr>
            <a:r>
              <a:rPr lang="en-US" sz="1450" dirty="0">
                <a:solidFill>
                  <a:srgbClr val="FFFFFF"/>
                </a:solidFill>
                <a:latin typeface="Arial" pitchFamily="34" charset="0"/>
                <a:ea typeface="Arial" pitchFamily="34" charset="-122"/>
                <a:cs typeface="Arial" pitchFamily="34" charset="-120"/>
              </a:rPr>
              <a:t>على مستوى البيانات الأساسية: 188.550 من العمولة غير مضمونة، وثلاثة بائعين من أربعة تحت المراقبة أو أسوأ.</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11204143" y="475488"/>
            <a:ext cx="420624" cy="420624"/>
          </a:xfrm>
          <a:prstGeom prst="ellipse">
            <a:avLst/>
          </a:prstGeom>
          <a:solidFill>
            <a:srgbClr val="021A37"/>
          </a:solidFill>
          <a:ln/>
        </p:spPr>
      </p:sp>
      <p:sp>
        <p:nvSpPr>
          <p:cNvPr id="3" name="Text 1"/>
          <p:cNvSpPr txBox="1"/>
          <p:nvPr/>
        </p:nvSpPr>
        <p:spPr>
          <a:xfrm>
            <a:off x="11204143" y="475488"/>
            <a:ext cx="420624" cy="420624"/>
          </a:xfrm>
          <a:prstGeom prst="rect">
            <a:avLst/>
          </a:prstGeom>
          <a:noFill/>
          <a:ln/>
        </p:spPr>
        <p:txBody>
          <a:bodyPr wrap="square" lIns="0" tIns="0" rIns="0" bIns="0" rtlCol="0" anchor="ctr"/>
          <a:lstStyle/>
          <a:p>
            <a:pPr rtl="1" algn="ctr" indent="0" marL="0">
              <a:buNone/>
            </a:pPr>
            <a:r>
              <a:rPr lang="en-US" sz="1300" b="1" dirty="0">
                <a:solidFill>
                  <a:srgbClr val="FFFFFF"/>
                </a:solidFill>
                <a:latin typeface="Arial" pitchFamily="34" charset="0"/>
                <a:ea typeface="Arial" pitchFamily="34" charset="-122"/>
                <a:cs typeface="Arial" pitchFamily="34" charset="-120"/>
              </a:rPr>
              <a:t>08</a:t>
            </a:r>
            <a:endParaRPr lang="en-US" sz="1300" dirty="0"/>
          </a:p>
        </p:txBody>
      </p:sp>
      <p:sp>
        <p:nvSpPr>
          <p:cNvPr id="4" name="Text 2"/>
          <p:cNvSpPr txBox="1"/>
          <p:nvPr/>
        </p:nvSpPr>
        <p:spPr>
          <a:xfrm>
            <a:off x="597103" y="347472"/>
            <a:ext cx="10424160" cy="868680"/>
          </a:xfrm>
          <a:prstGeom prst="rect">
            <a:avLst/>
          </a:prstGeom>
          <a:noFill/>
          <a:ln/>
        </p:spPr>
        <p:txBody>
          <a:bodyPr wrap="square" lIns="0" tIns="0" rIns="0" bIns="0" rtlCol="0" anchor="ctr"/>
          <a:lstStyle/>
          <a:p>
            <a:pPr rtl="1" algn="r" indent="0" marL="0">
              <a:buNone/>
            </a:pPr>
            <a:r>
              <a:rPr lang="en-US" sz="2800" b="1" dirty="0">
                <a:solidFill>
                  <a:srgbClr val="021A37"/>
                </a:solidFill>
                <a:latin typeface="Arial" pitchFamily="34" charset="0"/>
                <a:ea typeface="Arial" pitchFamily="34" charset="-122"/>
                <a:cs typeface="Arial" pitchFamily="34" charset="-120"/>
              </a:rPr>
              <a:t>التصنيف حالة، لا مبلغ</a:t>
            </a:r>
            <a:endParaRPr lang="en-US" sz="2800" dirty="0"/>
          </a:p>
        </p:txBody>
      </p:sp>
      <p:sp>
        <p:nvSpPr>
          <p:cNvPr id="5" name="Text 3"/>
          <p:cNvSpPr txBox="1"/>
          <p:nvPr/>
        </p:nvSpPr>
        <p:spPr>
          <a:xfrm>
            <a:off x="597103" y="1335024"/>
            <a:ext cx="10972800" cy="548640"/>
          </a:xfrm>
          <a:prstGeom prst="rect">
            <a:avLst/>
          </a:prstGeom>
          <a:noFill/>
          <a:ln/>
        </p:spPr>
        <p:txBody>
          <a:bodyPr wrap="square" lIns="0" tIns="0" rIns="0" bIns="0" rtlCol="0" anchor="ctr"/>
          <a:lstStyle/>
          <a:p>
            <a:pPr rtl="1" algn="r" indent="0" marL="0">
              <a:lnSpc>
                <a:spcPts val="2100"/>
              </a:lnSpc>
              <a:buNone/>
            </a:pPr>
            <a:r>
              <a:rPr lang="en-US" sz="1450" dirty="0">
                <a:solidFill>
                  <a:srgbClr val="5B7080"/>
                </a:solidFill>
                <a:latin typeface="Arial" pitchFamily="34" charset="0"/>
                <a:ea typeface="Arial" pitchFamily="34" charset="-122"/>
                <a:cs typeface="Arial" pitchFamily="34" charset="-120"/>
              </a:rPr>
              <a:t>أربع درجات تنتج عن ثلاثة مدخلات. كل بائع في البيانات الأساسية يتجاوز مدخلاً مختلفاً، ويستطيع البائع أن يرى تماماً ما الذي يرفعه أو يخفضه.</a:t>
            </a:r>
            <a:endParaRPr lang="en-US" sz="1450" dirty="0"/>
          </a:p>
        </p:txBody>
      </p:sp>
      <p:sp>
        <p:nvSpPr>
          <p:cNvPr id="6" name="Shape 4"/>
          <p:cNvSpPr/>
          <p:nvPr/>
        </p:nvSpPr>
        <p:spPr>
          <a:xfrm>
            <a:off x="377647" y="1975104"/>
            <a:ext cx="11247120" cy="457200"/>
          </a:xfrm>
          <a:prstGeom prst="rect">
            <a:avLst/>
          </a:prstGeom>
          <a:solidFill>
            <a:srgbClr val="F4F6F6"/>
          </a:solidFill>
          <a:ln/>
        </p:spPr>
      </p:sp>
      <p:sp>
        <p:nvSpPr>
          <p:cNvPr id="7" name="Text 5"/>
          <p:cNvSpPr txBox="1"/>
          <p:nvPr/>
        </p:nvSpPr>
        <p:spPr>
          <a:xfrm>
            <a:off x="8040319" y="1975104"/>
            <a:ext cx="3383280" cy="457200"/>
          </a:xfrm>
          <a:prstGeom prst="rect">
            <a:avLst/>
          </a:prstGeom>
          <a:noFill/>
          <a:ln/>
        </p:spPr>
        <p:txBody>
          <a:bodyPr wrap="square" lIns="0" tIns="0" rIns="0" bIns="0" rtlCol="0" anchor="ctr"/>
          <a:lstStyle/>
          <a:p>
            <a:pPr rtl="1" algn="r" indent="0" marL="0">
              <a:buNone/>
            </a:pPr>
            <a:r>
              <a:rPr lang="en-US" sz="1300" b="1" dirty="0">
                <a:solidFill>
                  <a:srgbClr val="021A37"/>
                </a:solidFill>
                <a:latin typeface="Arial" pitchFamily="34" charset="0"/>
                <a:ea typeface="Arial" pitchFamily="34" charset="-122"/>
                <a:cs typeface="Arial" pitchFamily="34" charset="-120"/>
              </a:rPr>
              <a:t>البائع</a:t>
            </a:r>
            <a:endParaRPr lang="en-US" sz="1300" dirty="0"/>
          </a:p>
        </p:txBody>
      </p:sp>
      <p:sp>
        <p:nvSpPr>
          <p:cNvPr id="8" name="Text 6"/>
          <p:cNvSpPr txBox="1"/>
          <p:nvPr/>
        </p:nvSpPr>
        <p:spPr>
          <a:xfrm>
            <a:off x="5479999" y="1975104"/>
            <a:ext cx="2194560" cy="457200"/>
          </a:xfrm>
          <a:prstGeom prst="rect">
            <a:avLst/>
          </a:prstGeom>
          <a:noFill/>
          <a:ln/>
        </p:spPr>
        <p:txBody>
          <a:bodyPr wrap="square" lIns="0" tIns="0" rIns="0" bIns="0" rtlCol="0" anchor="ctr"/>
          <a:lstStyle/>
          <a:p>
            <a:pPr rtl="1" algn="r" indent="0" marL="0">
              <a:buNone/>
            </a:pPr>
            <a:r>
              <a:rPr lang="en-US" sz="1300" b="1" dirty="0">
                <a:solidFill>
                  <a:srgbClr val="021A37"/>
                </a:solidFill>
                <a:latin typeface="Arial" pitchFamily="34" charset="0"/>
                <a:ea typeface="Arial" pitchFamily="34" charset="-122"/>
                <a:cs typeface="Arial" pitchFamily="34" charset="-120"/>
              </a:rPr>
              <a:t>التصنيف</a:t>
            </a:r>
            <a:endParaRPr lang="en-US" sz="1300" dirty="0"/>
          </a:p>
        </p:txBody>
      </p:sp>
      <p:sp>
        <p:nvSpPr>
          <p:cNvPr id="9" name="Text 7"/>
          <p:cNvSpPr txBox="1"/>
          <p:nvPr/>
        </p:nvSpPr>
        <p:spPr>
          <a:xfrm>
            <a:off x="450799" y="1975104"/>
            <a:ext cx="4663440" cy="457200"/>
          </a:xfrm>
          <a:prstGeom prst="rect">
            <a:avLst/>
          </a:prstGeom>
          <a:noFill/>
          <a:ln/>
        </p:spPr>
        <p:txBody>
          <a:bodyPr wrap="square" lIns="0" tIns="0" rIns="0" bIns="0" rtlCol="0" anchor="ctr"/>
          <a:lstStyle/>
          <a:p>
            <a:pPr rtl="1" algn="r" indent="0" marL="0">
              <a:buNone/>
            </a:pPr>
            <a:r>
              <a:rPr lang="en-US" sz="1300" b="1" dirty="0">
                <a:solidFill>
                  <a:srgbClr val="021A37"/>
                </a:solidFill>
                <a:latin typeface="Arial" pitchFamily="34" charset="0"/>
                <a:ea typeface="Arial" pitchFamily="34" charset="-122"/>
                <a:cs typeface="Arial" pitchFamily="34" charset="-120"/>
              </a:rPr>
              <a:t>ما الذي أدى إليه</a:t>
            </a:r>
            <a:endParaRPr lang="en-US" sz="1300" dirty="0"/>
          </a:p>
        </p:txBody>
      </p:sp>
      <p:sp>
        <p:nvSpPr>
          <p:cNvPr id="10" name="Text 8"/>
          <p:cNvSpPr txBox="1"/>
          <p:nvPr/>
        </p:nvSpPr>
        <p:spPr>
          <a:xfrm>
            <a:off x="8040319" y="2432304"/>
            <a:ext cx="3383280" cy="713232"/>
          </a:xfrm>
          <a:prstGeom prst="rect">
            <a:avLst/>
          </a:prstGeom>
          <a:noFill/>
          <a:ln/>
        </p:spPr>
        <p:txBody>
          <a:bodyPr wrap="square" lIns="0" tIns="0" rIns="0" bIns="0" rtlCol="0" anchor="ctr"/>
          <a:lstStyle/>
          <a:p>
            <a:pPr rtl="1" algn="r" indent="0" marL="0">
              <a:buNone/>
            </a:pPr>
            <a:r>
              <a:rPr lang="en-US" sz="1400" b="1" dirty="0">
                <a:solidFill>
                  <a:srgbClr val="0D2136"/>
                </a:solidFill>
                <a:latin typeface="Arial" pitchFamily="34" charset="0"/>
                <a:ea typeface="Arial" pitchFamily="34" charset="-122"/>
                <a:cs typeface="Arial" pitchFamily="34" charset="-120"/>
              </a:rPr>
              <a:t>Gulf Metal Supplies</a:t>
            </a:r>
            <a:endParaRPr lang="en-US" sz="1400" dirty="0"/>
          </a:p>
        </p:txBody>
      </p:sp>
      <p:sp>
        <p:nvSpPr>
          <p:cNvPr id="11" name="Shape 9"/>
          <p:cNvSpPr/>
          <p:nvPr/>
        </p:nvSpPr>
        <p:spPr>
          <a:xfrm>
            <a:off x="5571439" y="2606040"/>
            <a:ext cx="2103120" cy="365760"/>
          </a:xfrm>
          <a:prstGeom prst="roundRect">
            <a:avLst>
              <a:gd name="adj" fmla="val 15000"/>
            </a:avLst>
          </a:prstGeom>
          <a:solidFill>
            <a:srgbClr val="E9FDEE"/>
          </a:solidFill>
          <a:ln w="9525">
            <a:solidFill>
              <a:srgbClr val="1F9D55"/>
            </a:solidFill>
            <a:prstDash val="solid"/>
          </a:ln>
        </p:spPr>
      </p:sp>
      <p:sp>
        <p:nvSpPr>
          <p:cNvPr id="12" name="Text 10"/>
          <p:cNvSpPr txBox="1"/>
          <p:nvPr/>
        </p:nvSpPr>
        <p:spPr>
          <a:xfrm>
            <a:off x="5571439" y="2606040"/>
            <a:ext cx="2103120" cy="365760"/>
          </a:xfrm>
          <a:prstGeom prst="rect">
            <a:avLst/>
          </a:prstGeom>
          <a:noFill/>
          <a:ln/>
        </p:spPr>
        <p:txBody>
          <a:bodyPr wrap="square" lIns="0" tIns="0" rIns="0" bIns="0" rtlCol="0" anchor="ctr"/>
          <a:lstStyle/>
          <a:p>
            <a:pPr rtl="1" algn="ctr" indent="0" marL="0">
              <a:buNone/>
            </a:pPr>
            <a:r>
              <a:rPr lang="en-US" sz="1250" b="1" dirty="0">
                <a:solidFill>
                  <a:srgbClr val="1F9D55"/>
                </a:solidFill>
                <a:latin typeface="Arial" pitchFamily="34" charset="0"/>
                <a:ea typeface="Arial" pitchFamily="34" charset="-122"/>
                <a:cs typeface="Arial" pitchFamily="34" charset="-120"/>
              </a:rPr>
              <a:t>وضع جيد</a:t>
            </a:r>
            <a:endParaRPr lang="en-US" sz="1250" dirty="0"/>
          </a:p>
        </p:txBody>
      </p:sp>
      <p:sp>
        <p:nvSpPr>
          <p:cNvPr id="13" name="Text 11"/>
          <p:cNvSpPr txBox="1"/>
          <p:nvPr/>
        </p:nvSpPr>
        <p:spPr>
          <a:xfrm>
            <a:off x="450799" y="2432304"/>
            <a:ext cx="4663440" cy="713232"/>
          </a:xfrm>
          <a:prstGeom prst="rect">
            <a:avLst/>
          </a:prstGeom>
          <a:noFill/>
          <a:ln/>
        </p:spPr>
        <p:txBody>
          <a:bodyPr wrap="square" lIns="0" tIns="0" rIns="0" bIns="0" rtlCol="0" anchor="ctr"/>
          <a:lstStyle/>
          <a:p>
            <a:pPr rtl="1" algn="r" indent="0" marL="0">
              <a:buNone/>
            </a:pPr>
            <a:r>
              <a:rPr lang="en-US" sz="1300" dirty="0">
                <a:solidFill>
                  <a:srgbClr val="5B7080"/>
                </a:solidFill>
                <a:latin typeface="Arial" pitchFamily="34" charset="0"/>
                <a:ea typeface="Arial" pitchFamily="34" charset="-122"/>
                <a:cs typeface="Arial" pitchFamily="34" charset="-120"/>
              </a:rPr>
              <a:t>لا شيء — المدخلات الثلاثة سليمة</a:t>
            </a:r>
            <a:endParaRPr lang="en-US" sz="1300" dirty="0"/>
          </a:p>
        </p:txBody>
      </p:sp>
      <p:sp>
        <p:nvSpPr>
          <p:cNvPr id="14" name="Shape 12"/>
          <p:cNvSpPr/>
          <p:nvPr/>
        </p:nvSpPr>
        <p:spPr>
          <a:xfrm>
            <a:off x="377647" y="3145536"/>
            <a:ext cx="11247120" cy="9144"/>
          </a:xfrm>
          <a:prstGeom prst="rect">
            <a:avLst/>
          </a:prstGeom>
          <a:solidFill>
            <a:srgbClr val="E6EDF3"/>
          </a:solidFill>
          <a:ln/>
        </p:spPr>
      </p:sp>
      <p:sp>
        <p:nvSpPr>
          <p:cNvPr id="15" name="Shape 13"/>
          <p:cNvSpPr/>
          <p:nvPr/>
        </p:nvSpPr>
        <p:spPr>
          <a:xfrm>
            <a:off x="377647" y="3145536"/>
            <a:ext cx="11247120" cy="713232"/>
          </a:xfrm>
          <a:prstGeom prst="rect">
            <a:avLst/>
          </a:prstGeom>
          <a:solidFill>
            <a:srgbClr val="FBFCFE"/>
          </a:solidFill>
          <a:ln/>
        </p:spPr>
      </p:sp>
      <p:sp>
        <p:nvSpPr>
          <p:cNvPr id="16" name="Text 14"/>
          <p:cNvSpPr txBox="1"/>
          <p:nvPr/>
        </p:nvSpPr>
        <p:spPr>
          <a:xfrm>
            <a:off x="8040319" y="3145536"/>
            <a:ext cx="3383280" cy="713232"/>
          </a:xfrm>
          <a:prstGeom prst="rect">
            <a:avLst/>
          </a:prstGeom>
          <a:noFill/>
          <a:ln/>
        </p:spPr>
        <p:txBody>
          <a:bodyPr wrap="square" lIns="0" tIns="0" rIns="0" bIns="0" rtlCol="0" anchor="ctr"/>
          <a:lstStyle/>
          <a:p>
            <a:pPr rtl="1" algn="r" indent="0" marL="0">
              <a:buNone/>
            </a:pPr>
            <a:r>
              <a:rPr lang="en-US" sz="1400" b="1" dirty="0">
                <a:solidFill>
                  <a:srgbClr val="0D2136"/>
                </a:solidFill>
                <a:latin typeface="Arial" pitchFamily="34" charset="0"/>
                <a:ea typeface="Arial" pitchFamily="34" charset="-122"/>
                <a:cs typeface="Arial" pitchFamily="34" charset="-120"/>
              </a:rPr>
              <a:t>Manama Packaging Co.</a:t>
            </a:r>
            <a:endParaRPr lang="en-US" sz="1400" dirty="0"/>
          </a:p>
        </p:txBody>
      </p:sp>
      <p:sp>
        <p:nvSpPr>
          <p:cNvPr id="17" name="Shape 15"/>
          <p:cNvSpPr/>
          <p:nvPr/>
        </p:nvSpPr>
        <p:spPr>
          <a:xfrm>
            <a:off x="5571439" y="3319272"/>
            <a:ext cx="2103120" cy="365760"/>
          </a:xfrm>
          <a:prstGeom prst="roundRect">
            <a:avLst>
              <a:gd name="adj" fmla="val 15000"/>
            </a:avLst>
          </a:prstGeom>
          <a:solidFill>
            <a:srgbClr val="FFF5E6"/>
          </a:solidFill>
          <a:ln w="9525">
            <a:solidFill>
              <a:srgbClr val="FE8E00"/>
            </a:solidFill>
            <a:prstDash val="solid"/>
          </a:ln>
        </p:spPr>
      </p:sp>
      <p:sp>
        <p:nvSpPr>
          <p:cNvPr id="18" name="Text 16"/>
          <p:cNvSpPr txBox="1"/>
          <p:nvPr/>
        </p:nvSpPr>
        <p:spPr>
          <a:xfrm>
            <a:off x="5571439" y="3319272"/>
            <a:ext cx="2103120" cy="365760"/>
          </a:xfrm>
          <a:prstGeom prst="rect">
            <a:avLst/>
          </a:prstGeom>
          <a:noFill/>
          <a:ln/>
        </p:spPr>
        <p:txBody>
          <a:bodyPr wrap="square" lIns="0" tIns="0" rIns="0" bIns="0" rtlCol="0" anchor="ctr"/>
          <a:lstStyle/>
          <a:p>
            <a:pPr rtl="1" algn="ctr" indent="0" marL="0">
              <a:buNone/>
            </a:pPr>
            <a:r>
              <a:rPr lang="en-US" sz="1250" b="1" dirty="0">
                <a:solidFill>
                  <a:srgbClr val="FE8E00"/>
                </a:solidFill>
                <a:latin typeface="Arial" pitchFamily="34" charset="0"/>
                <a:ea typeface="Arial" pitchFamily="34" charset="-122"/>
                <a:cs typeface="Arial" pitchFamily="34" charset="-120"/>
              </a:rPr>
              <a:t>تحت المراقبة</a:t>
            </a:r>
            <a:endParaRPr lang="en-US" sz="1250" dirty="0"/>
          </a:p>
        </p:txBody>
      </p:sp>
      <p:sp>
        <p:nvSpPr>
          <p:cNvPr id="19" name="Text 17"/>
          <p:cNvSpPr txBox="1"/>
          <p:nvPr/>
        </p:nvSpPr>
        <p:spPr>
          <a:xfrm>
            <a:off x="450799" y="3145536"/>
            <a:ext cx="4663440" cy="713232"/>
          </a:xfrm>
          <a:prstGeom prst="rect">
            <a:avLst/>
          </a:prstGeom>
          <a:noFill/>
          <a:ln/>
        </p:spPr>
        <p:txBody>
          <a:bodyPr wrap="square" lIns="0" tIns="0" rIns="0" bIns="0" rtlCol="0" anchor="ctr"/>
          <a:lstStyle/>
          <a:p>
            <a:pPr rtl="1" algn="r" indent="0" marL="0">
              <a:buNone/>
            </a:pPr>
            <a:r>
              <a:rPr lang="en-US" sz="1300" dirty="0">
                <a:solidFill>
                  <a:srgbClr val="5B7080"/>
                </a:solidFill>
                <a:latin typeface="Arial" pitchFamily="34" charset="0"/>
                <a:ea typeface="Arial" pitchFamily="34" charset="-122"/>
                <a:cs typeface="Arial" pitchFamily="34" charset="-120"/>
              </a:rPr>
              <a:t>نسبة الخصم 1.03 — الخصومات المموَّلة تتجاوز العمولة</a:t>
            </a:r>
            <a:endParaRPr lang="en-US" sz="1300" dirty="0"/>
          </a:p>
        </p:txBody>
      </p:sp>
      <p:sp>
        <p:nvSpPr>
          <p:cNvPr id="20" name="Shape 18"/>
          <p:cNvSpPr/>
          <p:nvPr/>
        </p:nvSpPr>
        <p:spPr>
          <a:xfrm>
            <a:off x="377647" y="3858768"/>
            <a:ext cx="11247120" cy="9144"/>
          </a:xfrm>
          <a:prstGeom prst="rect">
            <a:avLst/>
          </a:prstGeom>
          <a:solidFill>
            <a:srgbClr val="E6EDF3"/>
          </a:solidFill>
          <a:ln/>
        </p:spPr>
      </p:sp>
      <p:sp>
        <p:nvSpPr>
          <p:cNvPr id="21" name="Text 19"/>
          <p:cNvSpPr txBox="1"/>
          <p:nvPr/>
        </p:nvSpPr>
        <p:spPr>
          <a:xfrm>
            <a:off x="8040319" y="3858768"/>
            <a:ext cx="3383280" cy="713232"/>
          </a:xfrm>
          <a:prstGeom prst="rect">
            <a:avLst/>
          </a:prstGeom>
          <a:noFill/>
          <a:ln/>
        </p:spPr>
        <p:txBody>
          <a:bodyPr wrap="square" lIns="0" tIns="0" rIns="0" bIns="0" rtlCol="0" anchor="ctr"/>
          <a:lstStyle/>
          <a:p>
            <a:pPr rtl="1" algn="r" indent="0" marL="0">
              <a:buNone/>
            </a:pPr>
            <a:r>
              <a:rPr lang="en-US" sz="1400" b="1" dirty="0">
                <a:solidFill>
                  <a:srgbClr val="0D2136"/>
                </a:solidFill>
                <a:latin typeface="Arial" pitchFamily="34" charset="0"/>
                <a:ea typeface="Arial" pitchFamily="34" charset="-122"/>
                <a:cs typeface="Arial" pitchFamily="34" charset="-120"/>
              </a:rPr>
              <a:t>Sitra Industrial Tools</a:t>
            </a:r>
            <a:endParaRPr lang="en-US" sz="1400" dirty="0"/>
          </a:p>
        </p:txBody>
      </p:sp>
      <p:sp>
        <p:nvSpPr>
          <p:cNvPr id="22" name="Shape 20"/>
          <p:cNvSpPr/>
          <p:nvPr/>
        </p:nvSpPr>
        <p:spPr>
          <a:xfrm>
            <a:off x="5571439" y="4032504"/>
            <a:ext cx="2103120" cy="365760"/>
          </a:xfrm>
          <a:prstGeom prst="roundRect">
            <a:avLst>
              <a:gd name="adj" fmla="val 15000"/>
            </a:avLst>
          </a:prstGeom>
          <a:solidFill>
            <a:srgbClr val="FFF5E6"/>
          </a:solidFill>
          <a:ln w="9525">
            <a:solidFill>
              <a:srgbClr val="FE8E00"/>
            </a:solidFill>
            <a:prstDash val="solid"/>
          </a:ln>
        </p:spPr>
      </p:sp>
      <p:sp>
        <p:nvSpPr>
          <p:cNvPr id="23" name="Text 21"/>
          <p:cNvSpPr txBox="1"/>
          <p:nvPr/>
        </p:nvSpPr>
        <p:spPr>
          <a:xfrm>
            <a:off x="5571439" y="4032504"/>
            <a:ext cx="2103120" cy="365760"/>
          </a:xfrm>
          <a:prstGeom prst="rect">
            <a:avLst/>
          </a:prstGeom>
          <a:noFill/>
          <a:ln/>
        </p:spPr>
        <p:txBody>
          <a:bodyPr wrap="square" lIns="0" tIns="0" rIns="0" bIns="0" rtlCol="0" anchor="ctr"/>
          <a:lstStyle/>
          <a:p>
            <a:pPr rtl="1" algn="ctr" indent="0" marL="0">
              <a:buNone/>
            </a:pPr>
            <a:r>
              <a:rPr lang="en-US" sz="1250" b="1" dirty="0">
                <a:solidFill>
                  <a:srgbClr val="FE8E00"/>
                </a:solidFill>
                <a:latin typeface="Arial" pitchFamily="34" charset="0"/>
                <a:ea typeface="Arial" pitchFamily="34" charset="-122"/>
                <a:cs typeface="Arial" pitchFamily="34" charset="-120"/>
              </a:rPr>
              <a:t>تحت المراقبة</a:t>
            </a:r>
            <a:endParaRPr lang="en-US" sz="1250" dirty="0"/>
          </a:p>
        </p:txBody>
      </p:sp>
      <p:sp>
        <p:nvSpPr>
          <p:cNvPr id="24" name="Text 22"/>
          <p:cNvSpPr txBox="1"/>
          <p:nvPr/>
        </p:nvSpPr>
        <p:spPr>
          <a:xfrm>
            <a:off x="450799" y="3858768"/>
            <a:ext cx="4663440" cy="713232"/>
          </a:xfrm>
          <a:prstGeom prst="rect">
            <a:avLst/>
          </a:prstGeom>
          <a:noFill/>
          <a:ln/>
        </p:spPr>
        <p:txBody>
          <a:bodyPr wrap="square" lIns="0" tIns="0" rIns="0" bIns="0" rtlCol="0" anchor="ctr"/>
          <a:lstStyle/>
          <a:p>
            <a:pPr rtl="1" algn="r" indent="0" marL="0">
              <a:buNone/>
            </a:pPr>
            <a:r>
              <a:rPr lang="en-US" sz="1300" dirty="0">
                <a:solidFill>
                  <a:srgbClr val="5B7080"/>
                </a:solidFill>
                <a:latin typeface="Arial" pitchFamily="34" charset="0"/>
                <a:ea typeface="Arial" pitchFamily="34" charset="-122"/>
                <a:cs typeface="Arial" pitchFamily="34" charset="-120"/>
              </a:rPr>
              <a:t>التحصيل الإلكتروني دون الحد الأدنى — 12.5٪ مقابل 30٪ مطلوبة</a:t>
            </a:r>
            <a:endParaRPr lang="en-US" sz="1300" dirty="0"/>
          </a:p>
        </p:txBody>
      </p:sp>
      <p:sp>
        <p:nvSpPr>
          <p:cNvPr id="25" name="Shape 23"/>
          <p:cNvSpPr/>
          <p:nvPr/>
        </p:nvSpPr>
        <p:spPr>
          <a:xfrm>
            <a:off x="377647" y="4572000"/>
            <a:ext cx="11247120" cy="9144"/>
          </a:xfrm>
          <a:prstGeom prst="rect">
            <a:avLst/>
          </a:prstGeom>
          <a:solidFill>
            <a:srgbClr val="E6EDF3"/>
          </a:solidFill>
          <a:ln/>
        </p:spPr>
      </p:sp>
      <p:sp>
        <p:nvSpPr>
          <p:cNvPr id="26" name="Shape 24"/>
          <p:cNvSpPr/>
          <p:nvPr/>
        </p:nvSpPr>
        <p:spPr>
          <a:xfrm>
            <a:off x="377647" y="4572000"/>
            <a:ext cx="11247120" cy="713232"/>
          </a:xfrm>
          <a:prstGeom prst="rect">
            <a:avLst/>
          </a:prstGeom>
          <a:solidFill>
            <a:srgbClr val="FBFCFE"/>
          </a:solidFill>
          <a:ln/>
        </p:spPr>
      </p:sp>
      <p:sp>
        <p:nvSpPr>
          <p:cNvPr id="27" name="Text 25"/>
          <p:cNvSpPr txBox="1"/>
          <p:nvPr/>
        </p:nvSpPr>
        <p:spPr>
          <a:xfrm>
            <a:off x="8040319" y="4572000"/>
            <a:ext cx="3383280" cy="713232"/>
          </a:xfrm>
          <a:prstGeom prst="rect">
            <a:avLst/>
          </a:prstGeom>
          <a:noFill/>
          <a:ln/>
        </p:spPr>
        <p:txBody>
          <a:bodyPr wrap="square" lIns="0" tIns="0" rIns="0" bIns="0" rtlCol="0" anchor="ctr"/>
          <a:lstStyle/>
          <a:p>
            <a:pPr rtl="1" algn="r" indent="0" marL="0">
              <a:buNone/>
            </a:pPr>
            <a:r>
              <a:rPr lang="en-US" sz="1400" b="1" dirty="0">
                <a:solidFill>
                  <a:srgbClr val="0D2136"/>
                </a:solidFill>
                <a:latin typeface="Arial" pitchFamily="34" charset="0"/>
                <a:ea typeface="Arial" pitchFamily="34" charset="-122"/>
                <a:cs typeface="Arial" pitchFamily="34" charset="-120"/>
              </a:rPr>
              <a:t>Riffa Building Materials</a:t>
            </a:r>
            <a:endParaRPr lang="en-US" sz="1400" dirty="0"/>
          </a:p>
        </p:txBody>
      </p:sp>
      <p:sp>
        <p:nvSpPr>
          <p:cNvPr id="28" name="Shape 26"/>
          <p:cNvSpPr/>
          <p:nvPr/>
        </p:nvSpPr>
        <p:spPr>
          <a:xfrm>
            <a:off x="5571439" y="4745736"/>
            <a:ext cx="2103120" cy="365760"/>
          </a:xfrm>
          <a:prstGeom prst="roundRect">
            <a:avLst>
              <a:gd name="adj" fmla="val 15000"/>
            </a:avLst>
          </a:prstGeom>
          <a:solidFill>
            <a:srgbClr val="FEEEE9"/>
          </a:solidFill>
          <a:ln w="9525">
            <a:solidFill>
              <a:srgbClr val="D0402A"/>
            </a:solidFill>
            <a:prstDash val="solid"/>
          </a:ln>
        </p:spPr>
      </p:sp>
      <p:sp>
        <p:nvSpPr>
          <p:cNvPr id="29" name="Text 27"/>
          <p:cNvSpPr txBox="1"/>
          <p:nvPr/>
        </p:nvSpPr>
        <p:spPr>
          <a:xfrm>
            <a:off x="5571439" y="4745736"/>
            <a:ext cx="2103120" cy="365760"/>
          </a:xfrm>
          <a:prstGeom prst="rect">
            <a:avLst/>
          </a:prstGeom>
          <a:noFill/>
          <a:ln/>
        </p:spPr>
        <p:txBody>
          <a:bodyPr wrap="square" lIns="0" tIns="0" rIns="0" bIns="0" rtlCol="0" anchor="ctr"/>
          <a:lstStyle/>
          <a:p>
            <a:pPr rtl="1" algn="ctr" indent="0" marL="0">
              <a:buNone/>
            </a:pPr>
            <a:r>
              <a:rPr lang="en-US" sz="1250" b="1" dirty="0">
                <a:solidFill>
                  <a:srgbClr val="D0402A"/>
                </a:solidFill>
                <a:latin typeface="Arial" pitchFamily="34" charset="0"/>
                <a:ea typeface="Arial" pitchFamily="34" charset="-122"/>
                <a:cs typeface="Arial" pitchFamily="34" charset="-120"/>
              </a:rPr>
              <a:t>الائتمان موقوف</a:t>
            </a:r>
            <a:endParaRPr lang="en-US" sz="1250" dirty="0"/>
          </a:p>
        </p:txBody>
      </p:sp>
      <p:sp>
        <p:nvSpPr>
          <p:cNvPr id="30" name="Text 28"/>
          <p:cNvSpPr txBox="1"/>
          <p:nvPr/>
        </p:nvSpPr>
        <p:spPr>
          <a:xfrm>
            <a:off x="450799" y="4572000"/>
            <a:ext cx="4663440" cy="713232"/>
          </a:xfrm>
          <a:prstGeom prst="rect">
            <a:avLst/>
          </a:prstGeom>
          <a:noFill/>
          <a:ln/>
        </p:spPr>
        <p:txBody>
          <a:bodyPr wrap="square" lIns="0" tIns="0" rIns="0" bIns="0" rtlCol="0" anchor="ctr"/>
          <a:lstStyle/>
          <a:p>
            <a:pPr rtl="1" algn="r" indent="0" marL="0">
              <a:buNone/>
            </a:pPr>
            <a:r>
              <a:rPr lang="en-US" sz="1300" dirty="0">
                <a:solidFill>
                  <a:srgbClr val="5B7080"/>
                </a:solidFill>
                <a:latin typeface="Arial" pitchFamily="34" charset="0"/>
                <a:ea typeface="Arial" pitchFamily="34" charset="-122"/>
                <a:cs typeface="Arial" pitchFamily="34" charset="-120"/>
              </a:rPr>
              <a:t>نسبة المتأخرات 1.06 — تجاوزت السقف</a:t>
            </a:r>
            <a:endParaRPr lang="en-US" sz="1300" dirty="0"/>
          </a:p>
        </p:txBody>
      </p:sp>
      <p:sp>
        <p:nvSpPr>
          <p:cNvPr id="31" name="Shape 29"/>
          <p:cNvSpPr/>
          <p:nvPr/>
        </p:nvSpPr>
        <p:spPr>
          <a:xfrm>
            <a:off x="377647" y="5285232"/>
            <a:ext cx="11247120" cy="9144"/>
          </a:xfrm>
          <a:prstGeom prst="rect">
            <a:avLst/>
          </a:prstGeom>
          <a:solidFill>
            <a:srgbClr val="E6EDF3"/>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11204143" y="475488"/>
            <a:ext cx="420624" cy="420624"/>
          </a:xfrm>
          <a:prstGeom prst="ellipse">
            <a:avLst/>
          </a:prstGeom>
          <a:solidFill>
            <a:srgbClr val="021A37"/>
          </a:solidFill>
          <a:ln/>
        </p:spPr>
      </p:sp>
      <p:sp>
        <p:nvSpPr>
          <p:cNvPr id="3" name="Text 1"/>
          <p:cNvSpPr txBox="1"/>
          <p:nvPr/>
        </p:nvSpPr>
        <p:spPr>
          <a:xfrm>
            <a:off x="11204143" y="475488"/>
            <a:ext cx="420624" cy="420624"/>
          </a:xfrm>
          <a:prstGeom prst="rect">
            <a:avLst/>
          </a:prstGeom>
          <a:noFill/>
          <a:ln/>
        </p:spPr>
        <p:txBody>
          <a:bodyPr wrap="square" lIns="0" tIns="0" rIns="0" bIns="0" rtlCol="0" anchor="ctr"/>
          <a:lstStyle/>
          <a:p>
            <a:pPr rtl="1" algn="ctr" indent="0" marL="0">
              <a:buNone/>
            </a:pPr>
            <a:r>
              <a:rPr lang="en-US" sz="1300" b="1" dirty="0">
                <a:solidFill>
                  <a:srgbClr val="FFFFFF"/>
                </a:solidFill>
                <a:latin typeface="Arial" pitchFamily="34" charset="0"/>
                <a:ea typeface="Arial" pitchFamily="34" charset="-122"/>
                <a:cs typeface="Arial" pitchFamily="34" charset="-120"/>
              </a:rPr>
              <a:t>09</a:t>
            </a:r>
            <a:endParaRPr lang="en-US" sz="1300" dirty="0"/>
          </a:p>
        </p:txBody>
      </p:sp>
      <p:sp>
        <p:nvSpPr>
          <p:cNvPr id="4" name="Text 2"/>
          <p:cNvSpPr txBox="1"/>
          <p:nvPr/>
        </p:nvSpPr>
        <p:spPr>
          <a:xfrm>
            <a:off x="597103" y="347472"/>
            <a:ext cx="10424160" cy="868680"/>
          </a:xfrm>
          <a:prstGeom prst="rect">
            <a:avLst/>
          </a:prstGeom>
          <a:noFill/>
          <a:ln/>
        </p:spPr>
        <p:txBody>
          <a:bodyPr wrap="square" lIns="0" tIns="0" rIns="0" bIns="0" rtlCol="0" anchor="ctr"/>
          <a:lstStyle/>
          <a:p>
            <a:pPr rtl="1" algn="r" indent="0" marL="0">
              <a:buNone/>
            </a:pPr>
            <a:r>
              <a:rPr lang="en-US" sz="2800" b="1" dirty="0">
                <a:solidFill>
                  <a:srgbClr val="021A37"/>
                </a:solidFill>
                <a:latin typeface="Arial" pitchFamily="34" charset="0"/>
                <a:ea typeface="Arial" pitchFamily="34" charset="-122"/>
                <a:cs typeface="Arial" pitchFamily="34" charset="-120"/>
              </a:rPr>
              <a:t>دفتر واحد، ومنتجان — والقرار لم يُتخذ</a:t>
            </a:r>
            <a:endParaRPr lang="en-US" sz="2800" dirty="0"/>
          </a:p>
        </p:txBody>
      </p:sp>
      <p:sp>
        <p:nvSpPr>
          <p:cNvPr id="5" name="Shape 3"/>
          <p:cNvSpPr/>
          <p:nvPr/>
        </p:nvSpPr>
        <p:spPr>
          <a:xfrm>
            <a:off x="6138367" y="1371600"/>
            <a:ext cx="5486400" cy="2926080"/>
          </a:xfrm>
          <a:prstGeom prst="roundRect">
            <a:avLst>
              <a:gd name="adj" fmla="val 2813"/>
            </a:avLst>
          </a:prstGeom>
          <a:solidFill>
            <a:srgbClr val="EDF7FE"/>
          </a:solidFill>
          <a:ln w="12700">
            <a:solidFill>
              <a:srgbClr val="026DBD"/>
            </a:solidFill>
            <a:prstDash val="solid"/>
          </a:ln>
          <a:effectLst>
            <a:outerShdw sx="100000" sy="100000" kx="0" ky="0" algn="bl" rotWithShape="0" blurRad="127000" dist="25400" dir="5400000">
              <a:srgbClr val="021A37">
                <a:alpha val="7000"/>
              </a:srgbClr>
            </a:outerShdw>
          </a:effectLst>
        </p:spPr>
      </p:sp>
      <p:sp>
        <p:nvSpPr>
          <p:cNvPr id="6" name="Text 4"/>
          <p:cNvSpPr txBox="1"/>
          <p:nvPr/>
        </p:nvSpPr>
        <p:spPr>
          <a:xfrm>
            <a:off x="6430975" y="1572768"/>
            <a:ext cx="4901184" cy="457200"/>
          </a:xfrm>
          <a:prstGeom prst="rect">
            <a:avLst/>
          </a:prstGeom>
          <a:noFill/>
          <a:ln/>
        </p:spPr>
        <p:txBody>
          <a:bodyPr wrap="square" lIns="0" tIns="0" rIns="0" bIns="0" rtlCol="0" anchor="ctr"/>
          <a:lstStyle/>
          <a:p>
            <a:pPr rtl="1" algn="r" indent="0" marL="0">
              <a:buNone/>
            </a:pPr>
            <a:r>
              <a:rPr lang="en-US" sz="2500" b="1" dirty="0">
                <a:solidFill>
                  <a:srgbClr val="026DBD"/>
                </a:solidFill>
                <a:latin typeface="Arial" pitchFamily="34" charset="0"/>
                <a:ea typeface="Arial" pitchFamily="34" charset="-122"/>
                <a:cs typeface="Arial" pitchFamily="34" charset="-120"/>
              </a:rPr>
              <a:t>وكيل</a:t>
            </a:r>
            <a:endParaRPr lang="en-US" sz="2500" dirty="0"/>
          </a:p>
        </p:txBody>
      </p:sp>
      <p:sp>
        <p:nvSpPr>
          <p:cNvPr id="7" name="Text 5"/>
          <p:cNvSpPr txBox="1"/>
          <p:nvPr/>
        </p:nvSpPr>
        <p:spPr>
          <a:xfrm>
            <a:off x="6430975" y="2011680"/>
            <a:ext cx="4901184" cy="329184"/>
          </a:xfrm>
          <a:prstGeom prst="rect">
            <a:avLst/>
          </a:prstGeom>
          <a:noFill/>
          <a:ln/>
        </p:spPr>
        <p:txBody>
          <a:bodyPr wrap="square" lIns="0" tIns="0" rIns="0" bIns="0" rtlCol="0" anchor="ctr"/>
          <a:lstStyle/>
          <a:p>
            <a:pPr rtl="1" algn="r" indent="0" marL="0">
              <a:buNone/>
            </a:pPr>
            <a:r>
              <a:rPr lang="en-US" sz="1400" i="1" dirty="0">
                <a:solidFill>
                  <a:srgbClr val="5B7080"/>
                </a:solidFill>
                <a:latin typeface="Arial" pitchFamily="34" charset="0"/>
                <a:ea typeface="Arial" pitchFamily="34" charset="-122"/>
                <a:cs typeface="Arial" pitchFamily="34" charset="-120"/>
              </a:rPr>
              <a:t>Highbase لا تضمن</a:t>
            </a:r>
            <a:endParaRPr lang="en-US" sz="1400" dirty="0"/>
          </a:p>
        </p:txBody>
      </p:sp>
      <p:sp>
        <p:nvSpPr>
          <p:cNvPr id="8" name="Text 6"/>
          <p:cNvSpPr txBox="1"/>
          <p:nvPr/>
        </p:nvSpPr>
        <p:spPr>
          <a:xfrm>
            <a:off x="6430975" y="2432304"/>
            <a:ext cx="4901184" cy="2011680"/>
          </a:xfrm>
          <a:prstGeom prst="rect">
            <a:avLst/>
          </a:prstGeom>
          <a:noFill/>
          <a:ln/>
        </p:spPr>
        <p:txBody>
          <a:bodyPr wrap="square" lIns="0" tIns="0" rIns="0" bIns="0" rtlCol="0" anchor="ctr"/>
          <a:lstStyle/>
          <a:p>
            <a:pPr algn="r" marL="342900" indent="-342900">
              <a:lnSpc>
                <a:spcPts val="1900"/>
              </a:lnSpc>
              <a:spcAft>
                <a:spcPts val="800"/>
              </a:spcAft>
              <a:buSzPct val="100000"/>
              <a:buChar char="•"/>
            </a:pPr>
            <a:r>
              <a:rPr lang="en-US" sz="1350" dirty="0">
                <a:solidFill>
                  <a:srgbClr val="0D2136"/>
                </a:solidFill>
                <a:latin typeface="Arial" pitchFamily="34" charset="0"/>
                <a:ea typeface="Arial" pitchFamily="34" charset="-122"/>
                <a:cs typeface="Arial" pitchFamily="34" charset="-120"/>
              </a:rPr>
              <a:t>البائع ينتظر المشتري</a:t>
            </a:r>
            <a:endParaRPr lang="en-US" sz="1350" dirty="0"/>
          </a:p>
          <a:p>
            <a:pPr algn="r" marL="342900" indent="-342900">
              <a:lnSpc>
                <a:spcPts val="1900"/>
              </a:lnSpc>
              <a:spcAft>
                <a:spcPts val="800"/>
              </a:spcAft>
              <a:buSzPct val="100000"/>
              <a:buChar char="•"/>
            </a:pPr>
            <a:r>
              <a:rPr lang="en-US" sz="1350" dirty="0">
                <a:solidFill>
                  <a:srgbClr val="0D2136"/>
                </a:solidFill>
                <a:latin typeface="Arial" pitchFamily="34" charset="0"/>
                <a:ea typeface="Arial" pitchFamily="34" charset="-122"/>
                <a:cs typeface="Arial" pitchFamily="34" charset="-120"/>
              </a:rPr>
              <a:t>الطلبات الآجلة لا تدخل أي دفعة تسوية</a:t>
            </a:r>
            <a:endParaRPr lang="en-US" sz="1350" dirty="0"/>
          </a:p>
          <a:p>
            <a:pPr algn="r" marL="342900" indent="-342900">
              <a:lnSpc>
                <a:spcPts val="1900"/>
              </a:lnSpc>
              <a:spcAft>
                <a:spcPts val="800"/>
              </a:spcAft>
              <a:buSzPct val="100000"/>
              <a:buChar char="•"/>
            </a:pPr>
            <a:r>
              <a:rPr lang="en-US" sz="1350" dirty="0">
                <a:solidFill>
                  <a:srgbClr val="0D2136"/>
                </a:solidFill>
                <a:latin typeface="Arial" pitchFamily="34" charset="0"/>
                <a:ea typeface="Arial" pitchFamily="34" charset="-122"/>
                <a:cs typeface="Arial" pitchFamily="34" charset="-120"/>
              </a:rPr>
              <a:t>اسم الحالة: «بانتظار المشتري»</a:t>
            </a:r>
            <a:endParaRPr lang="en-US" sz="1350" dirty="0"/>
          </a:p>
          <a:p>
            <a:pPr algn="r" marL="342900" indent="-342900">
              <a:lnSpc>
                <a:spcPts val="1900"/>
              </a:lnSpc>
              <a:spcAft>
                <a:spcPts val="800"/>
              </a:spcAft>
              <a:buSzPct val="100000"/>
              <a:buChar char="•"/>
            </a:pPr>
            <a:r>
              <a:rPr lang="en-US" sz="1350" dirty="0">
                <a:solidFill>
                  <a:srgbClr val="0D2136"/>
                </a:solidFill>
                <a:latin typeface="Arial" pitchFamily="34" charset="0"/>
                <a:ea typeface="Arial" pitchFamily="34" charset="-122"/>
                <a:cs typeface="Arial" pitchFamily="34" charset="-120"/>
              </a:rPr>
              <a:t>Highbase لا تتحمل مخاطر ائتمان المشتري</a:t>
            </a:r>
            <a:endParaRPr lang="en-US" sz="1350" dirty="0"/>
          </a:p>
        </p:txBody>
      </p:sp>
      <p:sp>
        <p:nvSpPr>
          <p:cNvPr id="9" name="Shape 7"/>
          <p:cNvSpPr/>
          <p:nvPr/>
        </p:nvSpPr>
        <p:spPr>
          <a:xfrm>
            <a:off x="560527" y="1371600"/>
            <a:ext cx="5486400" cy="2926080"/>
          </a:xfrm>
          <a:prstGeom prst="roundRect">
            <a:avLst>
              <a:gd name="adj" fmla="val 2813"/>
            </a:avLst>
          </a:prstGeom>
          <a:solidFill>
            <a:srgbClr val="FFF5E6"/>
          </a:solidFill>
          <a:ln w="12700">
            <a:solidFill>
              <a:srgbClr val="FE8E00"/>
            </a:solidFill>
            <a:prstDash val="solid"/>
          </a:ln>
          <a:effectLst>
            <a:outerShdw sx="100000" sy="100000" kx="0" ky="0" algn="bl" rotWithShape="0" blurRad="127000" dist="25400" dir="5400000">
              <a:srgbClr val="021A37">
                <a:alpha val="7000"/>
              </a:srgbClr>
            </a:outerShdw>
          </a:effectLst>
        </p:spPr>
      </p:sp>
      <p:sp>
        <p:nvSpPr>
          <p:cNvPr id="10" name="Text 8"/>
          <p:cNvSpPr txBox="1"/>
          <p:nvPr/>
        </p:nvSpPr>
        <p:spPr>
          <a:xfrm>
            <a:off x="853135" y="1572768"/>
            <a:ext cx="4901184" cy="457200"/>
          </a:xfrm>
          <a:prstGeom prst="rect">
            <a:avLst/>
          </a:prstGeom>
          <a:noFill/>
          <a:ln/>
        </p:spPr>
        <p:txBody>
          <a:bodyPr wrap="square" lIns="0" tIns="0" rIns="0" bIns="0" rtlCol="0" anchor="ctr"/>
          <a:lstStyle/>
          <a:p>
            <a:pPr rtl="1" algn="r" indent="0" marL="0">
              <a:buNone/>
            </a:pPr>
            <a:r>
              <a:rPr lang="en-US" sz="2500" b="1" dirty="0">
                <a:solidFill>
                  <a:srgbClr val="FE8E00"/>
                </a:solidFill>
                <a:latin typeface="Arial" pitchFamily="34" charset="0"/>
                <a:ea typeface="Arial" pitchFamily="34" charset="-122"/>
                <a:cs typeface="Arial" pitchFamily="34" charset="-120"/>
              </a:rPr>
              <a:t>ضامن</a:t>
            </a:r>
            <a:endParaRPr lang="en-US" sz="2500" dirty="0"/>
          </a:p>
        </p:txBody>
      </p:sp>
      <p:sp>
        <p:nvSpPr>
          <p:cNvPr id="11" name="Text 9"/>
          <p:cNvSpPr txBox="1"/>
          <p:nvPr/>
        </p:nvSpPr>
        <p:spPr>
          <a:xfrm>
            <a:off x="853135" y="2011680"/>
            <a:ext cx="4901184" cy="329184"/>
          </a:xfrm>
          <a:prstGeom prst="rect">
            <a:avLst/>
          </a:prstGeom>
          <a:noFill/>
          <a:ln/>
        </p:spPr>
        <p:txBody>
          <a:bodyPr wrap="square" lIns="0" tIns="0" rIns="0" bIns="0" rtlCol="0" anchor="ctr"/>
          <a:lstStyle/>
          <a:p>
            <a:pPr rtl="1" algn="r" indent="0" marL="0">
              <a:buNone/>
            </a:pPr>
            <a:r>
              <a:rPr lang="en-US" sz="1400" i="1" dirty="0">
                <a:solidFill>
                  <a:srgbClr val="5B7080"/>
                </a:solidFill>
                <a:latin typeface="Arial" pitchFamily="34" charset="0"/>
                <a:ea typeface="Arial" pitchFamily="34" charset="-122"/>
                <a:cs typeface="Arial" pitchFamily="34" charset="-120"/>
              </a:rPr>
              <a:t>Highbase تدفع عند التسليم</a:t>
            </a:r>
            <a:endParaRPr lang="en-US" sz="1400" dirty="0"/>
          </a:p>
        </p:txBody>
      </p:sp>
      <p:sp>
        <p:nvSpPr>
          <p:cNvPr id="12" name="Text 10"/>
          <p:cNvSpPr txBox="1"/>
          <p:nvPr/>
        </p:nvSpPr>
        <p:spPr>
          <a:xfrm>
            <a:off x="853135" y="2432304"/>
            <a:ext cx="4901184" cy="2011680"/>
          </a:xfrm>
          <a:prstGeom prst="rect">
            <a:avLst/>
          </a:prstGeom>
          <a:noFill/>
          <a:ln/>
        </p:spPr>
        <p:txBody>
          <a:bodyPr wrap="square" lIns="0" tIns="0" rIns="0" bIns="0" rtlCol="0" anchor="ctr"/>
          <a:lstStyle/>
          <a:p>
            <a:pPr algn="r" marL="342900" indent="-342900">
              <a:lnSpc>
                <a:spcPts val="1900"/>
              </a:lnSpc>
              <a:spcAft>
                <a:spcPts val="800"/>
              </a:spcAft>
              <a:buSzPct val="100000"/>
              <a:buChar char="•"/>
            </a:pPr>
            <a:r>
              <a:rPr lang="en-US" sz="1350" dirty="0">
                <a:solidFill>
                  <a:srgbClr val="0D2136"/>
                </a:solidFill>
                <a:latin typeface="Arial" pitchFamily="34" charset="0"/>
                <a:ea typeface="Arial" pitchFamily="34" charset="-122"/>
                <a:cs typeface="Arial" pitchFamily="34" charset="-120"/>
              </a:rPr>
              <a:t>يُدفع للبائع عند تأكيد التسليم</a:t>
            </a:r>
            <a:endParaRPr lang="en-US" sz="1350" dirty="0"/>
          </a:p>
          <a:p>
            <a:pPr algn="r" marL="342900" indent="-342900">
              <a:lnSpc>
                <a:spcPts val="1900"/>
              </a:lnSpc>
              <a:spcAft>
                <a:spcPts val="800"/>
              </a:spcAft>
              <a:buSzPct val="100000"/>
              <a:buChar char="•"/>
            </a:pPr>
            <a:r>
              <a:rPr lang="en-US" sz="1350" dirty="0">
                <a:solidFill>
                  <a:srgbClr val="0D2136"/>
                </a:solidFill>
                <a:latin typeface="Arial" pitchFamily="34" charset="0"/>
                <a:ea typeface="Arial" pitchFamily="34" charset="-122"/>
                <a:cs typeface="Arial" pitchFamily="34" charset="-120"/>
              </a:rPr>
              <a:t>الطلبات الآجلة تدخل الدفعة عند التسليم</a:t>
            </a:r>
            <a:endParaRPr lang="en-US" sz="1350" dirty="0"/>
          </a:p>
          <a:p>
            <a:pPr algn="r" marL="342900" indent="-342900">
              <a:lnSpc>
                <a:spcPts val="1900"/>
              </a:lnSpc>
              <a:spcAft>
                <a:spcPts val="800"/>
              </a:spcAft>
              <a:buSzPct val="100000"/>
              <a:buChar char="•"/>
            </a:pPr>
            <a:r>
              <a:rPr lang="en-US" sz="1350" dirty="0">
                <a:solidFill>
                  <a:srgbClr val="0D2136"/>
                </a:solidFill>
                <a:latin typeface="Arial" pitchFamily="34" charset="0"/>
                <a:ea typeface="Arial" pitchFamily="34" charset="-122"/>
                <a:cs typeface="Arial" pitchFamily="34" charset="-120"/>
              </a:rPr>
              <a:t>اسم الحالة: «مضمون — مستحق»</a:t>
            </a:r>
            <a:endParaRPr lang="en-US" sz="1350" dirty="0"/>
          </a:p>
          <a:p>
            <a:pPr algn="r" marL="342900" indent="-342900">
              <a:lnSpc>
                <a:spcPts val="1900"/>
              </a:lnSpc>
              <a:spcAft>
                <a:spcPts val="800"/>
              </a:spcAft>
              <a:buSzPct val="100000"/>
              <a:buChar char="•"/>
            </a:pPr>
            <a:r>
              <a:rPr lang="en-US" sz="1350" dirty="0">
                <a:solidFill>
                  <a:srgbClr val="0D2136"/>
                </a:solidFill>
                <a:latin typeface="Arial" pitchFamily="34" charset="0"/>
                <a:ea typeface="Arial" pitchFamily="34" charset="-122"/>
                <a:cs typeface="Arial" pitchFamily="34" charset="-120"/>
              </a:rPr>
              <a:t>Highbase تتحمل 300.000 من الانكشاف على بائع واحد</a:t>
            </a:r>
            <a:endParaRPr lang="en-US" sz="1350" dirty="0"/>
          </a:p>
        </p:txBody>
      </p:sp>
      <p:sp>
        <p:nvSpPr>
          <p:cNvPr id="13" name="Text 11"/>
          <p:cNvSpPr txBox="1"/>
          <p:nvPr/>
        </p:nvSpPr>
        <p:spPr>
          <a:xfrm>
            <a:off x="597103" y="4526280"/>
            <a:ext cx="10972800" cy="731520"/>
          </a:xfrm>
          <a:prstGeom prst="rect">
            <a:avLst/>
          </a:prstGeom>
          <a:noFill/>
          <a:ln/>
        </p:spPr>
        <p:txBody>
          <a:bodyPr wrap="square" lIns="0" tIns="0" rIns="0" bIns="0" rtlCol="0" anchor="ctr"/>
          <a:lstStyle/>
          <a:p>
            <a:pPr rtl="1" algn="r" indent="0" marL="0">
              <a:lnSpc>
                <a:spcPts val="2100"/>
              </a:lnSpc>
              <a:buNone/>
            </a:pPr>
            <a:r>
              <a:rPr lang="en-US" sz="1400" dirty="0">
                <a:solidFill>
                  <a:srgbClr val="5B7080"/>
                </a:solidFill>
                <a:latin typeface="Arial" pitchFamily="34" charset="0"/>
                <a:ea typeface="Arial" pitchFamily="34" charset="-122"/>
                <a:cs typeface="Arial" pitchFamily="34" charset="-120"/>
              </a:rPr>
              <a:t>النموذج الأولي يقدّم الاثنين كمفتاح تبديل، حتى تُراجَع البيانات نفسها بوصفها منتجين مختلفين. وهو القرار الوحيد الذي ينتظره كل ما يليه.</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11204143" y="475488"/>
            <a:ext cx="420624" cy="420624"/>
          </a:xfrm>
          <a:prstGeom prst="ellipse">
            <a:avLst/>
          </a:prstGeom>
          <a:solidFill>
            <a:srgbClr val="021A37"/>
          </a:solidFill>
          <a:ln/>
        </p:spPr>
      </p:sp>
      <p:sp>
        <p:nvSpPr>
          <p:cNvPr id="3" name="Text 1"/>
          <p:cNvSpPr txBox="1"/>
          <p:nvPr/>
        </p:nvSpPr>
        <p:spPr>
          <a:xfrm>
            <a:off x="11204143" y="475488"/>
            <a:ext cx="420624" cy="420624"/>
          </a:xfrm>
          <a:prstGeom prst="rect">
            <a:avLst/>
          </a:prstGeom>
          <a:noFill/>
          <a:ln/>
        </p:spPr>
        <p:txBody>
          <a:bodyPr wrap="square" lIns="0" tIns="0" rIns="0" bIns="0" rtlCol="0" anchor="ctr"/>
          <a:lstStyle/>
          <a:p>
            <a:pPr rtl="1" algn="ctr" indent="0" marL="0">
              <a:buNone/>
            </a:pPr>
            <a:r>
              <a:rPr lang="en-US" sz="1300" b="1" dirty="0">
                <a:solidFill>
                  <a:srgbClr val="FFFFFF"/>
                </a:solidFill>
                <a:latin typeface="Arial" pitchFamily="34" charset="0"/>
                <a:ea typeface="Arial" pitchFamily="34" charset="-122"/>
                <a:cs typeface="Arial" pitchFamily="34" charset="-120"/>
              </a:rPr>
              <a:t>10</a:t>
            </a:r>
            <a:endParaRPr lang="en-US" sz="1300" dirty="0"/>
          </a:p>
        </p:txBody>
      </p:sp>
      <p:sp>
        <p:nvSpPr>
          <p:cNvPr id="4" name="Text 2"/>
          <p:cNvSpPr txBox="1"/>
          <p:nvPr/>
        </p:nvSpPr>
        <p:spPr>
          <a:xfrm>
            <a:off x="597103" y="347472"/>
            <a:ext cx="10424160" cy="868680"/>
          </a:xfrm>
          <a:prstGeom prst="rect">
            <a:avLst/>
          </a:prstGeom>
          <a:noFill/>
          <a:ln/>
        </p:spPr>
        <p:txBody>
          <a:bodyPr wrap="square" lIns="0" tIns="0" rIns="0" bIns="0" rtlCol="0" anchor="ctr"/>
          <a:lstStyle/>
          <a:p>
            <a:pPr rtl="1" algn="r" indent="0" marL="0">
              <a:buNone/>
            </a:pPr>
            <a:r>
              <a:rPr lang="en-US" sz="2800" b="1" dirty="0">
                <a:solidFill>
                  <a:srgbClr val="021A37"/>
                </a:solidFill>
                <a:latin typeface="Arial" pitchFamily="34" charset="0"/>
                <a:ea typeface="Arial" pitchFamily="34" charset="-122"/>
                <a:cs typeface="Arial" pitchFamily="34" charset="-120"/>
              </a:rPr>
              <a:t>ثلاثة أسئلة مفتوحة، حُسمت الآن</a:t>
            </a:r>
            <a:endParaRPr lang="en-US" sz="2800" dirty="0"/>
          </a:p>
        </p:txBody>
      </p:sp>
      <p:sp>
        <p:nvSpPr>
          <p:cNvPr id="5" name="Shape 3"/>
          <p:cNvSpPr/>
          <p:nvPr/>
        </p:nvSpPr>
        <p:spPr>
          <a:xfrm>
            <a:off x="560527" y="1371600"/>
            <a:ext cx="11064240" cy="1335024"/>
          </a:xfrm>
          <a:prstGeom prst="roundRect">
            <a:avLst>
              <a:gd name="adj" fmla="val 6164"/>
            </a:avLst>
          </a:prstGeom>
          <a:solidFill>
            <a:srgbClr val="FFFFFF"/>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6" name="Shape 4"/>
          <p:cNvSpPr/>
          <p:nvPr/>
        </p:nvSpPr>
        <p:spPr>
          <a:xfrm>
            <a:off x="10765231" y="1783080"/>
            <a:ext cx="512064" cy="512064"/>
          </a:xfrm>
          <a:prstGeom prst="ellipse">
            <a:avLst/>
          </a:prstGeom>
          <a:solidFill>
            <a:srgbClr val="E9FDEE"/>
          </a:solidFill>
          <a:ln/>
        </p:spPr>
      </p:sp>
      <p:sp>
        <p:nvSpPr>
          <p:cNvPr id="7" name="Text 5"/>
          <p:cNvSpPr txBox="1"/>
          <p:nvPr/>
        </p:nvSpPr>
        <p:spPr>
          <a:xfrm>
            <a:off x="10765231" y="1783080"/>
            <a:ext cx="512064" cy="512064"/>
          </a:xfrm>
          <a:prstGeom prst="rect">
            <a:avLst/>
          </a:prstGeom>
          <a:noFill/>
          <a:ln/>
        </p:spPr>
        <p:txBody>
          <a:bodyPr wrap="square" lIns="0" tIns="0" rIns="0" bIns="0" rtlCol="0" anchor="ctr"/>
          <a:lstStyle/>
          <a:p>
            <a:pPr rtl="1" algn="ctr" indent="0" marL="0">
              <a:buNone/>
            </a:pPr>
            <a:r>
              <a:rPr lang="en-US" sz="1800" b="1" dirty="0">
                <a:solidFill>
                  <a:srgbClr val="1F9D55"/>
                </a:solidFill>
                <a:latin typeface="Arial" pitchFamily="34" charset="0"/>
                <a:ea typeface="Arial" pitchFamily="34" charset="-122"/>
                <a:cs typeface="Arial" pitchFamily="34" charset="-120"/>
              </a:rPr>
              <a:t>✓</a:t>
            </a:r>
            <a:endParaRPr lang="en-US" sz="1800" dirty="0"/>
          </a:p>
        </p:txBody>
      </p:sp>
      <p:sp>
        <p:nvSpPr>
          <p:cNvPr id="8" name="Text 6"/>
          <p:cNvSpPr txBox="1"/>
          <p:nvPr/>
        </p:nvSpPr>
        <p:spPr>
          <a:xfrm>
            <a:off x="889711" y="1554480"/>
            <a:ext cx="9601200" cy="365760"/>
          </a:xfrm>
          <a:prstGeom prst="rect">
            <a:avLst/>
          </a:prstGeom>
          <a:noFill/>
          <a:ln/>
        </p:spPr>
        <p:txBody>
          <a:bodyPr wrap="square" lIns="0" tIns="0" rIns="0" bIns="0" rtlCol="0" anchor="ctr"/>
          <a:lstStyle/>
          <a:p>
            <a:pPr rtl="1" algn="r" indent="0" marL="0">
              <a:buNone/>
            </a:pPr>
            <a:r>
              <a:rPr lang="en-US" sz="1800" b="1" dirty="0">
                <a:solidFill>
                  <a:srgbClr val="021A37"/>
                </a:solidFill>
                <a:latin typeface="Arial" pitchFamily="34" charset="0"/>
                <a:ea typeface="Arial" pitchFamily="34" charset="-122"/>
                <a:cs typeface="Arial" pitchFamily="34" charset="-120"/>
              </a:rPr>
              <a:t>تعارض بطاقات الأسعار</a:t>
            </a:r>
            <a:endParaRPr lang="en-US" sz="1800" dirty="0"/>
          </a:p>
        </p:txBody>
      </p:sp>
      <p:sp>
        <p:nvSpPr>
          <p:cNvPr id="9" name="Text 7"/>
          <p:cNvSpPr txBox="1"/>
          <p:nvPr/>
        </p:nvSpPr>
        <p:spPr>
          <a:xfrm>
            <a:off x="889711" y="1920240"/>
            <a:ext cx="9601200" cy="694944"/>
          </a:xfrm>
          <a:prstGeom prst="rect">
            <a:avLst/>
          </a:prstGeom>
          <a:noFill/>
          <a:ln/>
        </p:spPr>
        <p:txBody>
          <a:bodyPr wrap="square" lIns="0" tIns="0" rIns="0" bIns="0" rtlCol="0" anchor="ctr"/>
          <a:lstStyle/>
          <a:p>
            <a:pPr rtl="1" algn="r" indent="0" marL="0">
              <a:lnSpc>
                <a:spcPts val="1900"/>
              </a:lnSpc>
              <a:buNone/>
            </a:pPr>
            <a:r>
              <a:rPr lang="en-US" sz="1350" dirty="0">
                <a:solidFill>
                  <a:srgbClr val="5B7080"/>
                </a:solidFill>
                <a:latin typeface="Arial" pitchFamily="34" charset="0"/>
                <a:ea typeface="Arial" pitchFamily="34" charset="-122"/>
                <a:cs typeface="Arial" pitchFamily="34" charset="-120"/>
              </a:rPr>
              <a:t>نسبة الـ3% الثابتة في الدفتر هي التعاقدية. أما إعدادات الاشتراك فتعلن 10% على الطلب الأول و0% بعده — وهي شروط لم تُطبَّق على أي قيد. صار هذا خللاً يُصحَّح ومطالبة تُقدَّر، لا سؤالاً تجارياً مفتوحاً.</a:t>
            </a:r>
            <a:endParaRPr lang="en-US" sz="1350" dirty="0"/>
          </a:p>
        </p:txBody>
      </p:sp>
      <p:sp>
        <p:nvSpPr>
          <p:cNvPr id="10" name="Shape 8"/>
          <p:cNvSpPr/>
          <p:nvPr/>
        </p:nvSpPr>
        <p:spPr>
          <a:xfrm>
            <a:off x="560527" y="2889504"/>
            <a:ext cx="11064240" cy="1335024"/>
          </a:xfrm>
          <a:prstGeom prst="roundRect">
            <a:avLst>
              <a:gd name="adj" fmla="val 6164"/>
            </a:avLst>
          </a:prstGeom>
          <a:solidFill>
            <a:srgbClr val="FFFFFF"/>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11" name="Shape 9"/>
          <p:cNvSpPr/>
          <p:nvPr/>
        </p:nvSpPr>
        <p:spPr>
          <a:xfrm>
            <a:off x="10765231" y="3300984"/>
            <a:ext cx="512064" cy="512064"/>
          </a:xfrm>
          <a:prstGeom prst="ellipse">
            <a:avLst/>
          </a:prstGeom>
          <a:solidFill>
            <a:srgbClr val="E9FDEE"/>
          </a:solidFill>
          <a:ln/>
        </p:spPr>
      </p:sp>
      <p:sp>
        <p:nvSpPr>
          <p:cNvPr id="12" name="Text 10"/>
          <p:cNvSpPr txBox="1"/>
          <p:nvPr/>
        </p:nvSpPr>
        <p:spPr>
          <a:xfrm>
            <a:off x="10765231" y="3300984"/>
            <a:ext cx="512064" cy="512064"/>
          </a:xfrm>
          <a:prstGeom prst="rect">
            <a:avLst/>
          </a:prstGeom>
          <a:noFill/>
          <a:ln/>
        </p:spPr>
        <p:txBody>
          <a:bodyPr wrap="square" lIns="0" tIns="0" rIns="0" bIns="0" rtlCol="0" anchor="ctr"/>
          <a:lstStyle/>
          <a:p>
            <a:pPr rtl="1" algn="ctr" indent="0" marL="0">
              <a:buNone/>
            </a:pPr>
            <a:r>
              <a:rPr lang="en-US" sz="1800" b="1" dirty="0">
                <a:solidFill>
                  <a:srgbClr val="1F9D55"/>
                </a:solidFill>
                <a:latin typeface="Arial" pitchFamily="34" charset="0"/>
                <a:ea typeface="Arial" pitchFamily="34" charset="-122"/>
                <a:cs typeface="Arial" pitchFamily="34" charset="-120"/>
              </a:rPr>
              <a:t>✓</a:t>
            </a:r>
            <a:endParaRPr lang="en-US" sz="1800" dirty="0"/>
          </a:p>
        </p:txBody>
      </p:sp>
      <p:sp>
        <p:nvSpPr>
          <p:cNvPr id="13" name="Text 11"/>
          <p:cNvSpPr txBox="1"/>
          <p:nvPr/>
        </p:nvSpPr>
        <p:spPr>
          <a:xfrm>
            <a:off x="889711" y="3072384"/>
            <a:ext cx="9601200" cy="365760"/>
          </a:xfrm>
          <a:prstGeom prst="rect">
            <a:avLst/>
          </a:prstGeom>
          <a:noFill/>
          <a:ln/>
        </p:spPr>
        <p:txBody>
          <a:bodyPr wrap="square" lIns="0" tIns="0" rIns="0" bIns="0" rtlCol="0" anchor="ctr"/>
          <a:lstStyle/>
          <a:p>
            <a:pPr rtl="1" algn="r" indent="0" marL="0">
              <a:buNone/>
            </a:pPr>
            <a:r>
              <a:rPr lang="en-US" sz="1800" b="1" dirty="0">
                <a:solidFill>
                  <a:srgbClr val="021A37"/>
                </a:solidFill>
                <a:latin typeface="Arial" pitchFamily="34" charset="0"/>
                <a:ea typeface="Arial" pitchFamily="34" charset="-122"/>
                <a:cs typeface="Arial" pitchFamily="34" charset="-120"/>
              </a:rPr>
              <a:t>حد الفاتورة المبسّطة</a:t>
            </a:r>
            <a:endParaRPr lang="en-US" sz="1800" dirty="0"/>
          </a:p>
        </p:txBody>
      </p:sp>
      <p:sp>
        <p:nvSpPr>
          <p:cNvPr id="14" name="Text 12"/>
          <p:cNvSpPr txBox="1"/>
          <p:nvPr/>
        </p:nvSpPr>
        <p:spPr>
          <a:xfrm>
            <a:off x="889711" y="3438144"/>
            <a:ext cx="9601200" cy="694944"/>
          </a:xfrm>
          <a:prstGeom prst="rect">
            <a:avLst/>
          </a:prstGeom>
          <a:noFill/>
          <a:ln/>
        </p:spPr>
        <p:txBody>
          <a:bodyPr wrap="square" lIns="0" tIns="0" rIns="0" bIns="0" rtlCol="0" anchor="ctr"/>
          <a:lstStyle/>
          <a:p>
            <a:pPr rtl="1" algn="r" indent="0" marL="0">
              <a:lnSpc>
                <a:spcPts val="1900"/>
              </a:lnSpc>
              <a:buNone/>
            </a:pPr>
            <a:r>
              <a:rPr lang="en-US" sz="1350" dirty="0">
                <a:solidFill>
                  <a:srgbClr val="5B7080"/>
                </a:solidFill>
                <a:latin typeface="Arial" pitchFamily="34" charset="0"/>
                <a:ea typeface="Arial" pitchFamily="34" charset="-122"/>
                <a:cs typeface="Arial" pitchFamily="34" charset="-120"/>
              </a:rPr>
              <a:t>يُقاس على المبلغ الخاضع للضريبة قبل ضريبة القيمة المضافة — لا على إجمالي المستحق.</a:t>
            </a:r>
            <a:endParaRPr lang="en-US" sz="1350" dirty="0"/>
          </a:p>
        </p:txBody>
      </p:sp>
      <p:sp>
        <p:nvSpPr>
          <p:cNvPr id="15" name="Shape 13"/>
          <p:cNvSpPr/>
          <p:nvPr/>
        </p:nvSpPr>
        <p:spPr>
          <a:xfrm>
            <a:off x="560527" y="4407408"/>
            <a:ext cx="11064240" cy="1335024"/>
          </a:xfrm>
          <a:prstGeom prst="roundRect">
            <a:avLst>
              <a:gd name="adj" fmla="val 6164"/>
            </a:avLst>
          </a:prstGeom>
          <a:solidFill>
            <a:srgbClr val="FFFFFF"/>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16" name="Shape 14"/>
          <p:cNvSpPr/>
          <p:nvPr/>
        </p:nvSpPr>
        <p:spPr>
          <a:xfrm>
            <a:off x="10765231" y="4818888"/>
            <a:ext cx="512064" cy="512064"/>
          </a:xfrm>
          <a:prstGeom prst="ellipse">
            <a:avLst/>
          </a:prstGeom>
          <a:solidFill>
            <a:srgbClr val="E9FDEE"/>
          </a:solidFill>
          <a:ln/>
        </p:spPr>
      </p:sp>
      <p:sp>
        <p:nvSpPr>
          <p:cNvPr id="17" name="Text 15"/>
          <p:cNvSpPr txBox="1"/>
          <p:nvPr/>
        </p:nvSpPr>
        <p:spPr>
          <a:xfrm>
            <a:off x="10765231" y="4818888"/>
            <a:ext cx="512064" cy="512064"/>
          </a:xfrm>
          <a:prstGeom prst="rect">
            <a:avLst/>
          </a:prstGeom>
          <a:noFill/>
          <a:ln/>
        </p:spPr>
        <p:txBody>
          <a:bodyPr wrap="square" lIns="0" tIns="0" rIns="0" bIns="0" rtlCol="0" anchor="ctr"/>
          <a:lstStyle/>
          <a:p>
            <a:pPr rtl="1" algn="ctr" indent="0" marL="0">
              <a:buNone/>
            </a:pPr>
            <a:r>
              <a:rPr lang="en-US" sz="1800" b="1" dirty="0">
                <a:solidFill>
                  <a:srgbClr val="1F9D55"/>
                </a:solidFill>
                <a:latin typeface="Arial" pitchFamily="34" charset="0"/>
                <a:ea typeface="Arial" pitchFamily="34" charset="-122"/>
                <a:cs typeface="Arial" pitchFamily="34" charset="-120"/>
              </a:rPr>
              <a:t>✓</a:t>
            </a:r>
            <a:endParaRPr lang="en-US" sz="1800" dirty="0"/>
          </a:p>
        </p:txBody>
      </p:sp>
      <p:sp>
        <p:nvSpPr>
          <p:cNvPr id="18" name="Text 16"/>
          <p:cNvSpPr txBox="1"/>
          <p:nvPr/>
        </p:nvSpPr>
        <p:spPr>
          <a:xfrm>
            <a:off x="889711" y="4590288"/>
            <a:ext cx="9601200" cy="365760"/>
          </a:xfrm>
          <a:prstGeom prst="rect">
            <a:avLst/>
          </a:prstGeom>
          <a:noFill/>
          <a:ln/>
        </p:spPr>
        <p:txBody>
          <a:bodyPr wrap="square" lIns="0" tIns="0" rIns="0" bIns="0" rtlCol="0" anchor="ctr"/>
          <a:lstStyle/>
          <a:p>
            <a:pPr rtl="1" algn="r" indent="0" marL="0">
              <a:buNone/>
            </a:pPr>
            <a:r>
              <a:rPr lang="en-US" sz="1800" b="1" dirty="0">
                <a:solidFill>
                  <a:srgbClr val="021A37"/>
                </a:solidFill>
                <a:latin typeface="Arial" pitchFamily="34" charset="0"/>
                <a:ea typeface="Arial" pitchFamily="34" charset="-122"/>
                <a:cs typeface="Arial" pitchFamily="34" charset="-120"/>
              </a:rPr>
              <a:t>رصيد البائع ‎#1088</a:t>
            </a:r>
            <a:endParaRPr lang="en-US" sz="1800" dirty="0"/>
          </a:p>
        </p:txBody>
      </p:sp>
      <p:sp>
        <p:nvSpPr>
          <p:cNvPr id="19" name="Text 17"/>
          <p:cNvSpPr txBox="1"/>
          <p:nvPr/>
        </p:nvSpPr>
        <p:spPr>
          <a:xfrm>
            <a:off x="889711" y="4956048"/>
            <a:ext cx="9601200" cy="694944"/>
          </a:xfrm>
          <a:prstGeom prst="rect">
            <a:avLst/>
          </a:prstGeom>
          <a:noFill/>
          <a:ln/>
        </p:spPr>
        <p:txBody>
          <a:bodyPr wrap="square" lIns="0" tIns="0" rIns="0" bIns="0" rtlCol="0" anchor="ctr"/>
          <a:lstStyle/>
          <a:p>
            <a:pPr rtl="1" algn="r" indent="0" marL="0">
              <a:lnSpc>
                <a:spcPts val="1900"/>
              </a:lnSpc>
              <a:buNone/>
            </a:pPr>
            <a:r>
              <a:rPr lang="en-US" sz="1350" dirty="0">
                <a:solidFill>
                  <a:srgbClr val="5B7080"/>
                </a:solidFill>
                <a:latin typeface="Arial" pitchFamily="34" charset="0"/>
                <a:ea typeface="Arial" pitchFamily="34" charset="-122"/>
                <a:cs typeface="Arial" pitchFamily="34" charset="-120"/>
              </a:rPr>
              <a:t>54.600، لا 56.400 كما ورد في المستند. السطر المشتق في المستند يغفل عمولة الطلب نفسه البالغة 1.800؛ والمعادلة المجاورة له تعطي 54.600.</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11204143" y="475488"/>
            <a:ext cx="420624" cy="420624"/>
          </a:xfrm>
          <a:prstGeom prst="ellipse">
            <a:avLst/>
          </a:prstGeom>
          <a:solidFill>
            <a:srgbClr val="021A37"/>
          </a:solidFill>
          <a:ln/>
        </p:spPr>
      </p:sp>
      <p:sp>
        <p:nvSpPr>
          <p:cNvPr id="3" name="Text 1"/>
          <p:cNvSpPr txBox="1"/>
          <p:nvPr/>
        </p:nvSpPr>
        <p:spPr>
          <a:xfrm>
            <a:off x="11204143" y="475488"/>
            <a:ext cx="420624" cy="420624"/>
          </a:xfrm>
          <a:prstGeom prst="rect">
            <a:avLst/>
          </a:prstGeom>
          <a:noFill/>
          <a:ln/>
        </p:spPr>
        <p:txBody>
          <a:bodyPr wrap="square" lIns="0" tIns="0" rIns="0" bIns="0" rtlCol="0" anchor="ctr"/>
          <a:lstStyle/>
          <a:p>
            <a:pPr rtl="1" algn="ctr" indent="0" marL="0">
              <a:buNone/>
            </a:pPr>
            <a:r>
              <a:rPr lang="en-US" sz="1300" b="1" dirty="0">
                <a:solidFill>
                  <a:srgbClr val="FFFFFF"/>
                </a:solidFill>
                <a:latin typeface="Arial" pitchFamily="34" charset="0"/>
                <a:ea typeface="Arial" pitchFamily="34" charset="-122"/>
                <a:cs typeface="Arial" pitchFamily="34" charset="-120"/>
              </a:rPr>
              <a:t>11</a:t>
            </a:r>
            <a:endParaRPr lang="en-US" sz="1300" dirty="0"/>
          </a:p>
        </p:txBody>
      </p:sp>
      <p:sp>
        <p:nvSpPr>
          <p:cNvPr id="4" name="Text 2"/>
          <p:cNvSpPr txBox="1"/>
          <p:nvPr/>
        </p:nvSpPr>
        <p:spPr>
          <a:xfrm>
            <a:off x="597103" y="347472"/>
            <a:ext cx="10424160" cy="868680"/>
          </a:xfrm>
          <a:prstGeom prst="rect">
            <a:avLst/>
          </a:prstGeom>
          <a:noFill/>
          <a:ln/>
        </p:spPr>
        <p:txBody>
          <a:bodyPr wrap="square" lIns="0" tIns="0" rIns="0" bIns="0" rtlCol="0" anchor="ctr"/>
          <a:lstStyle/>
          <a:p>
            <a:pPr rtl="1" algn="r" indent="0" marL="0">
              <a:buNone/>
            </a:pPr>
            <a:r>
              <a:rPr lang="en-US" sz="2800" b="1" dirty="0">
                <a:solidFill>
                  <a:srgbClr val="021A37"/>
                </a:solidFill>
                <a:latin typeface="Arial" pitchFamily="34" charset="0"/>
                <a:ea typeface="Arial" pitchFamily="34" charset="-122"/>
                <a:cs typeface="Arial" pitchFamily="34" charset="-120"/>
              </a:rPr>
              <a:t>ما هو جاهز اليوم</a:t>
            </a:r>
            <a:endParaRPr lang="en-US" sz="2800" dirty="0"/>
          </a:p>
        </p:txBody>
      </p:sp>
      <p:sp>
        <p:nvSpPr>
          <p:cNvPr id="5" name="Text 3"/>
          <p:cNvSpPr txBox="1"/>
          <p:nvPr/>
        </p:nvSpPr>
        <p:spPr>
          <a:xfrm>
            <a:off x="597103" y="1371600"/>
            <a:ext cx="10972800" cy="868680"/>
          </a:xfrm>
          <a:prstGeom prst="rect">
            <a:avLst/>
          </a:prstGeom>
          <a:noFill/>
          <a:ln/>
        </p:spPr>
        <p:txBody>
          <a:bodyPr wrap="square" lIns="0" tIns="0" rIns="0" bIns="0" rtlCol="0" anchor="ctr"/>
          <a:lstStyle/>
          <a:p>
            <a:pPr rtl="1" algn="r" indent="0" marL="0">
              <a:lnSpc>
                <a:spcPts val="2500"/>
              </a:lnSpc>
              <a:buNone/>
            </a:pPr>
            <a:r>
              <a:rPr lang="en-US" sz="1550" dirty="0">
                <a:solidFill>
                  <a:srgbClr val="0D2136"/>
                </a:solidFill>
                <a:latin typeface="Arial" pitchFamily="34" charset="0"/>
                <a:ea typeface="Arial" pitchFamily="34" charset="-122"/>
                <a:cs typeface="Arial" pitchFamily="34" charset="-120"/>
              </a:rPr>
              <a:t>نموذج أولي قابل للنقر يغطي الواجهات الثلاث، وكلها تقرأ دفتراً واحداً. لا تعرض أي شاشة إجمالياً غير محسوب من القيود — وإذا ظهر رقم في موضعين فمصدره دالة واحدة.</a:t>
            </a:r>
            <a:endParaRPr lang="en-US" sz="1550" dirty="0"/>
          </a:p>
        </p:txBody>
      </p:sp>
      <p:sp>
        <p:nvSpPr>
          <p:cNvPr id="6" name="Shape 4"/>
          <p:cNvSpPr/>
          <p:nvPr/>
        </p:nvSpPr>
        <p:spPr>
          <a:xfrm>
            <a:off x="8954719" y="2432304"/>
            <a:ext cx="2670048" cy="1737360"/>
          </a:xfrm>
          <a:prstGeom prst="roundRect">
            <a:avLst>
              <a:gd name="adj" fmla="val 4737"/>
            </a:avLst>
          </a:prstGeom>
          <a:solidFill>
            <a:srgbClr val="F7FAFD"/>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7" name="Text 5"/>
          <p:cNvSpPr txBox="1"/>
          <p:nvPr/>
        </p:nvSpPr>
        <p:spPr>
          <a:xfrm>
            <a:off x="9137599" y="2651760"/>
            <a:ext cx="2304288" cy="822960"/>
          </a:xfrm>
          <a:prstGeom prst="rect">
            <a:avLst/>
          </a:prstGeom>
          <a:noFill/>
          <a:ln/>
        </p:spPr>
        <p:txBody>
          <a:bodyPr wrap="square" lIns="0" tIns="0" rIns="0" bIns="0" rtlCol="0" anchor="ctr"/>
          <a:lstStyle/>
          <a:p>
            <a:pPr rtl="1" algn="ctr" indent="0" marL="0">
              <a:buNone/>
            </a:pPr>
            <a:r>
              <a:rPr lang="en-US" sz="4600" b="1" dirty="0">
                <a:solidFill>
                  <a:srgbClr val="021A37"/>
                </a:solidFill>
                <a:latin typeface="Arial" pitchFamily="34" charset="0"/>
                <a:ea typeface="Arial" pitchFamily="34" charset="-122"/>
                <a:cs typeface="Arial" pitchFamily="34" charset="-120"/>
              </a:rPr>
              <a:t>3</a:t>
            </a:r>
            <a:endParaRPr lang="en-US" sz="4600" dirty="0"/>
          </a:p>
        </p:txBody>
      </p:sp>
      <p:sp>
        <p:nvSpPr>
          <p:cNvPr id="8" name="Text 6"/>
          <p:cNvSpPr txBox="1"/>
          <p:nvPr/>
        </p:nvSpPr>
        <p:spPr>
          <a:xfrm>
            <a:off x="9137599" y="3511296"/>
            <a:ext cx="2304288" cy="411480"/>
          </a:xfrm>
          <a:prstGeom prst="rect">
            <a:avLst/>
          </a:prstGeom>
          <a:noFill/>
          <a:ln/>
        </p:spPr>
        <p:txBody>
          <a:bodyPr wrap="square" lIns="0" tIns="0" rIns="0" bIns="0" rtlCol="0" anchor="ctr"/>
          <a:lstStyle/>
          <a:p>
            <a:pPr rtl="1" algn="ctr" indent="0" marL="0">
              <a:buNone/>
            </a:pPr>
            <a:r>
              <a:rPr lang="en-US" sz="1350" dirty="0">
                <a:solidFill>
                  <a:srgbClr val="5B7080"/>
                </a:solidFill>
                <a:latin typeface="Arial" pitchFamily="34" charset="0"/>
                <a:ea typeface="Arial" pitchFamily="34" charset="-122"/>
                <a:cs typeface="Arial" pitchFamily="34" charset="-120"/>
              </a:rPr>
              <a:t>واجهات</a:t>
            </a:r>
            <a:endParaRPr lang="en-US" sz="1350" dirty="0"/>
          </a:p>
        </p:txBody>
      </p:sp>
      <p:sp>
        <p:nvSpPr>
          <p:cNvPr id="9" name="Shape 7"/>
          <p:cNvSpPr/>
          <p:nvPr/>
        </p:nvSpPr>
        <p:spPr>
          <a:xfrm>
            <a:off x="6156655" y="2432304"/>
            <a:ext cx="2670048" cy="1737360"/>
          </a:xfrm>
          <a:prstGeom prst="roundRect">
            <a:avLst>
              <a:gd name="adj" fmla="val 4737"/>
            </a:avLst>
          </a:prstGeom>
          <a:solidFill>
            <a:srgbClr val="F7FAFD"/>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10" name="Text 8"/>
          <p:cNvSpPr txBox="1"/>
          <p:nvPr/>
        </p:nvSpPr>
        <p:spPr>
          <a:xfrm>
            <a:off x="6339535" y="2651760"/>
            <a:ext cx="2304288" cy="822960"/>
          </a:xfrm>
          <a:prstGeom prst="rect">
            <a:avLst/>
          </a:prstGeom>
          <a:noFill/>
          <a:ln/>
        </p:spPr>
        <p:txBody>
          <a:bodyPr wrap="square" lIns="0" tIns="0" rIns="0" bIns="0" rtlCol="0" anchor="ctr"/>
          <a:lstStyle/>
          <a:p>
            <a:pPr rtl="1" algn="ctr" indent="0" marL="0">
              <a:buNone/>
            </a:pPr>
            <a:r>
              <a:rPr lang="en-US" sz="4600" b="1" dirty="0">
                <a:solidFill>
                  <a:srgbClr val="021A37"/>
                </a:solidFill>
                <a:latin typeface="Arial" pitchFamily="34" charset="0"/>
                <a:ea typeface="Arial" pitchFamily="34" charset="-122"/>
                <a:cs typeface="Arial" pitchFamily="34" charset="-120"/>
              </a:rPr>
              <a:t>20</a:t>
            </a:r>
            <a:endParaRPr lang="en-US" sz="4600" dirty="0"/>
          </a:p>
        </p:txBody>
      </p:sp>
      <p:sp>
        <p:nvSpPr>
          <p:cNvPr id="11" name="Text 9"/>
          <p:cNvSpPr txBox="1"/>
          <p:nvPr/>
        </p:nvSpPr>
        <p:spPr>
          <a:xfrm>
            <a:off x="6339535" y="3511296"/>
            <a:ext cx="2304288" cy="411480"/>
          </a:xfrm>
          <a:prstGeom prst="rect">
            <a:avLst/>
          </a:prstGeom>
          <a:noFill/>
          <a:ln/>
        </p:spPr>
        <p:txBody>
          <a:bodyPr wrap="square" lIns="0" tIns="0" rIns="0" bIns="0" rtlCol="0" anchor="ctr"/>
          <a:lstStyle/>
          <a:p>
            <a:pPr rtl="1" algn="ctr" indent="0" marL="0">
              <a:buNone/>
            </a:pPr>
            <a:r>
              <a:rPr lang="en-US" sz="1350" dirty="0">
                <a:solidFill>
                  <a:srgbClr val="5B7080"/>
                </a:solidFill>
                <a:latin typeface="Arial" pitchFamily="34" charset="0"/>
                <a:ea typeface="Arial" pitchFamily="34" charset="-122"/>
                <a:cs typeface="Arial" pitchFamily="34" charset="-120"/>
              </a:rPr>
              <a:t>شاشة</a:t>
            </a:r>
            <a:endParaRPr lang="en-US" sz="1350" dirty="0"/>
          </a:p>
        </p:txBody>
      </p:sp>
      <p:sp>
        <p:nvSpPr>
          <p:cNvPr id="12" name="Shape 10"/>
          <p:cNvSpPr/>
          <p:nvPr/>
        </p:nvSpPr>
        <p:spPr>
          <a:xfrm>
            <a:off x="3358591" y="2432304"/>
            <a:ext cx="2670048" cy="1737360"/>
          </a:xfrm>
          <a:prstGeom prst="roundRect">
            <a:avLst>
              <a:gd name="adj" fmla="val 4737"/>
            </a:avLst>
          </a:prstGeom>
          <a:solidFill>
            <a:srgbClr val="F7FAFD"/>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13" name="Text 11"/>
          <p:cNvSpPr txBox="1"/>
          <p:nvPr/>
        </p:nvSpPr>
        <p:spPr>
          <a:xfrm>
            <a:off x="3541471" y="2651760"/>
            <a:ext cx="2304288" cy="822960"/>
          </a:xfrm>
          <a:prstGeom prst="rect">
            <a:avLst/>
          </a:prstGeom>
          <a:noFill/>
          <a:ln/>
        </p:spPr>
        <p:txBody>
          <a:bodyPr wrap="square" lIns="0" tIns="0" rIns="0" bIns="0" rtlCol="0" anchor="ctr"/>
          <a:lstStyle/>
          <a:p>
            <a:pPr rtl="1" algn="ctr" indent="0" marL="0">
              <a:buNone/>
            </a:pPr>
            <a:r>
              <a:rPr lang="en-US" sz="4600" b="1" dirty="0">
                <a:solidFill>
                  <a:srgbClr val="021A37"/>
                </a:solidFill>
                <a:latin typeface="Arial" pitchFamily="34" charset="0"/>
                <a:ea typeface="Arial" pitchFamily="34" charset="-122"/>
                <a:cs typeface="Arial" pitchFamily="34" charset="-120"/>
              </a:rPr>
              <a:t>52</a:t>
            </a:r>
            <a:endParaRPr lang="en-US" sz="4600" dirty="0"/>
          </a:p>
        </p:txBody>
      </p:sp>
      <p:sp>
        <p:nvSpPr>
          <p:cNvPr id="14" name="Text 12"/>
          <p:cNvSpPr txBox="1"/>
          <p:nvPr/>
        </p:nvSpPr>
        <p:spPr>
          <a:xfrm>
            <a:off x="3541471" y="3511296"/>
            <a:ext cx="2304288" cy="411480"/>
          </a:xfrm>
          <a:prstGeom prst="rect">
            <a:avLst/>
          </a:prstGeom>
          <a:noFill/>
          <a:ln/>
        </p:spPr>
        <p:txBody>
          <a:bodyPr wrap="square" lIns="0" tIns="0" rIns="0" bIns="0" rtlCol="0" anchor="ctr"/>
          <a:lstStyle/>
          <a:p>
            <a:pPr rtl="1" algn="ctr" indent="0" marL="0">
              <a:buNone/>
            </a:pPr>
            <a:r>
              <a:rPr lang="en-US" sz="1350" dirty="0">
                <a:solidFill>
                  <a:srgbClr val="5B7080"/>
                </a:solidFill>
                <a:latin typeface="Arial" pitchFamily="34" charset="0"/>
                <a:ea typeface="Arial" pitchFamily="34" charset="-122"/>
                <a:cs typeface="Arial" pitchFamily="34" charset="-120"/>
              </a:rPr>
              <a:t>اختبار للنموذج</a:t>
            </a:r>
            <a:endParaRPr lang="en-US" sz="1350" dirty="0"/>
          </a:p>
        </p:txBody>
      </p:sp>
      <p:sp>
        <p:nvSpPr>
          <p:cNvPr id="15" name="Shape 13"/>
          <p:cNvSpPr/>
          <p:nvPr/>
        </p:nvSpPr>
        <p:spPr>
          <a:xfrm>
            <a:off x="560527" y="2432304"/>
            <a:ext cx="2670048" cy="1737360"/>
          </a:xfrm>
          <a:prstGeom prst="roundRect">
            <a:avLst>
              <a:gd name="adj" fmla="val 4737"/>
            </a:avLst>
          </a:prstGeom>
          <a:solidFill>
            <a:srgbClr val="E9FDEE"/>
          </a:solidFill>
          <a:ln w="12700">
            <a:solidFill>
              <a:srgbClr val="C9EED6"/>
            </a:solidFill>
            <a:prstDash val="solid"/>
          </a:ln>
          <a:effectLst>
            <a:outerShdw sx="100000" sy="100000" kx="0" ky="0" algn="bl" rotWithShape="0" blurRad="127000" dist="25400" dir="5400000">
              <a:srgbClr val="021A37">
                <a:alpha val="7000"/>
              </a:srgbClr>
            </a:outerShdw>
          </a:effectLst>
        </p:spPr>
      </p:sp>
      <p:sp>
        <p:nvSpPr>
          <p:cNvPr id="16" name="Text 14"/>
          <p:cNvSpPr txBox="1"/>
          <p:nvPr/>
        </p:nvSpPr>
        <p:spPr>
          <a:xfrm>
            <a:off x="743407" y="2651760"/>
            <a:ext cx="2304288" cy="822960"/>
          </a:xfrm>
          <a:prstGeom prst="rect">
            <a:avLst/>
          </a:prstGeom>
          <a:noFill/>
          <a:ln/>
        </p:spPr>
        <p:txBody>
          <a:bodyPr wrap="square" lIns="0" tIns="0" rIns="0" bIns="0" rtlCol="0" anchor="ctr"/>
          <a:lstStyle/>
          <a:p>
            <a:pPr rtl="1" algn="ctr" indent="0" marL="0">
              <a:buNone/>
            </a:pPr>
            <a:r>
              <a:rPr lang="en-US" sz="4600" b="1" dirty="0">
                <a:solidFill>
                  <a:srgbClr val="1F9D55"/>
                </a:solidFill>
                <a:latin typeface="Arial" pitchFamily="34" charset="0"/>
                <a:ea typeface="Arial" pitchFamily="34" charset="-122"/>
                <a:cs typeface="Arial" pitchFamily="34" charset="-120"/>
              </a:rPr>
              <a:t>0</a:t>
            </a:r>
            <a:endParaRPr lang="en-US" sz="4600" dirty="0"/>
          </a:p>
        </p:txBody>
      </p:sp>
      <p:sp>
        <p:nvSpPr>
          <p:cNvPr id="17" name="Text 15"/>
          <p:cNvSpPr txBox="1"/>
          <p:nvPr/>
        </p:nvSpPr>
        <p:spPr>
          <a:xfrm>
            <a:off x="743407" y="3511296"/>
            <a:ext cx="2304288" cy="411480"/>
          </a:xfrm>
          <a:prstGeom prst="rect">
            <a:avLst/>
          </a:prstGeom>
          <a:noFill/>
          <a:ln/>
        </p:spPr>
        <p:txBody>
          <a:bodyPr wrap="square" lIns="0" tIns="0" rIns="0" bIns="0" rtlCol="0" anchor="ctr"/>
          <a:lstStyle/>
          <a:p>
            <a:pPr rtl="1" algn="ctr" indent="0" marL="0">
              <a:buNone/>
            </a:pPr>
            <a:r>
              <a:rPr lang="en-US" sz="1350" dirty="0">
                <a:solidFill>
                  <a:srgbClr val="5B7080"/>
                </a:solidFill>
                <a:latin typeface="Arial" pitchFamily="34" charset="0"/>
                <a:ea typeface="Arial" pitchFamily="34" charset="-122"/>
                <a:cs typeface="Arial" pitchFamily="34" charset="-120"/>
              </a:rPr>
              <a:t>حالات فشل</a:t>
            </a:r>
            <a:endParaRPr lang="en-US" sz="1350" dirty="0"/>
          </a:p>
        </p:txBody>
      </p:sp>
      <p:sp>
        <p:nvSpPr>
          <p:cNvPr id="18" name="Text 16"/>
          <p:cNvSpPr txBox="1"/>
          <p:nvPr/>
        </p:nvSpPr>
        <p:spPr>
          <a:xfrm>
            <a:off x="597103" y="4425696"/>
            <a:ext cx="10972800" cy="548640"/>
          </a:xfrm>
          <a:prstGeom prst="rect">
            <a:avLst/>
          </a:prstGeom>
          <a:noFill/>
          <a:ln/>
        </p:spPr>
        <p:txBody>
          <a:bodyPr wrap="square" lIns="0" tIns="0" rIns="0" bIns="0" rtlCol="0" anchor="ctr"/>
          <a:lstStyle/>
          <a:p>
            <a:pPr rtl="1" algn="r" indent="0" marL="0">
              <a:lnSpc>
                <a:spcPts val="2100"/>
              </a:lnSpc>
              <a:buNone/>
            </a:pPr>
            <a:r>
              <a:rPr lang="en-US" sz="1400" dirty="0">
                <a:solidFill>
                  <a:srgbClr val="5B7080"/>
                </a:solidFill>
                <a:latin typeface="Arial" pitchFamily="34" charset="0"/>
                <a:ea typeface="Arial" pitchFamily="34" charset="-122"/>
                <a:cs typeface="Arial" pitchFamily="34" charset="-120"/>
              </a:rPr>
              <a:t>وأربع مجموعات اختبار تُشغَّل داخل المتصفح تغطي الواجهات نفسها — البائع، والإدارة، والمشتري، والنسخة أحادية الملف — جميعها ناجحة.</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21A37"/>
        </a:solidFill>
      </p:bgPr>
    </p:bg>
    <p:spTree>
      <p:nvGrpSpPr>
        <p:cNvPr id="1" name=""/>
        <p:cNvGrpSpPr/>
        <p:nvPr/>
      </p:nvGrpSpPr>
      <p:grpSpPr>
        <a:xfrm>
          <a:off x="0" y="0"/>
          <a:ext cx="0" cy="0"/>
          <a:chOff x="0" y="0"/>
          <a:chExt cx="0" cy="0"/>
        </a:xfrm>
      </p:grpSpPr>
      <p:sp>
        <p:nvSpPr>
          <p:cNvPr id="2" name="Text 0"/>
          <p:cNvSpPr txBox="1"/>
          <p:nvPr/>
        </p:nvSpPr>
        <p:spPr>
          <a:xfrm>
            <a:off x="853135" y="658368"/>
            <a:ext cx="10515600" cy="731520"/>
          </a:xfrm>
          <a:prstGeom prst="rect">
            <a:avLst/>
          </a:prstGeom>
          <a:noFill/>
          <a:ln/>
        </p:spPr>
        <p:txBody>
          <a:bodyPr wrap="square" lIns="0" tIns="0" rIns="0" bIns="0" rtlCol="0" anchor="ctr"/>
          <a:lstStyle/>
          <a:p>
            <a:pPr rtl="1" algn="r" indent="0" marL="0">
              <a:buNone/>
            </a:pPr>
            <a:r>
              <a:rPr lang="en-US" sz="3800" b="1" dirty="0">
                <a:solidFill>
                  <a:srgbClr val="FFFFFF"/>
                </a:solidFill>
                <a:latin typeface="Arial" pitchFamily="34" charset="0"/>
                <a:ea typeface="Arial" pitchFamily="34" charset="-122"/>
                <a:cs typeface="Arial" pitchFamily="34" charset="-120"/>
              </a:rPr>
              <a:t>ما نحتاجه منكم</a:t>
            </a:r>
            <a:endParaRPr lang="en-US" sz="3800" dirty="0"/>
          </a:p>
        </p:txBody>
      </p:sp>
      <p:sp>
        <p:nvSpPr>
          <p:cNvPr id="3" name="Shape 1"/>
          <p:cNvSpPr/>
          <p:nvPr/>
        </p:nvSpPr>
        <p:spPr>
          <a:xfrm>
            <a:off x="560527" y="1810512"/>
            <a:ext cx="11064240" cy="1243584"/>
          </a:xfrm>
          <a:prstGeom prst="roundRect">
            <a:avLst>
              <a:gd name="adj" fmla="val 6618"/>
            </a:avLst>
          </a:prstGeom>
          <a:solidFill>
            <a:srgbClr val="102641"/>
          </a:solidFill>
          <a:ln w="12700">
            <a:solidFill>
              <a:srgbClr val="1D3A59"/>
            </a:solidFill>
            <a:prstDash val="solid"/>
          </a:ln>
        </p:spPr>
      </p:sp>
      <p:sp>
        <p:nvSpPr>
          <p:cNvPr id="4" name="Text 2"/>
          <p:cNvSpPr txBox="1"/>
          <p:nvPr/>
        </p:nvSpPr>
        <p:spPr>
          <a:xfrm>
            <a:off x="10710367" y="2148840"/>
            <a:ext cx="566928" cy="566928"/>
          </a:xfrm>
          <a:prstGeom prst="rect">
            <a:avLst/>
          </a:prstGeom>
          <a:noFill/>
          <a:ln/>
        </p:spPr>
        <p:txBody>
          <a:bodyPr wrap="square" lIns="0" tIns="0" rIns="0" bIns="0" rtlCol="0" anchor="ctr"/>
          <a:lstStyle/>
          <a:p>
            <a:pPr rtl="1" algn="ctr" indent="0" marL="0">
              <a:buNone/>
            </a:pPr>
            <a:r>
              <a:rPr lang="en-US" sz="2000" b="1" dirty="0">
                <a:solidFill>
                  <a:srgbClr val="FE8E00"/>
                </a:solidFill>
                <a:latin typeface="Arial" pitchFamily="34" charset="0"/>
                <a:ea typeface="Arial" pitchFamily="34" charset="-122"/>
                <a:cs typeface="Arial" pitchFamily="34" charset="-120"/>
              </a:rPr>
              <a:t>1</a:t>
            </a:r>
            <a:endParaRPr lang="en-US" sz="2000" dirty="0"/>
          </a:p>
        </p:txBody>
      </p:sp>
      <p:sp>
        <p:nvSpPr>
          <p:cNvPr id="5" name="Text 3"/>
          <p:cNvSpPr txBox="1"/>
          <p:nvPr/>
        </p:nvSpPr>
        <p:spPr>
          <a:xfrm>
            <a:off x="889711" y="1975104"/>
            <a:ext cx="9601200" cy="384048"/>
          </a:xfrm>
          <a:prstGeom prst="rect">
            <a:avLst/>
          </a:prstGeom>
          <a:noFill/>
          <a:ln/>
        </p:spPr>
        <p:txBody>
          <a:bodyPr wrap="square" lIns="0" tIns="0" rIns="0" bIns="0" rtlCol="0" anchor="ctr"/>
          <a:lstStyle/>
          <a:p>
            <a:pPr rtl="1" algn="r" indent="0" marL="0">
              <a:buNone/>
            </a:pPr>
            <a:r>
              <a:rPr lang="en-US" sz="1900" b="1" dirty="0">
                <a:solidFill>
                  <a:srgbClr val="FFFFFF"/>
                </a:solidFill>
                <a:latin typeface="Arial" pitchFamily="34" charset="0"/>
                <a:ea typeface="Arial" pitchFamily="34" charset="-122"/>
                <a:cs typeface="Arial" pitchFamily="34" charset="-120"/>
              </a:rPr>
              <a:t>حسم نموذج المخاطر</a:t>
            </a:r>
            <a:endParaRPr lang="en-US" sz="1900" dirty="0"/>
          </a:p>
        </p:txBody>
      </p:sp>
      <p:sp>
        <p:nvSpPr>
          <p:cNvPr id="6" name="Text 4"/>
          <p:cNvSpPr txBox="1"/>
          <p:nvPr/>
        </p:nvSpPr>
        <p:spPr>
          <a:xfrm>
            <a:off x="889711" y="2359152"/>
            <a:ext cx="9601200" cy="566928"/>
          </a:xfrm>
          <a:prstGeom prst="rect">
            <a:avLst/>
          </a:prstGeom>
          <a:noFill/>
          <a:ln/>
        </p:spPr>
        <p:txBody>
          <a:bodyPr wrap="square" lIns="0" tIns="0" rIns="0" bIns="0" rtlCol="0" anchor="ctr"/>
          <a:lstStyle/>
          <a:p>
            <a:pPr rtl="1" algn="r" indent="0" marL="0">
              <a:lnSpc>
                <a:spcPts val="1900"/>
              </a:lnSpc>
              <a:buNone/>
            </a:pPr>
            <a:r>
              <a:rPr lang="en-US" sz="1350" dirty="0">
                <a:solidFill>
                  <a:srgbClr val="A9C3DA"/>
                </a:solidFill>
                <a:latin typeface="Arial" pitchFamily="34" charset="0"/>
                <a:ea typeface="Arial" pitchFamily="34" charset="-122"/>
                <a:cs typeface="Arial" pitchFamily="34" charset="-120"/>
              </a:rPr>
              <a:t>وكيل أم ضامن. الدفعات والانكشاف ونصف النصوص تنتظر هذه الإجابة وحدها.</a:t>
            </a:r>
            <a:endParaRPr lang="en-US" sz="1350" dirty="0"/>
          </a:p>
        </p:txBody>
      </p:sp>
      <p:sp>
        <p:nvSpPr>
          <p:cNvPr id="7" name="Shape 5"/>
          <p:cNvSpPr/>
          <p:nvPr/>
        </p:nvSpPr>
        <p:spPr>
          <a:xfrm>
            <a:off x="560527" y="3273552"/>
            <a:ext cx="11064240" cy="1243584"/>
          </a:xfrm>
          <a:prstGeom prst="roundRect">
            <a:avLst>
              <a:gd name="adj" fmla="val 6618"/>
            </a:avLst>
          </a:prstGeom>
          <a:solidFill>
            <a:srgbClr val="102641"/>
          </a:solidFill>
          <a:ln w="12700">
            <a:solidFill>
              <a:srgbClr val="1D3A59"/>
            </a:solidFill>
            <a:prstDash val="solid"/>
          </a:ln>
        </p:spPr>
      </p:sp>
      <p:sp>
        <p:nvSpPr>
          <p:cNvPr id="8" name="Text 6"/>
          <p:cNvSpPr txBox="1"/>
          <p:nvPr/>
        </p:nvSpPr>
        <p:spPr>
          <a:xfrm>
            <a:off x="10710367" y="3611880"/>
            <a:ext cx="566928" cy="566928"/>
          </a:xfrm>
          <a:prstGeom prst="rect">
            <a:avLst/>
          </a:prstGeom>
          <a:noFill/>
          <a:ln/>
        </p:spPr>
        <p:txBody>
          <a:bodyPr wrap="square" lIns="0" tIns="0" rIns="0" bIns="0" rtlCol="0" anchor="ctr"/>
          <a:lstStyle/>
          <a:p>
            <a:pPr rtl="1" algn="ctr" indent="0" marL="0">
              <a:buNone/>
            </a:pPr>
            <a:r>
              <a:rPr lang="en-US" sz="2000" b="1" dirty="0">
                <a:solidFill>
                  <a:srgbClr val="FE8E00"/>
                </a:solidFill>
                <a:latin typeface="Arial" pitchFamily="34" charset="0"/>
                <a:ea typeface="Arial" pitchFamily="34" charset="-122"/>
                <a:cs typeface="Arial" pitchFamily="34" charset="-120"/>
              </a:rPr>
              <a:t>2</a:t>
            </a:r>
            <a:endParaRPr lang="en-US" sz="2000" dirty="0"/>
          </a:p>
        </p:txBody>
      </p:sp>
      <p:sp>
        <p:nvSpPr>
          <p:cNvPr id="9" name="Text 7"/>
          <p:cNvSpPr txBox="1"/>
          <p:nvPr/>
        </p:nvSpPr>
        <p:spPr>
          <a:xfrm>
            <a:off x="889711" y="3438144"/>
            <a:ext cx="9601200" cy="384048"/>
          </a:xfrm>
          <a:prstGeom prst="rect">
            <a:avLst/>
          </a:prstGeom>
          <a:noFill/>
          <a:ln/>
        </p:spPr>
        <p:txBody>
          <a:bodyPr wrap="square" lIns="0" tIns="0" rIns="0" bIns="0" rtlCol="0" anchor="ctr"/>
          <a:lstStyle/>
          <a:p>
            <a:pPr rtl="1" algn="r" indent="0" marL="0">
              <a:buNone/>
            </a:pPr>
            <a:r>
              <a:rPr lang="en-US" sz="1900" b="1" dirty="0">
                <a:solidFill>
                  <a:srgbClr val="FFFFFF"/>
                </a:solidFill>
                <a:latin typeface="Arial" pitchFamily="34" charset="0"/>
                <a:ea typeface="Arial" pitchFamily="34" charset="-122"/>
                <a:cs typeface="Arial" pitchFamily="34" charset="-120"/>
              </a:rPr>
              <a:t>جعل الضابط بوابة</a:t>
            </a:r>
            <a:endParaRPr lang="en-US" sz="1900" dirty="0"/>
          </a:p>
        </p:txBody>
      </p:sp>
      <p:sp>
        <p:nvSpPr>
          <p:cNvPr id="10" name="Text 8"/>
          <p:cNvSpPr txBox="1"/>
          <p:nvPr/>
        </p:nvSpPr>
        <p:spPr>
          <a:xfrm>
            <a:off x="889711" y="3822192"/>
            <a:ext cx="9601200" cy="566928"/>
          </a:xfrm>
          <a:prstGeom prst="rect">
            <a:avLst/>
          </a:prstGeom>
          <a:noFill/>
          <a:ln/>
        </p:spPr>
        <p:txBody>
          <a:bodyPr wrap="square" lIns="0" tIns="0" rIns="0" bIns="0" rtlCol="0" anchor="ctr"/>
          <a:lstStyle/>
          <a:p>
            <a:pPr rtl="1" algn="r" indent="0" marL="0">
              <a:lnSpc>
                <a:spcPts val="1900"/>
              </a:lnSpc>
              <a:buNone/>
            </a:pPr>
            <a:r>
              <a:rPr lang="en-US" sz="1350" dirty="0">
                <a:solidFill>
                  <a:srgbClr val="A9C3DA"/>
                </a:solidFill>
                <a:latin typeface="Arial" pitchFamily="34" charset="0"/>
                <a:ea typeface="Arial" pitchFamily="34" charset="-122"/>
                <a:cs typeface="Arial" pitchFamily="34" charset="-120"/>
              </a:rPr>
              <a:t>أن تعمل المطابقة قبل كل دورة تسوية وأن تملك رفضها — لا أن تُقرأ تقريراً بعد وقوعها.</a:t>
            </a:r>
            <a:endParaRPr lang="en-US" sz="1350" dirty="0"/>
          </a:p>
        </p:txBody>
      </p:sp>
      <p:sp>
        <p:nvSpPr>
          <p:cNvPr id="11" name="Shape 9"/>
          <p:cNvSpPr/>
          <p:nvPr/>
        </p:nvSpPr>
        <p:spPr>
          <a:xfrm>
            <a:off x="560527" y="4736592"/>
            <a:ext cx="11064240" cy="1243584"/>
          </a:xfrm>
          <a:prstGeom prst="roundRect">
            <a:avLst>
              <a:gd name="adj" fmla="val 6618"/>
            </a:avLst>
          </a:prstGeom>
          <a:solidFill>
            <a:srgbClr val="102641"/>
          </a:solidFill>
          <a:ln w="12700">
            <a:solidFill>
              <a:srgbClr val="1D3A59"/>
            </a:solidFill>
            <a:prstDash val="solid"/>
          </a:ln>
        </p:spPr>
      </p:sp>
      <p:sp>
        <p:nvSpPr>
          <p:cNvPr id="12" name="Text 10"/>
          <p:cNvSpPr txBox="1"/>
          <p:nvPr/>
        </p:nvSpPr>
        <p:spPr>
          <a:xfrm>
            <a:off x="10710367" y="5074920"/>
            <a:ext cx="566928" cy="566928"/>
          </a:xfrm>
          <a:prstGeom prst="rect">
            <a:avLst/>
          </a:prstGeom>
          <a:noFill/>
          <a:ln/>
        </p:spPr>
        <p:txBody>
          <a:bodyPr wrap="square" lIns="0" tIns="0" rIns="0" bIns="0" rtlCol="0" anchor="ctr"/>
          <a:lstStyle/>
          <a:p>
            <a:pPr rtl="1" algn="ctr" indent="0" marL="0">
              <a:buNone/>
            </a:pPr>
            <a:r>
              <a:rPr lang="en-US" sz="2000" b="1" dirty="0">
                <a:solidFill>
                  <a:srgbClr val="FE8E00"/>
                </a:solidFill>
                <a:latin typeface="Arial" pitchFamily="34" charset="0"/>
                <a:ea typeface="Arial" pitchFamily="34" charset="-122"/>
                <a:cs typeface="Arial" pitchFamily="34" charset="-120"/>
              </a:rPr>
              <a:t>3</a:t>
            </a:r>
            <a:endParaRPr lang="en-US" sz="2000" dirty="0"/>
          </a:p>
        </p:txBody>
      </p:sp>
      <p:sp>
        <p:nvSpPr>
          <p:cNvPr id="13" name="Text 11"/>
          <p:cNvSpPr txBox="1"/>
          <p:nvPr/>
        </p:nvSpPr>
        <p:spPr>
          <a:xfrm>
            <a:off x="889711" y="4901184"/>
            <a:ext cx="9601200" cy="384048"/>
          </a:xfrm>
          <a:prstGeom prst="rect">
            <a:avLst/>
          </a:prstGeom>
          <a:noFill/>
          <a:ln/>
        </p:spPr>
        <p:txBody>
          <a:bodyPr wrap="square" lIns="0" tIns="0" rIns="0" bIns="0" rtlCol="0" anchor="ctr"/>
          <a:lstStyle/>
          <a:p>
            <a:pPr rtl="1" algn="r" indent="0" marL="0">
              <a:buNone/>
            </a:pPr>
            <a:r>
              <a:rPr lang="en-US" sz="1900" b="1" dirty="0">
                <a:solidFill>
                  <a:srgbClr val="FFFFFF"/>
                </a:solidFill>
                <a:latin typeface="Arial" pitchFamily="34" charset="0"/>
                <a:ea typeface="Arial" pitchFamily="34" charset="-122"/>
                <a:cs typeface="Arial" pitchFamily="34" charset="-120"/>
              </a:rPr>
              <a:t>تصحيح إعدادات الاشتراك</a:t>
            </a:r>
            <a:endParaRPr lang="en-US" sz="1900" dirty="0"/>
          </a:p>
        </p:txBody>
      </p:sp>
      <p:sp>
        <p:nvSpPr>
          <p:cNvPr id="14" name="Text 12"/>
          <p:cNvSpPr txBox="1"/>
          <p:nvPr/>
        </p:nvSpPr>
        <p:spPr>
          <a:xfrm>
            <a:off x="889711" y="5285232"/>
            <a:ext cx="9601200" cy="566928"/>
          </a:xfrm>
          <a:prstGeom prst="rect">
            <a:avLst/>
          </a:prstGeom>
          <a:noFill/>
          <a:ln/>
        </p:spPr>
        <p:txBody>
          <a:bodyPr wrap="square" lIns="0" tIns="0" rIns="0" bIns="0" rtlCol="0" anchor="ctr"/>
          <a:lstStyle/>
          <a:p>
            <a:pPr rtl="1" algn="r" indent="0" marL="0">
              <a:lnSpc>
                <a:spcPts val="1900"/>
              </a:lnSpc>
              <a:buNone/>
            </a:pPr>
            <a:r>
              <a:rPr lang="en-US" sz="1350" dirty="0">
                <a:solidFill>
                  <a:srgbClr val="A9C3DA"/>
                </a:solidFill>
                <a:latin typeface="Arial" pitchFamily="34" charset="0"/>
                <a:ea typeface="Arial" pitchFamily="34" charset="-122"/>
                <a:cs typeface="Arial" pitchFamily="34" charset="-120"/>
              </a:rPr>
              <a:t>وتقدير حجم المطالبة من البائعين الذين اشتركوا على شروط لم يطبّقها الدفتر قط.</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وحدة الفوترة في Highbase</dc:title>
  <dc:subject>مراجعة مفهوم وحدة الفوترة</dc:subject>
  <dc:creator>Highbase</dc:creator>
  <cp:lastModifiedBy>Highbase</cp:lastModifiedBy>
  <cp:revision>1</cp:revision>
  <dcterms:created xsi:type="dcterms:W3CDTF">2026-09-09T18:48:12Z</dcterms:created>
  <dcterms:modified xsi:type="dcterms:W3CDTF">2026-09-09T18:48:12Z</dcterms:modified>
</cp:coreProperties>
</file>