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derived from the prototype build, not from the brief text. Every figure was read out of data.js.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A37"/>
        </a:solidFill>
      </p:bgPr>
    </p:bg>
    <p:spTree>
      <p:nvGrpSpPr>
        <p:cNvPr id="1" name=""/>
        <p:cNvGrpSpPr/>
        <p:nvPr/>
      </p:nvGrpSpPr>
      <p:grpSpPr>
        <a:xfrm>
          <a:off x="0" y="0"/>
          <a:ext cx="0" cy="0"/>
          <a:chOff x="0" y="0"/>
          <a:chExt cx="0" cy="0"/>
        </a:xfrm>
      </p:grpSpPr>
      <p:sp>
        <p:nvSpPr>
          <p:cNvPr id="2" name="Text 0"/>
          <p:cNvSpPr txBox="1"/>
          <p:nvPr/>
        </p:nvSpPr>
        <p:spPr>
          <a:xfrm>
            <a:off x="822960" y="1371600"/>
            <a:ext cx="7315200" cy="274320"/>
          </a:xfrm>
          <a:prstGeom prst="rect">
            <a:avLst/>
          </a:prstGeom>
          <a:noFill/>
          <a:ln/>
        </p:spPr>
        <p:txBody>
          <a:bodyPr wrap="square" lIns="0" tIns="0" rIns="0" bIns="0" rtlCol="0" anchor="ctr"/>
          <a:lstStyle/>
          <a:p>
            <a:pPr algn="l" indent="0" marL="0">
              <a:buNone/>
            </a:pPr>
            <a:r>
              <a:rPr lang="en-US" sz="1200" b="1" spc="200" kern="0" dirty="0">
                <a:solidFill>
                  <a:srgbClr val="FE8E00"/>
                </a:solidFill>
                <a:latin typeface="Calibri" pitchFamily="34" charset="0"/>
                <a:ea typeface="Calibri" pitchFamily="34" charset="-122"/>
                <a:cs typeface="Calibri" pitchFamily="34" charset="-120"/>
              </a:rPr>
              <a:t>PROTOTYPE REVIEW · PM &amp; CEO</a:t>
            </a:r>
            <a:endParaRPr lang="en-US" sz="1200" dirty="0"/>
          </a:p>
        </p:txBody>
      </p:sp>
      <p:sp>
        <p:nvSpPr>
          <p:cNvPr id="3" name="Text 1"/>
          <p:cNvSpPr txBox="1"/>
          <p:nvPr/>
        </p:nvSpPr>
        <p:spPr>
          <a:xfrm>
            <a:off x="822960" y="1828800"/>
            <a:ext cx="10058400" cy="914400"/>
          </a:xfrm>
          <a:prstGeom prst="rect">
            <a:avLst/>
          </a:prstGeom>
          <a:noFill/>
          <a:ln/>
        </p:spPr>
        <p:txBody>
          <a:bodyPr wrap="square" lIns="0" tIns="0" rIns="0" bIns="0" rtlCol="0" anchor="ctr"/>
          <a:lstStyle/>
          <a:p>
            <a:pPr algn="l" indent="0" marL="0">
              <a:buNone/>
            </a:pPr>
            <a:r>
              <a:rPr lang="en-US" sz="4800" b="1" dirty="0">
                <a:solidFill>
                  <a:srgbClr val="FFFFFF"/>
                </a:solidFill>
                <a:latin typeface="Cambria" pitchFamily="34" charset="0"/>
                <a:ea typeface="Cambria" pitchFamily="34" charset="-122"/>
                <a:cs typeface="Cambria" pitchFamily="34" charset="-120"/>
              </a:rPr>
              <a:t>Highbase Billing Module</a:t>
            </a:r>
            <a:endParaRPr lang="en-US" sz="4800" dirty="0"/>
          </a:p>
        </p:txBody>
      </p:sp>
      <p:sp>
        <p:nvSpPr>
          <p:cNvPr id="4" name="Text 2"/>
          <p:cNvSpPr txBox="1"/>
          <p:nvPr/>
        </p:nvSpPr>
        <p:spPr>
          <a:xfrm>
            <a:off x="822960" y="2788920"/>
            <a:ext cx="10058400" cy="731520"/>
          </a:xfrm>
          <a:prstGeom prst="rect">
            <a:avLst/>
          </a:prstGeom>
          <a:noFill/>
          <a:ln/>
        </p:spPr>
        <p:txBody>
          <a:bodyPr wrap="square" lIns="0" tIns="0" rIns="0" bIns="0" rtlCol="0" anchor="ctr"/>
          <a:lstStyle/>
          <a:p>
            <a:pPr algn="l" indent="0" marL="0">
              <a:buNone/>
            </a:pPr>
            <a:r>
              <a:rPr lang="en-US" sz="3400" dirty="0">
                <a:solidFill>
                  <a:srgbClr val="7FC4F0"/>
                </a:solidFill>
                <a:latin typeface="Cambria" pitchFamily="34" charset="0"/>
                <a:ea typeface="Cambria" pitchFamily="34" charset="-122"/>
                <a:cs typeface="Cambria" pitchFamily="34" charset="-120"/>
              </a:rPr>
              <a:t>Where is the money?</a:t>
            </a:r>
            <a:endParaRPr lang="en-US" sz="3400" dirty="0"/>
          </a:p>
        </p:txBody>
      </p:sp>
      <p:sp>
        <p:nvSpPr>
          <p:cNvPr id="5" name="Shape 3"/>
          <p:cNvSpPr/>
          <p:nvPr/>
        </p:nvSpPr>
        <p:spPr>
          <a:xfrm>
            <a:off x="868680" y="3794760"/>
            <a:ext cx="2926080" cy="18288"/>
          </a:xfrm>
          <a:prstGeom prst="rect">
            <a:avLst/>
          </a:prstGeom>
          <a:solidFill>
            <a:srgbClr val="102641"/>
          </a:solidFill>
          <a:ln/>
        </p:spPr>
      </p:sp>
      <p:sp>
        <p:nvSpPr>
          <p:cNvPr id="6" name="Text 4"/>
          <p:cNvSpPr txBox="1"/>
          <p:nvPr/>
        </p:nvSpPr>
        <p:spPr>
          <a:xfrm>
            <a:off x="822960" y="4069080"/>
            <a:ext cx="7863840" cy="1097280"/>
          </a:xfrm>
          <a:prstGeom prst="rect">
            <a:avLst/>
          </a:prstGeom>
          <a:noFill/>
          <a:ln/>
        </p:spPr>
        <p:txBody>
          <a:bodyPr wrap="square" lIns="0" tIns="0" rIns="0" bIns="0" rtlCol="0" anchor="ctr"/>
          <a:lstStyle/>
          <a:p>
            <a:pPr algn="l" indent="0" marL="0">
              <a:lnSpc>
                <a:spcPts val="2400"/>
              </a:lnSpc>
              <a:buNone/>
            </a:pPr>
            <a:r>
              <a:rPr lang="en-US" sz="1500" dirty="0">
                <a:solidFill>
                  <a:srgbClr val="A9C3DA"/>
                </a:solidFill>
                <a:latin typeface="Calibri" pitchFamily="34" charset="0"/>
                <a:ea typeface="Calibri" pitchFamily="34" charset="-122"/>
                <a:cs typeface="Calibri" pitchFamily="34" charset="-120"/>
              </a:rPr>
              <a:t>One ledger, three readers — seller, buyer, Highbase.</a:t>
            </a:r>
            <a:endParaRPr lang="en-US" sz="1500" dirty="0"/>
          </a:p>
          <a:p>
            <a:pPr algn="l" indent="0" marL="0">
              <a:lnSpc>
                <a:spcPts val="2400"/>
              </a:lnSpc>
              <a:buNone/>
            </a:pPr>
            <a:r>
              <a:rPr lang="en-US" sz="1500" dirty="0">
                <a:solidFill>
                  <a:srgbClr val="A9C3DA"/>
                </a:solidFill>
                <a:latin typeface="Calibri" pitchFamily="34" charset="0"/>
                <a:ea typeface="Calibri" pitchFamily="34" charset="-122"/>
                <a:cs typeface="Calibri" pitchFamily="34" charset="-120"/>
              </a:rPr>
              <a:t>Every figure in this deck is derived from the prototype, not from the brief.</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66928" y="475488"/>
            <a:ext cx="420624" cy="420624"/>
          </a:xfrm>
          <a:prstGeom prst="ellipse">
            <a:avLst/>
          </a:prstGeom>
          <a:solidFill>
            <a:srgbClr val="021A37"/>
          </a:solidFill>
          <a:ln/>
        </p:spPr>
      </p:sp>
      <p:sp>
        <p:nvSpPr>
          <p:cNvPr id="3" name="Text 1"/>
          <p:cNvSpPr txBox="1"/>
          <p:nvPr/>
        </p:nvSpPr>
        <p:spPr>
          <a:xfrm>
            <a:off x="566928" y="475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170432" y="347472"/>
            <a:ext cx="10424160" cy="868680"/>
          </a:xfrm>
          <a:prstGeom prst="rect">
            <a:avLst/>
          </a:prstGeom>
          <a:noFill/>
          <a:ln/>
        </p:spPr>
        <p:txBody>
          <a:bodyPr wrap="square" lIns="0" tIns="0" rIns="0" bIns="0" rtlCol="0" anchor="ctr"/>
          <a:lstStyle/>
          <a:p>
            <a:pPr algn="l" indent="0" marL="0">
              <a:buNone/>
            </a:pPr>
            <a:r>
              <a:rPr lang="en-US" sz="2800" b="1" dirty="0">
                <a:solidFill>
                  <a:srgbClr val="021A37"/>
                </a:solidFill>
                <a:latin typeface="Cambria" pitchFamily="34" charset="0"/>
                <a:ea typeface="Cambria" pitchFamily="34" charset="-122"/>
                <a:cs typeface="Cambria" pitchFamily="34" charset="-120"/>
              </a:rPr>
              <a:t>One balance, four different questions</a:t>
            </a:r>
            <a:endParaRPr lang="en-US" sz="2800" dirty="0"/>
          </a:p>
        </p:txBody>
      </p:sp>
      <p:sp>
        <p:nvSpPr>
          <p:cNvPr id="5" name="Text 3"/>
          <p:cNvSpPr txBox="1"/>
          <p:nvPr/>
        </p:nvSpPr>
        <p:spPr>
          <a:xfrm>
            <a:off x="621792" y="1417320"/>
            <a:ext cx="5852160" cy="3108960"/>
          </a:xfrm>
          <a:prstGeom prst="rect">
            <a:avLst/>
          </a:prstGeom>
          <a:noFill/>
          <a:ln/>
        </p:spPr>
        <p:txBody>
          <a:bodyPr wrap="square" lIns="0" tIns="0" rIns="0" bIns="0" rtlCol="0" anchor="t"/>
          <a:lstStyle/>
          <a:p>
            <a:pPr algn="l" indent="0" marL="0">
              <a:lnSpc>
                <a:spcPts val="2800"/>
              </a:lnSpc>
              <a:buNone/>
            </a:pPr>
            <a:r>
              <a:rPr lang="en-US" sz="1600" dirty="0">
                <a:solidFill>
                  <a:srgbClr val="0D2136"/>
                </a:solidFill>
                <a:latin typeface="Calibri" pitchFamily="34" charset="0"/>
                <a:ea typeface="Calibri" pitchFamily="34" charset="-122"/>
                <a:cs typeface="Calibri" pitchFamily="34" charset="-120"/>
              </a:rPr>
              <a:t>The seller statement shows a single number. That number mixes cash Highbase actually holds with commission it is merely owed, and with orders nobody has collected at all.</a:t>
            </a:r>
            <a:endParaRPr lang="en-US" sz="1600" dirty="0"/>
          </a:p>
          <a:p>
            <a:pPr algn="l" indent="0" marL="0">
              <a:lnSpc>
                <a:spcPts val="2800"/>
              </a:lnSpc>
              <a:buNone/>
            </a:pPr>
            <a:endParaRPr lang="en-US" sz="1600" dirty="0"/>
          </a:p>
          <a:p>
            <a:pPr algn="l" indent="0" marL="0">
              <a:lnSpc>
                <a:spcPts val="2800"/>
              </a:lnSpc>
              <a:buNone/>
            </a:pPr>
            <a:r>
              <a:rPr lang="en-US" sz="1600" dirty="0">
                <a:solidFill>
                  <a:srgbClr val="0D2136"/>
                </a:solidFill>
                <a:latin typeface="Calibri" pitchFamily="34" charset="0"/>
                <a:ea typeface="Calibri" pitchFamily="34" charset="-122"/>
                <a:cs typeface="Calibri" pitchFamily="34" charset="-120"/>
              </a:rPr>
              <a:t>It is not a rounding problem. On one seller, today, the single number overstates what Highbase owes by 291.000 BHD.</a:t>
            </a:r>
            <a:endParaRPr lang="en-US" sz="1600" dirty="0"/>
          </a:p>
        </p:txBody>
      </p:sp>
      <p:sp>
        <p:nvSpPr>
          <p:cNvPr id="6" name="Shape 4"/>
          <p:cNvSpPr/>
          <p:nvPr/>
        </p:nvSpPr>
        <p:spPr>
          <a:xfrm>
            <a:off x="6903720" y="1417320"/>
            <a:ext cx="4663440" cy="3566160"/>
          </a:xfrm>
          <a:prstGeom prst="roundRect">
            <a:avLst>
              <a:gd name="adj" fmla="val 2308"/>
            </a:avLst>
          </a:prstGeom>
          <a:solidFill>
            <a:srgbClr val="F7FAFD"/>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7269480" y="1664208"/>
            <a:ext cx="3931920" cy="1234440"/>
          </a:xfrm>
          <a:prstGeom prst="rect">
            <a:avLst/>
          </a:prstGeom>
          <a:noFill/>
          <a:ln/>
        </p:spPr>
        <p:txBody>
          <a:bodyPr wrap="square" lIns="0" tIns="0" rIns="0" bIns="0" rtlCol="0" anchor="ctr"/>
          <a:lstStyle/>
          <a:p>
            <a:pPr algn="ctr" indent="0" marL="0">
              <a:buNone/>
            </a:pPr>
            <a:r>
              <a:rPr lang="en-US" sz="6200" b="1" dirty="0">
                <a:solidFill>
                  <a:srgbClr val="D0402A"/>
                </a:solidFill>
                <a:latin typeface="Calibri" pitchFamily="34" charset="0"/>
                <a:ea typeface="Calibri" pitchFamily="34" charset="-122"/>
                <a:cs typeface="Calibri" pitchFamily="34" charset="-120"/>
              </a:rPr>
              <a:t>291.000</a:t>
            </a:r>
            <a:pPr algn="ctr" indent="0" marL="0">
              <a:buNone/>
            </a:pPr>
            <a:r>
              <a:rPr lang="en-US" sz="2000" b="1" dirty="0">
                <a:solidFill>
                  <a:srgbClr val="D0402A"/>
                </a:solidFill>
                <a:latin typeface="Calibri" pitchFamily="34" charset="0"/>
                <a:ea typeface="Calibri" pitchFamily="34" charset="-122"/>
                <a:cs typeface="Calibri" pitchFamily="34" charset="-120"/>
              </a:rPr>
              <a:t> BHD</a:t>
            </a:r>
            <a:endParaRPr lang="en-US" sz="6200" dirty="0"/>
          </a:p>
        </p:txBody>
      </p:sp>
      <p:sp>
        <p:nvSpPr>
          <p:cNvPr id="8" name="Text 6"/>
          <p:cNvSpPr txBox="1"/>
          <p:nvPr/>
        </p:nvSpPr>
        <p:spPr>
          <a:xfrm>
            <a:off x="7269480" y="2944368"/>
            <a:ext cx="3931920" cy="320040"/>
          </a:xfrm>
          <a:prstGeom prst="rect">
            <a:avLst/>
          </a:prstGeom>
          <a:noFill/>
          <a:ln/>
        </p:spPr>
        <p:txBody>
          <a:bodyPr wrap="square" lIns="0" tIns="0" rIns="0" bIns="0" rtlCol="0" anchor="ctr"/>
          <a:lstStyle/>
          <a:p>
            <a:pPr algn="ctr" indent="0" marL="0">
              <a:buNone/>
            </a:pPr>
            <a:r>
              <a:rPr lang="en-US" sz="1400" dirty="0">
                <a:solidFill>
                  <a:srgbClr val="5B7080"/>
                </a:solidFill>
                <a:latin typeface="Calibri" pitchFamily="34" charset="0"/>
                <a:ea typeface="Calibri" pitchFamily="34" charset="-122"/>
                <a:cs typeface="Calibri" pitchFamily="34" charset="-120"/>
              </a:rPr>
              <a:t>overstated on one seller</a:t>
            </a:r>
            <a:endParaRPr lang="en-US" sz="1400" dirty="0"/>
          </a:p>
        </p:txBody>
      </p:sp>
      <p:sp>
        <p:nvSpPr>
          <p:cNvPr id="9" name="Shape 7"/>
          <p:cNvSpPr/>
          <p:nvPr/>
        </p:nvSpPr>
        <p:spPr>
          <a:xfrm>
            <a:off x="7635240" y="3419856"/>
            <a:ext cx="3200400" cy="13716"/>
          </a:xfrm>
          <a:prstGeom prst="rect">
            <a:avLst/>
          </a:prstGeom>
          <a:solidFill>
            <a:srgbClr val="E6EDF3"/>
          </a:solidFill>
          <a:ln/>
        </p:spPr>
      </p:sp>
      <p:sp>
        <p:nvSpPr>
          <p:cNvPr id="10" name="Text 8"/>
          <p:cNvSpPr txBox="1"/>
          <p:nvPr/>
        </p:nvSpPr>
        <p:spPr>
          <a:xfrm>
            <a:off x="7178040" y="3602736"/>
            <a:ext cx="1874520" cy="502920"/>
          </a:xfrm>
          <a:prstGeom prst="rect">
            <a:avLst/>
          </a:prstGeom>
          <a:noFill/>
          <a:ln/>
        </p:spPr>
        <p:txBody>
          <a:bodyPr wrap="square" lIns="0" tIns="0" rIns="0" bIns="0" rtlCol="0" anchor="ctr"/>
          <a:lstStyle/>
          <a:p>
            <a:pPr algn="ctr" indent="0" marL="0">
              <a:buNone/>
            </a:pPr>
            <a:r>
              <a:rPr lang="en-US" sz="2700" b="1" dirty="0">
                <a:solidFill>
                  <a:srgbClr val="021A37"/>
                </a:solidFill>
                <a:latin typeface="Calibri" pitchFamily="34" charset="0"/>
                <a:ea typeface="Calibri" pitchFamily="34" charset="-122"/>
                <a:cs typeface="Calibri" pitchFamily="34" charset="-120"/>
              </a:rPr>
              <a:t>28.0%</a:t>
            </a:r>
            <a:endParaRPr lang="en-US" sz="2700" dirty="0"/>
          </a:p>
        </p:txBody>
      </p:sp>
      <p:sp>
        <p:nvSpPr>
          <p:cNvPr id="11" name="Text 9"/>
          <p:cNvSpPr txBox="1"/>
          <p:nvPr/>
        </p:nvSpPr>
        <p:spPr>
          <a:xfrm>
            <a:off x="7178040" y="4105656"/>
            <a:ext cx="1874520" cy="685800"/>
          </a:xfrm>
          <a:prstGeom prst="rect">
            <a:avLst/>
          </a:prstGeom>
          <a:noFill/>
          <a:ln/>
        </p:spPr>
        <p:txBody>
          <a:bodyPr wrap="square" lIns="0" tIns="0" rIns="0" bIns="0" rtlCol="0" anchor="ctr"/>
          <a:lstStyle/>
          <a:p>
            <a:pPr algn="ctr" indent="0" marL="0">
              <a:buNone/>
            </a:pPr>
            <a:r>
              <a:rPr lang="en-US" sz="1200" dirty="0">
                <a:solidFill>
                  <a:srgbClr val="5B7080"/>
                </a:solidFill>
                <a:latin typeface="Calibri" pitchFamily="34" charset="0"/>
                <a:ea typeface="Calibri" pitchFamily="34" charset="-122"/>
                <a:cs typeface="Calibri" pitchFamily="34" charset="-120"/>
              </a:rPr>
              <a:t>of that seller’s book</a:t>
            </a:r>
            <a:endParaRPr lang="en-US" sz="1200" dirty="0"/>
          </a:p>
        </p:txBody>
      </p:sp>
      <p:sp>
        <p:nvSpPr>
          <p:cNvPr id="12" name="Text 10"/>
          <p:cNvSpPr txBox="1"/>
          <p:nvPr/>
        </p:nvSpPr>
        <p:spPr>
          <a:xfrm>
            <a:off x="9281160" y="3602736"/>
            <a:ext cx="1874520" cy="502920"/>
          </a:xfrm>
          <a:prstGeom prst="rect">
            <a:avLst/>
          </a:prstGeom>
          <a:noFill/>
          <a:ln/>
        </p:spPr>
        <p:txBody>
          <a:bodyPr wrap="square" lIns="0" tIns="0" rIns="0" bIns="0" rtlCol="0" anchor="ctr"/>
          <a:lstStyle/>
          <a:p>
            <a:pPr algn="ctr" indent="0" marL="0">
              <a:buNone/>
            </a:pPr>
            <a:r>
              <a:rPr lang="en-US" sz="2700" b="1" dirty="0">
                <a:solidFill>
                  <a:srgbClr val="021A37"/>
                </a:solidFill>
                <a:latin typeface="Calibri" pitchFamily="34" charset="0"/>
                <a:ea typeface="Calibri" pitchFamily="34" charset="-122"/>
                <a:cs typeface="Calibri" pitchFamily="34" charset="-120"/>
              </a:rPr>
              <a:t>9.33×</a:t>
            </a:r>
            <a:endParaRPr lang="en-US" sz="2700" dirty="0"/>
          </a:p>
        </p:txBody>
      </p:sp>
      <p:sp>
        <p:nvSpPr>
          <p:cNvPr id="13" name="Text 11"/>
          <p:cNvSpPr txBox="1"/>
          <p:nvPr/>
        </p:nvSpPr>
        <p:spPr>
          <a:xfrm>
            <a:off x="9281160" y="4105656"/>
            <a:ext cx="1874520" cy="685800"/>
          </a:xfrm>
          <a:prstGeom prst="rect">
            <a:avLst/>
          </a:prstGeom>
          <a:noFill/>
          <a:ln/>
        </p:spPr>
        <p:txBody>
          <a:bodyPr wrap="square" lIns="0" tIns="0" rIns="0" bIns="0" rtlCol="0" anchor="ctr"/>
          <a:lstStyle/>
          <a:p>
            <a:pPr algn="ctr" indent="0" marL="0">
              <a:buNone/>
            </a:pPr>
            <a:r>
              <a:rPr lang="en-US" sz="1200" dirty="0">
                <a:solidFill>
                  <a:srgbClr val="5B7080"/>
                </a:solidFill>
                <a:latin typeface="Calibri" pitchFamily="34" charset="0"/>
                <a:ea typeface="Calibri" pitchFamily="34" charset="-122"/>
                <a:cs typeface="Calibri" pitchFamily="34" charset="-120"/>
              </a:rPr>
              <a:t>the commission earned on the order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475488"/>
            <a:ext cx="420624" cy="420624"/>
          </a:xfrm>
          <a:prstGeom prst="ellipse">
            <a:avLst/>
          </a:prstGeom>
          <a:solidFill>
            <a:srgbClr val="021A37"/>
          </a:solidFill>
          <a:ln/>
        </p:spPr>
      </p:sp>
      <p:sp>
        <p:nvSpPr>
          <p:cNvPr id="3" name="Text 1"/>
          <p:cNvSpPr txBox="1"/>
          <p:nvPr/>
        </p:nvSpPr>
        <p:spPr>
          <a:xfrm>
            <a:off x="566928" y="475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170432" y="347472"/>
            <a:ext cx="10424160" cy="868680"/>
          </a:xfrm>
          <a:prstGeom prst="rect">
            <a:avLst/>
          </a:prstGeom>
          <a:noFill/>
          <a:ln/>
        </p:spPr>
        <p:txBody>
          <a:bodyPr wrap="square" lIns="0" tIns="0" rIns="0" bIns="0" rtlCol="0" anchor="ctr"/>
          <a:lstStyle/>
          <a:p>
            <a:pPr algn="l" indent="0" marL="0">
              <a:buNone/>
            </a:pPr>
            <a:r>
              <a:rPr lang="en-US" sz="2800" b="1" dirty="0">
                <a:solidFill>
                  <a:srgbClr val="021A37"/>
                </a:solidFill>
                <a:latin typeface="Cambria" pitchFamily="34" charset="0"/>
                <a:ea typeface="Cambria" pitchFamily="34" charset="-122"/>
                <a:cs typeface="Cambria" pitchFamily="34" charset="-120"/>
              </a:rPr>
              <a:t>What the single number hides</a:t>
            </a:r>
            <a:endParaRPr lang="en-US" sz="2800" dirty="0"/>
          </a:p>
        </p:txBody>
      </p:sp>
      <p:sp>
        <p:nvSpPr>
          <p:cNvPr id="5" name="Shape 3"/>
          <p:cNvSpPr/>
          <p:nvPr/>
        </p:nvSpPr>
        <p:spPr>
          <a:xfrm>
            <a:off x="566928" y="1481328"/>
            <a:ext cx="11064240"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6" name="Shape 4"/>
          <p:cNvSpPr/>
          <p:nvPr/>
        </p:nvSpPr>
        <p:spPr>
          <a:xfrm>
            <a:off x="914400" y="1883664"/>
            <a:ext cx="566928" cy="566928"/>
          </a:xfrm>
          <a:prstGeom prst="ellipse">
            <a:avLst/>
          </a:prstGeom>
          <a:solidFill>
            <a:srgbClr val="EDF7FE"/>
          </a:solidFill>
          <a:ln/>
        </p:spPr>
      </p:sp>
      <p:sp>
        <p:nvSpPr>
          <p:cNvPr id="7" name="Text 5"/>
          <p:cNvSpPr txBox="1"/>
          <p:nvPr/>
        </p:nvSpPr>
        <p:spPr>
          <a:xfrm>
            <a:off x="914400" y="1883664"/>
            <a:ext cx="566928" cy="566928"/>
          </a:xfrm>
          <a:prstGeom prst="rect">
            <a:avLst/>
          </a:prstGeom>
          <a:noFill/>
          <a:ln/>
        </p:spPr>
        <p:txBody>
          <a:bodyPr wrap="square" lIns="0" tIns="0" rIns="0" bIns="0" rtlCol="0" anchor="ctr"/>
          <a:lstStyle/>
          <a:p>
            <a:pPr algn="ctr" indent="0" marL="0">
              <a:buNone/>
            </a:pPr>
            <a:r>
              <a:rPr lang="en-US" sz="2000" b="1" dirty="0">
                <a:solidFill>
                  <a:srgbClr val="026DBD"/>
                </a:solidFill>
                <a:latin typeface="Calibri" pitchFamily="34" charset="0"/>
                <a:ea typeface="Calibri" pitchFamily="34" charset="-122"/>
                <a:cs typeface="Calibri" pitchFamily="34" charset="-120"/>
              </a:rPr>
              <a:t>1</a:t>
            </a:r>
            <a:endParaRPr lang="en-US" sz="2000" dirty="0"/>
          </a:p>
        </p:txBody>
      </p:sp>
      <p:sp>
        <p:nvSpPr>
          <p:cNvPr id="8" name="Text 6"/>
          <p:cNvSpPr txBox="1"/>
          <p:nvPr/>
        </p:nvSpPr>
        <p:spPr>
          <a:xfrm>
            <a:off x="1755648" y="1682496"/>
            <a:ext cx="9509760" cy="365760"/>
          </a:xfrm>
          <a:prstGeom prst="rect">
            <a:avLst/>
          </a:prstGeom>
          <a:noFill/>
          <a:ln/>
        </p:spPr>
        <p:txBody>
          <a:bodyPr wrap="square" lIns="0" tIns="0" rIns="0" bIns="0" rtlCol="0" anchor="ctr"/>
          <a:lstStyle/>
          <a:p>
            <a:pPr algn="l" indent="0" marL="0">
              <a:buNone/>
            </a:pPr>
            <a:r>
              <a:rPr lang="en-US" sz="1900" b="1" dirty="0">
                <a:solidFill>
                  <a:srgbClr val="021A37"/>
                </a:solidFill>
                <a:latin typeface="Cambria" pitchFamily="34" charset="0"/>
                <a:ea typeface="Cambria" pitchFamily="34" charset="-122"/>
                <a:cs typeface="Cambria" pitchFamily="34" charset="-120"/>
              </a:rPr>
              <a:t>The seller collected the cash</a:t>
            </a:r>
            <a:endParaRPr lang="en-US" sz="1900" dirty="0"/>
          </a:p>
        </p:txBody>
      </p:sp>
      <p:sp>
        <p:nvSpPr>
          <p:cNvPr id="9" name="Text 7"/>
          <p:cNvSpPr txBox="1"/>
          <p:nvPr/>
        </p:nvSpPr>
        <p:spPr>
          <a:xfrm>
            <a:off x="1755648" y="2066544"/>
            <a:ext cx="9509760" cy="658368"/>
          </a:xfrm>
          <a:prstGeom prst="rect">
            <a:avLst/>
          </a:prstGeom>
          <a:noFill/>
          <a:ln/>
        </p:spPr>
        <p:txBody>
          <a:bodyPr wrap="square" lIns="0" tIns="0" rIns="0" bIns="0" rtlCol="0" anchor="ctr"/>
          <a:lstStyle/>
          <a:p>
            <a:pPr algn="l" indent="0" marL="0">
              <a:lnSpc>
                <a:spcPts val="2000"/>
              </a:lnSpc>
              <a:buNone/>
            </a:pPr>
            <a:r>
              <a:rPr lang="en-US" sz="1400" dirty="0">
                <a:solidFill>
                  <a:srgbClr val="5B7080"/>
                </a:solidFill>
                <a:latin typeface="Calibri" pitchFamily="34" charset="0"/>
                <a:ea typeface="Calibri" pitchFamily="34" charset="-122"/>
                <a:cs typeface="Calibri" pitchFamily="34" charset="-120"/>
              </a:rPr>
              <a:t>Many orders are paid direct to the seller — cash on delivery, bank transfer. The money never passes through Highbase, so what exists is commission owed, not a balance held.</a:t>
            </a:r>
            <a:endParaRPr lang="en-US" sz="1400" dirty="0"/>
          </a:p>
        </p:txBody>
      </p:sp>
      <p:sp>
        <p:nvSpPr>
          <p:cNvPr id="10" name="Shape 8"/>
          <p:cNvSpPr/>
          <p:nvPr/>
        </p:nvSpPr>
        <p:spPr>
          <a:xfrm>
            <a:off x="566928" y="3054096"/>
            <a:ext cx="11064240"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1" name="Shape 9"/>
          <p:cNvSpPr/>
          <p:nvPr/>
        </p:nvSpPr>
        <p:spPr>
          <a:xfrm>
            <a:off x="914400" y="3456432"/>
            <a:ext cx="566928" cy="566928"/>
          </a:xfrm>
          <a:prstGeom prst="ellipse">
            <a:avLst/>
          </a:prstGeom>
          <a:solidFill>
            <a:srgbClr val="FFF5E6"/>
          </a:solidFill>
          <a:ln/>
        </p:spPr>
      </p:sp>
      <p:sp>
        <p:nvSpPr>
          <p:cNvPr id="12" name="Text 10"/>
          <p:cNvSpPr txBox="1"/>
          <p:nvPr/>
        </p:nvSpPr>
        <p:spPr>
          <a:xfrm>
            <a:off x="914400" y="3456432"/>
            <a:ext cx="566928" cy="566928"/>
          </a:xfrm>
          <a:prstGeom prst="rect">
            <a:avLst/>
          </a:prstGeom>
          <a:noFill/>
          <a:ln/>
        </p:spPr>
        <p:txBody>
          <a:bodyPr wrap="square" lIns="0" tIns="0" rIns="0" bIns="0" rtlCol="0" anchor="ctr"/>
          <a:lstStyle/>
          <a:p>
            <a:pPr algn="ctr" indent="0" marL="0">
              <a:buNone/>
            </a:pPr>
            <a:r>
              <a:rPr lang="en-US" sz="2000" b="1" dirty="0">
                <a:solidFill>
                  <a:srgbClr val="FE8E00"/>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1755648" y="3255264"/>
            <a:ext cx="9509760" cy="365760"/>
          </a:xfrm>
          <a:prstGeom prst="rect">
            <a:avLst/>
          </a:prstGeom>
          <a:noFill/>
          <a:ln/>
        </p:spPr>
        <p:txBody>
          <a:bodyPr wrap="square" lIns="0" tIns="0" rIns="0" bIns="0" rtlCol="0" anchor="ctr"/>
          <a:lstStyle/>
          <a:p>
            <a:pPr algn="l" indent="0" marL="0">
              <a:buNone/>
            </a:pPr>
            <a:r>
              <a:rPr lang="en-US" sz="1900" b="1" dirty="0">
                <a:solidFill>
                  <a:srgbClr val="021A37"/>
                </a:solidFill>
                <a:latin typeface="Cambria" pitchFamily="34" charset="0"/>
                <a:ea typeface="Cambria" pitchFamily="34" charset="-122"/>
                <a:cs typeface="Cambria" pitchFamily="34" charset="-120"/>
              </a:rPr>
              <a:t>Nobody has collected yet</a:t>
            </a:r>
            <a:endParaRPr lang="en-US" sz="1900" dirty="0"/>
          </a:p>
        </p:txBody>
      </p:sp>
      <p:sp>
        <p:nvSpPr>
          <p:cNvPr id="14" name="Text 12"/>
          <p:cNvSpPr txBox="1"/>
          <p:nvPr/>
        </p:nvSpPr>
        <p:spPr>
          <a:xfrm>
            <a:off x="1755648" y="3639312"/>
            <a:ext cx="9509760" cy="658368"/>
          </a:xfrm>
          <a:prstGeom prst="rect">
            <a:avLst/>
          </a:prstGeom>
          <a:noFill/>
          <a:ln/>
        </p:spPr>
        <p:txBody>
          <a:bodyPr wrap="square" lIns="0" tIns="0" rIns="0" bIns="0" rtlCol="0" anchor="ctr"/>
          <a:lstStyle/>
          <a:p>
            <a:pPr algn="l" indent="0" marL="0">
              <a:lnSpc>
                <a:spcPts val="2000"/>
              </a:lnSpc>
              <a:buNone/>
            </a:pPr>
            <a:r>
              <a:rPr lang="en-US" sz="1400" dirty="0">
                <a:solidFill>
                  <a:srgbClr val="5B7080"/>
                </a:solidFill>
                <a:latin typeface="Calibri" pitchFamily="34" charset="0"/>
                <a:ea typeface="Calibri" pitchFamily="34" charset="-122"/>
                <a:cs typeface="Calibri" pitchFamily="34" charset="-120"/>
              </a:rPr>
              <a:t>Credit orders are delivered and invoiced but uncollected. They are neither held nor owed: they are outstanding against the buyer.</a:t>
            </a:r>
            <a:endParaRPr lang="en-US" sz="1400" dirty="0"/>
          </a:p>
        </p:txBody>
      </p:sp>
      <p:sp>
        <p:nvSpPr>
          <p:cNvPr id="15" name="Shape 13"/>
          <p:cNvSpPr/>
          <p:nvPr/>
        </p:nvSpPr>
        <p:spPr>
          <a:xfrm>
            <a:off x="566928" y="4626864"/>
            <a:ext cx="11064240"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6" name="Shape 14"/>
          <p:cNvSpPr/>
          <p:nvPr/>
        </p:nvSpPr>
        <p:spPr>
          <a:xfrm>
            <a:off x="914400" y="5029200"/>
            <a:ext cx="566928" cy="566928"/>
          </a:xfrm>
          <a:prstGeom prst="ellipse">
            <a:avLst/>
          </a:prstGeom>
          <a:solidFill>
            <a:srgbClr val="FEEEE9"/>
          </a:solidFill>
          <a:ln/>
        </p:spPr>
      </p:sp>
      <p:sp>
        <p:nvSpPr>
          <p:cNvPr id="17" name="Text 15"/>
          <p:cNvSpPr txBox="1"/>
          <p:nvPr/>
        </p:nvSpPr>
        <p:spPr>
          <a:xfrm>
            <a:off x="914400" y="5029200"/>
            <a:ext cx="566928" cy="566928"/>
          </a:xfrm>
          <a:prstGeom prst="rect">
            <a:avLst/>
          </a:prstGeom>
          <a:noFill/>
          <a:ln/>
        </p:spPr>
        <p:txBody>
          <a:bodyPr wrap="square" lIns="0" tIns="0" rIns="0" bIns="0" rtlCol="0" anchor="ctr"/>
          <a:lstStyle/>
          <a:p>
            <a:pPr algn="ctr" indent="0" marL="0">
              <a:buNone/>
            </a:pPr>
            <a:r>
              <a:rPr lang="en-US" sz="2000" b="1" dirty="0">
                <a:solidFill>
                  <a:srgbClr val="D0402A"/>
                </a:solidFill>
                <a:latin typeface="Calibri" pitchFamily="34" charset="0"/>
                <a:ea typeface="Calibri" pitchFamily="34" charset="-122"/>
                <a:cs typeface="Calibri" pitchFamily="34" charset="-120"/>
              </a:rPr>
              <a:t>3</a:t>
            </a:r>
            <a:endParaRPr lang="en-US" sz="2000" dirty="0"/>
          </a:p>
        </p:txBody>
      </p:sp>
      <p:sp>
        <p:nvSpPr>
          <p:cNvPr id="18" name="Text 16"/>
          <p:cNvSpPr txBox="1"/>
          <p:nvPr/>
        </p:nvSpPr>
        <p:spPr>
          <a:xfrm>
            <a:off x="1755648" y="4828032"/>
            <a:ext cx="9509760" cy="365760"/>
          </a:xfrm>
          <a:prstGeom prst="rect">
            <a:avLst/>
          </a:prstGeom>
          <a:noFill/>
          <a:ln/>
        </p:spPr>
        <p:txBody>
          <a:bodyPr wrap="square" lIns="0" tIns="0" rIns="0" bIns="0" rtlCol="0" anchor="ctr"/>
          <a:lstStyle/>
          <a:p>
            <a:pPr algn="l" indent="0" marL="0">
              <a:buNone/>
            </a:pPr>
            <a:r>
              <a:rPr lang="en-US" sz="1900" b="1" dirty="0">
                <a:solidFill>
                  <a:srgbClr val="021A37"/>
                </a:solidFill>
                <a:latin typeface="Cambria" pitchFamily="34" charset="0"/>
                <a:ea typeface="Cambria" pitchFamily="34" charset="-122"/>
                <a:cs typeface="Cambria" pitchFamily="34" charset="-120"/>
              </a:rPr>
              <a:t>The book contains sign errors</a:t>
            </a:r>
            <a:endParaRPr lang="en-US" sz="1900" dirty="0"/>
          </a:p>
        </p:txBody>
      </p:sp>
      <p:sp>
        <p:nvSpPr>
          <p:cNvPr id="19" name="Text 17"/>
          <p:cNvSpPr txBox="1"/>
          <p:nvPr/>
        </p:nvSpPr>
        <p:spPr>
          <a:xfrm>
            <a:off x="1755648" y="5212080"/>
            <a:ext cx="9509760" cy="658368"/>
          </a:xfrm>
          <a:prstGeom prst="rect">
            <a:avLst/>
          </a:prstGeom>
          <a:noFill/>
          <a:ln/>
        </p:spPr>
        <p:txBody>
          <a:bodyPr wrap="square" lIns="0" tIns="0" rIns="0" bIns="0" rtlCol="0" anchor="ctr"/>
          <a:lstStyle/>
          <a:p>
            <a:pPr algn="l" indent="0" marL="0">
              <a:lnSpc>
                <a:spcPts val="2000"/>
              </a:lnSpc>
              <a:buNone/>
            </a:pPr>
            <a:r>
              <a:rPr lang="en-US" sz="1400" dirty="0">
                <a:solidFill>
                  <a:srgbClr val="5B7080"/>
                </a:solidFill>
                <a:latin typeface="Calibri" pitchFamily="34" charset="0"/>
                <a:ea typeface="Calibri" pitchFamily="34" charset="-122"/>
                <a:cs typeface="Calibri" pitchFamily="34" charset="-120"/>
              </a:rPr>
              <a:t>A return reversed in the order column but not the commission column. The error is one-directional — it always inflates what Highbase appears to owe.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475488"/>
            <a:ext cx="420624" cy="420624"/>
          </a:xfrm>
          <a:prstGeom prst="ellipse">
            <a:avLst/>
          </a:prstGeom>
          <a:solidFill>
            <a:srgbClr val="021A37"/>
          </a:solidFill>
          <a:ln/>
        </p:spPr>
      </p:sp>
      <p:sp>
        <p:nvSpPr>
          <p:cNvPr id="3" name="Text 1"/>
          <p:cNvSpPr txBox="1"/>
          <p:nvPr/>
        </p:nvSpPr>
        <p:spPr>
          <a:xfrm>
            <a:off x="566928" y="475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170432" y="347472"/>
            <a:ext cx="10424160" cy="868680"/>
          </a:xfrm>
          <a:prstGeom prst="rect">
            <a:avLst/>
          </a:prstGeom>
          <a:noFill/>
          <a:ln/>
        </p:spPr>
        <p:txBody>
          <a:bodyPr wrap="square" lIns="0" tIns="0" rIns="0" bIns="0" rtlCol="0" anchor="ctr"/>
          <a:lstStyle/>
          <a:p>
            <a:pPr algn="l" indent="0" marL="0">
              <a:buNone/>
            </a:pPr>
            <a:r>
              <a:rPr lang="en-US" sz="2800" b="1" dirty="0">
                <a:solidFill>
                  <a:srgbClr val="021A37"/>
                </a:solidFill>
                <a:latin typeface="Cambria" pitchFamily="34" charset="0"/>
                <a:ea typeface="Cambria" pitchFamily="34" charset="-122"/>
                <a:cs typeface="Cambria" pitchFamily="34" charset="-120"/>
              </a:rPr>
              <a:t>One question, four answers</a:t>
            </a:r>
            <a:endParaRPr lang="en-US" sz="2800" dirty="0"/>
          </a:p>
        </p:txBody>
      </p:sp>
      <p:sp>
        <p:nvSpPr>
          <p:cNvPr id="5" name="Text 3"/>
          <p:cNvSpPr txBox="1"/>
          <p:nvPr/>
        </p:nvSpPr>
        <p:spPr>
          <a:xfrm>
            <a:off x="621792" y="1371600"/>
            <a:ext cx="10515600" cy="274320"/>
          </a:xfrm>
          <a:prstGeom prst="rect">
            <a:avLst/>
          </a:prstGeom>
          <a:noFill/>
          <a:ln/>
        </p:spPr>
        <p:txBody>
          <a:bodyPr wrap="square" lIns="0" tIns="0" rIns="0" bIns="0" rtlCol="0" anchor="ctr"/>
          <a:lstStyle/>
          <a:p>
            <a:pPr algn="l" indent="0" marL="0">
              <a:buNone/>
            </a:pPr>
            <a:r>
              <a:rPr lang="en-US" sz="1400" dirty="0">
                <a:solidFill>
                  <a:srgbClr val="5B7080"/>
                </a:solidFill>
                <a:latin typeface="Calibri" pitchFamily="34" charset="0"/>
                <a:ea typeface="Calibri" pitchFamily="34" charset="-122"/>
                <a:cs typeface="Calibri" pitchFamily="34" charset="-120"/>
              </a:rPr>
              <a:t>The same four states, the same four colours, on all three surfaces.</a:t>
            </a:r>
            <a:endParaRPr lang="en-US" sz="1400" dirty="0"/>
          </a:p>
        </p:txBody>
      </p:sp>
      <p:sp>
        <p:nvSpPr>
          <p:cNvPr id="6" name="Shape 4"/>
          <p:cNvSpPr/>
          <p:nvPr/>
        </p:nvSpPr>
        <p:spPr>
          <a:xfrm>
            <a:off x="566928" y="1700784"/>
            <a:ext cx="2670048" cy="3246120"/>
          </a:xfrm>
          <a:prstGeom prst="roundRect">
            <a:avLst>
              <a:gd name="adj" fmla="val 3082"/>
            </a:avLst>
          </a:prstGeom>
          <a:solidFill>
            <a:srgbClr val="E9FDEE"/>
          </a:solidFill>
          <a:ln w="12700">
            <a:solidFill>
              <a:srgbClr val="1F9D55"/>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804672" y="1883664"/>
            <a:ext cx="2194560" cy="329184"/>
          </a:xfrm>
          <a:prstGeom prst="rect">
            <a:avLst/>
          </a:prstGeom>
          <a:noFill/>
          <a:ln/>
        </p:spPr>
        <p:txBody>
          <a:bodyPr wrap="square" lIns="0" tIns="0" rIns="0" bIns="0" rtlCol="0" anchor="ctr"/>
          <a:lstStyle/>
          <a:p>
            <a:pPr algn="l" indent="0" marL="0">
              <a:buNone/>
            </a:pPr>
            <a:r>
              <a:rPr lang="en-US" sz="1700" b="1" dirty="0">
                <a:solidFill>
                  <a:srgbClr val="1F9D55"/>
                </a:solidFill>
                <a:latin typeface="Cambria" pitchFamily="34" charset="0"/>
                <a:ea typeface="Cambria" pitchFamily="34" charset="-122"/>
                <a:cs typeface="Cambria" pitchFamily="34" charset="-120"/>
              </a:rPr>
              <a:t>Your Balance</a:t>
            </a:r>
            <a:endParaRPr lang="en-US" sz="1700" dirty="0"/>
          </a:p>
        </p:txBody>
      </p:sp>
      <p:sp>
        <p:nvSpPr>
          <p:cNvPr id="8" name="Text 6"/>
          <p:cNvSpPr txBox="1"/>
          <p:nvPr/>
        </p:nvSpPr>
        <p:spPr>
          <a:xfrm>
            <a:off x="804672" y="2231136"/>
            <a:ext cx="2194560" cy="566928"/>
          </a:xfrm>
          <a:prstGeom prst="rect">
            <a:avLst/>
          </a:prstGeom>
          <a:noFill/>
          <a:ln/>
        </p:spPr>
        <p:txBody>
          <a:bodyPr wrap="square" lIns="0" tIns="0" rIns="0" bIns="0" rtlCol="0" anchor="ctr"/>
          <a:lstStyle/>
          <a:p>
            <a:pPr algn="l" indent="0" marL="0">
              <a:buNone/>
            </a:pPr>
            <a:r>
              <a:rPr lang="en-US" sz="3000" b="1" dirty="0">
                <a:solidFill>
                  <a:srgbClr val="021A37"/>
                </a:solidFill>
                <a:latin typeface="Calibri" pitchFamily="34" charset="0"/>
                <a:ea typeface="Calibri" pitchFamily="34" charset="-122"/>
                <a:cs typeface="Calibri" pitchFamily="34" charset="-120"/>
              </a:rPr>
              <a:t>227.500</a:t>
            </a:r>
            <a:endParaRPr lang="en-US" sz="3000" dirty="0"/>
          </a:p>
        </p:txBody>
      </p:sp>
      <p:sp>
        <p:nvSpPr>
          <p:cNvPr id="9" name="Text 7"/>
          <p:cNvSpPr txBox="1"/>
          <p:nvPr/>
        </p:nvSpPr>
        <p:spPr>
          <a:xfrm>
            <a:off x="804672" y="2798064"/>
            <a:ext cx="2194560" cy="274320"/>
          </a:xfrm>
          <a:prstGeom prst="rect">
            <a:avLst/>
          </a:prstGeom>
          <a:noFill/>
          <a:ln/>
        </p:spPr>
        <p:txBody>
          <a:bodyPr wrap="square" lIns="0" tIns="0" rIns="0" bIns="0" rtlCol="0" anchor="ctr"/>
          <a:lstStyle/>
          <a:p>
            <a:pPr algn="l" indent="0" marL="0">
              <a:buNone/>
            </a:pPr>
            <a:r>
              <a:rPr lang="en-US" sz="1100" i="1" dirty="0">
                <a:solidFill>
                  <a:srgbClr val="5B7080"/>
                </a:solidFill>
                <a:latin typeface="Calibri" pitchFamily="34" charset="0"/>
                <a:ea typeface="Calibri" pitchFamily="34" charset="-122"/>
                <a:cs typeface="Calibri" pitchFamily="34" charset="-120"/>
              </a:rPr>
              <a:t>Gulf Metal Supplies</a:t>
            </a:r>
            <a:endParaRPr lang="en-US" sz="1100" dirty="0"/>
          </a:p>
        </p:txBody>
      </p:sp>
      <p:sp>
        <p:nvSpPr>
          <p:cNvPr id="10" name="Text 8"/>
          <p:cNvSpPr txBox="1"/>
          <p:nvPr/>
        </p:nvSpPr>
        <p:spPr>
          <a:xfrm>
            <a:off x="804672" y="3200400"/>
            <a:ext cx="2194560" cy="1463040"/>
          </a:xfrm>
          <a:prstGeom prst="rect">
            <a:avLst/>
          </a:prstGeom>
          <a:noFill/>
          <a:ln/>
        </p:spPr>
        <p:txBody>
          <a:bodyPr wrap="square" lIns="0" tIns="0" rIns="0" bIns="0" rtlCol="0" anchor="ctr"/>
          <a:lstStyle/>
          <a:p>
            <a:pPr algn="l" indent="0" marL="0">
              <a:lnSpc>
                <a:spcPts val="1800"/>
              </a:lnSpc>
              <a:buNone/>
            </a:pPr>
            <a:r>
              <a:rPr lang="en-US" sz="1250" dirty="0">
                <a:solidFill>
                  <a:srgbClr val="0D2136"/>
                </a:solidFill>
                <a:latin typeface="Calibri" pitchFamily="34" charset="0"/>
                <a:ea typeface="Calibri" pitchFamily="34" charset="-122"/>
                <a:cs typeface="Calibri" pitchFamily="34" charset="-120"/>
              </a:rPr>
              <a:t>Cash held, net of commission and fees, released and ready to pay out</a:t>
            </a:r>
            <a:endParaRPr lang="en-US" sz="1250" dirty="0"/>
          </a:p>
        </p:txBody>
      </p:sp>
      <p:sp>
        <p:nvSpPr>
          <p:cNvPr id="11" name="Shape 9"/>
          <p:cNvSpPr/>
          <p:nvPr/>
        </p:nvSpPr>
        <p:spPr>
          <a:xfrm>
            <a:off x="3364992" y="1700784"/>
            <a:ext cx="2670048" cy="3246120"/>
          </a:xfrm>
          <a:prstGeom prst="roundRect">
            <a:avLst>
              <a:gd name="adj" fmla="val 3082"/>
            </a:avLst>
          </a:prstGeom>
          <a:solidFill>
            <a:srgbClr val="FFF5E6"/>
          </a:solidFill>
          <a:ln w="12700">
            <a:solidFill>
              <a:srgbClr val="FE8E00"/>
            </a:solidFill>
            <a:prstDash val="solid"/>
          </a:ln>
          <a:effectLst>
            <a:outerShdw sx="100000" sy="100000" kx="0" ky="0" algn="bl" rotWithShape="0" blurRad="127000" dist="25400" dir="5400000">
              <a:srgbClr val="021A37">
                <a:alpha val="7000"/>
              </a:srgbClr>
            </a:outerShdw>
          </a:effectLst>
        </p:spPr>
      </p:sp>
      <p:sp>
        <p:nvSpPr>
          <p:cNvPr id="12" name="Text 10"/>
          <p:cNvSpPr txBox="1"/>
          <p:nvPr/>
        </p:nvSpPr>
        <p:spPr>
          <a:xfrm>
            <a:off x="3602736" y="1883664"/>
            <a:ext cx="2194560" cy="329184"/>
          </a:xfrm>
          <a:prstGeom prst="rect">
            <a:avLst/>
          </a:prstGeom>
          <a:noFill/>
          <a:ln/>
        </p:spPr>
        <p:txBody>
          <a:bodyPr wrap="square" lIns="0" tIns="0" rIns="0" bIns="0" rtlCol="0" anchor="ctr"/>
          <a:lstStyle/>
          <a:p>
            <a:pPr algn="l" indent="0" marL="0">
              <a:buNone/>
            </a:pPr>
            <a:r>
              <a:rPr lang="en-US" sz="1700" b="1" dirty="0">
                <a:solidFill>
                  <a:srgbClr val="FE8E00"/>
                </a:solidFill>
                <a:latin typeface="Cambria" pitchFamily="34" charset="0"/>
                <a:ea typeface="Cambria" pitchFamily="34" charset="-122"/>
                <a:cs typeface="Cambria" pitchFamily="34" charset="-120"/>
              </a:rPr>
              <a:t>Held</a:t>
            </a:r>
            <a:endParaRPr lang="en-US" sz="1700" dirty="0"/>
          </a:p>
        </p:txBody>
      </p:sp>
      <p:sp>
        <p:nvSpPr>
          <p:cNvPr id="13" name="Text 11"/>
          <p:cNvSpPr txBox="1"/>
          <p:nvPr/>
        </p:nvSpPr>
        <p:spPr>
          <a:xfrm>
            <a:off x="3602736" y="2231136"/>
            <a:ext cx="2194560" cy="566928"/>
          </a:xfrm>
          <a:prstGeom prst="rect">
            <a:avLst/>
          </a:prstGeom>
          <a:noFill/>
          <a:ln/>
        </p:spPr>
        <p:txBody>
          <a:bodyPr wrap="square" lIns="0" tIns="0" rIns="0" bIns="0" rtlCol="0" anchor="ctr"/>
          <a:lstStyle/>
          <a:p>
            <a:pPr algn="l" indent="0" marL="0">
              <a:buNone/>
            </a:pPr>
            <a:r>
              <a:rPr lang="en-US" sz="3000" b="1" dirty="0">
                <a:solidFill>
                  <a:srgbClr val="021A37"/>
                </a:solidFill>
                <a:latin typeface="Calibri" pitchFamily="34" charset="0"/>
                <a:ea typeface="Calibri" pitchFamily="34" charset="-122"/>
                <a:cs typeface="Calibri" pitchFamily="34" charset="-120"/>
              </a:rPr>
              <a:t>200.000</a:t>
            </a:r>
            <a:endParaRPr lang="en-US" sz="3000" dirty="0"/>
          </a:p>
        </p:txBody>
      </p:sp>
      <p:sp>
        <p:nvSpPr>
          <p:cNvPr id="14" name="Text 12"/>
          <p:cNvSpPr txBox="1"/>
          <p:nvPr/>
        </p:nvSpPr>
        <p:spPr>
          <a:xfrm>
            <a:off x="3602736" y="2798064"/>
            <a:ext cx="2194560" cy="274320"/>
          </a:xfrm>
          <a:prstGeom prst="rect">
            <a:avLst/>
          </a:prstGeom>
          <a:noFill/>
          <a:ln/>
        </p:spPr>
        <p:txBody>
          <a:bodyPr wrap="square" lIns="0" tIns="0" rIns="0" bIns="0" rtlCol="0" anchor="ctr"/>
          <a:lstStyle/>
          <a:p>
            <a:pPr algn="l" indent="0" marL="0">
              <a:buNone/>
            </a:pPr>
            <a:r>
              <a:rPr lang="en-US" sz="1100" i="1" dirty="0">
                <a:solidFill>
                  <a:srgbClr val="5B7080"/>
                </a:solidFill>
                <a:latin typeface="Calibri" pitchFamily="34" charset="0"/>
                <a:ea typeface="Calibri" pitchFamily="34" charset="-122"/>
                <a:cs typeface="Calibri" pitchFamily="34" charset="-120"/>
              </a:rPr>
              <a:t>example account</a:t>
            </a:r>
            <a:endParaRPr lang="en-US" sz="1100" dirty="0"/>
          </a:p>
        </p:txBody>
      </p:sp>
      <p:sp>
        <p:nvSpPr>
          <p:cNvPr id="15" name="Text 13"/>
          <p:cNvSpPr txBox="1"/>
          <p:nvPr/>
        </p:nvSpPr>
        <p:spPr>
          <a:xfrm>
            <a:off x="3602736" y="3200400"/>
            <a:ext cx="2194560" cy="1463040"/>
          </a:xfrm>
          <a:prstGeom prst="rect">
            <a:avLst/>
          </a:prstGeom>
          <a:noFill/>
          <a:ln/>
        </p:spPr>
        <p:txBody>
          <a:bodyPr wrap="square" lIns="0" tIns="0" rIns="0" bIns="0" rtlCol="0" anchor="ctr"/>
          <a:lstStyle/>
          <a:p>
            <a:pPr algn="l" indent="0" marL="0">
              <a:lnSpc>
                <a:spcPts val="1800"/>
              </a:lnSpc>
              <a:buNone/>
            </a:pPr>
            <a:r>
              <a:rPr lang="en-US" sz="1250" dirty="0">
                <a:solidFill>
                  <a:srgbClr val="0D2136"/>
                </a:solidFill>
                <a:latin typeface="Calibri" pitchFamily="34" charset="0"/>
                <a:ea typeface="Calibri" pitchFamily="34" charset="-122"/>
                <a:cs typeface="Calibri" pitchFamily="34" charset="-120"/>
              </a:rPr>
              <a:t>Cash held but not releasable — delivery unconfirmed, return window open</a:t>
            </a:r>
            <a:endParaRPr lang="en-US" sz="1250" dirty="0"/>
          </a:p>
        </p:txBody>
      </p:sp>
      <p:sp>
        <p:nvSpPr>
          <p:cNvPr id="16" name="Shape 14"/>
          <p:cNvSpPr/>
          <p:nvPr/>
        </p:nvSpPr>
        <p:spPr>
          <a:xfrm>
            <a:off x="6163056" y="1700784"/>
            <a:ext cx="2670048" cy="3246120"/>
          </a:xfrm>
          <a:prstGeom prst="roundRect">
            <a:avLst>
              <a:gd name="adj" fmla="val 3082"/>
            </a:avLst>
          </a:prstGeom>
          <a:solidFill>
            <a:srgbClr val="FEEEE9"/>
          </a:solidFill>
          <a:ln w="12700">
            <a:solidFill>
              <a:srgbClr val="D0402A"/>
            </a:solidFill>
            <a:prstDash val="solid"/>
          </a:ln>
          <a:effectLst>
            <a:outerShdw sx="100000" sy="100000" kx="0" ky="0" algn="bl" rotWithShape="0" blurRad="127000" dist="25400" dir="5400000">
              <a:srgbClr val="021A37">
                <a:alpha val="7000"/>
              </a:srgbClr>
            </a:outerShdw>
          </a:effectLst>
        </p:spPr>
      </p:sp>
      <p:sp>
        <p:nvSpPr>
          <p:cNvPr id="17" name="Text 15"/>
          <p:cNvSpPr txBox="1"/>
          <p:nvPr/>
        </p:nvSpPr>
        <p:spPr>
          <a:xfrm>
            <a:off x="6400800" y="1883664"/>
            <a:ext cx="2194560" cy="329184"/>
          </a:xfrm>
          <a:prstGeom prst="rect">
            <a:avLst/>
          </a:prstGeom>
          <a:noFill/>
          <a:ln/>
        </p:spPr>
        <p:txBody>
          <a:bodyPr wrap="square" lIns="0" tIns="0" rIns="0" bIns="0" rtlCol="0" anchor="ctr"/>
          <a:lstStyle/>
          <a:p>
            <a:pPr algn="l" indent="0" marL="0">
              <a:buNone/>
            </a:pPr>
            <a:r>
              <a:rPr lang="en-US" sz="1700" b="1" dirty="0">
                <a:solidFill>
                  <a:srgbClr val="D0402A"/>
                </a:solidFill>
                <a:latin typeface="Cambria" pitchFamily="34" charset="0"/>
                <a:ea typeface="Cambria" pitchFamily="34" charset="-122"/>
                <a:cs typeface="Cambria" pitchFamily="34" charset="-120"/>
              </a:rPr>
              <a:t>Your Dues</a:t>
            </a:r>
            <a:endParaRPr lang="en-US" sz="1700" dirty="0"/>
          </a:p>
        </p:txBody>
      </p:sp>
      <p:sp>
        <p:nvSpPr>
          <p:cNvPr id="18" name="Text 16"/>
          <p:cNvSpPr txBox="1"/>
          <p:nvPr/>
        </p:nvSpPr>
        <p:spPr>
          <a:xfrm>
            <a:off x="6400800" y="2231136"/>
            <a:ext cx="2194560" cy="566928"/>
          </a:xfrm>
          <a:prstGeom prst="rect">
            <a:avLst/>
          </a:prstGeom>
          <a:noFill/>
          <a:ln/>
        </p:spPr>
        <p:txBody>
          <a:bodyPr wrap="square" lIns="0" tIns="0" rIns="0" bIns="0" rtlCol="0" anchor="ctr"/>
          <a:lstStyle/>
          <a:p>
            <a:pPr algn="l" indent="0" marL="0">
              <a:buNone/>
            </a:pPr>
            <a:r>
              <a:rPr lang="en-US" sz="3000" b="1" dirty="0">
                <a:solidFill>
                  <a:srgbClr val="021A37"/>
                </a:solidFill>
                <a:latin typeface="Calibri" pitchFamily="34" charset="0"/>
                <a:ea typeface="Calibri" pitchFamily="34" charset="-122"/>
                <a:cs typeface="Calibri" pitchFamily="34" charset="-120"/>
              </a:rPr>
              <a:t>159.000</a:t>
            </a:r>
            <a:endParaRPr lang="en-US" sz="3000" dirty="0"/>
          </a:p>
        </p:txBody>
      </p:sp>
      <p:sp>
        <p:nvSpPr>
          <p:cNvPr id="19" name="Text 17"/>
          <p:cNvSpPr txBox="1"/>
          <p:nvPr/>
        </p:nvSpPr>
        <p:spPr>
          <a:xfrm>
            <a:off x="6400800" y="2798064"/>
            <a:ext cx="2194560" cy="274320"/>
          </a:xfrm>
          <a:prstGeom prst="rect">
            <a:avLst/>
          </a:prstGeom>
          <a:noFill/>
          <a:ln/>
        </p:spPr>
        <p:txBody>
          <a:bodyPr wrap="square" lIns="0" tIns="0" rIns="0" bIns="0" rtlCol="0" anchor="ctr"/>
          <a:lstStyle/>
          <a:p>
            <a:pPr algn="l" indent="0" marL="0">
              <a:buNone/>
            </a:pPr>
            <a:r>
              <a:rPr lang="en-US" sz="1100" i="1" dirty="0">
                <a:solidFill>
                  <a:srgbClr val="5B7080"/>
                </a:solidFill>
                <a:latin typeface="Calibri" pitchFamily="34" charset="0"/>
                <a:ea typeface="Calibri" pitchFamily="34" charset="-122"/>
                <a:cs typeface="Calibri" pitchFamily="34" charset="-120"/>
              </a:rPr>
              <a:t>Riffa Building Materials</a:t>
            </a:r>
            <a:endParaRPr lang="en-US" sz="1100" dirty="0"/>
          </a:p>
        </p:txBody>
      </p:sp>
      <p:sp>
        <p:nvSpPr>
          <p:cNvPr id="20" name="Text 18"/>
          <p:cNvSpPr txBox="1"/>
          <p:nvPr/>
        </p:nvSpPr>
        <p:spPr>
          <a:xfrm>
            <a:off x="6400800" y="3200400"/>
            <a:ext cx="2194560" cy="1463040"/>
          </a:xfrm>
          <a:prstGeom prst="rect">
            <a:avLst/>
          </a:prstGeom>
          <a:noFill/>
          <a:ln/>
        </p:spPr>
        <p:txBody>
          <a:bodyPr wrap="square" lIns="0" tIns="0" rIns="0" bIns="0" rtlCol="0" anchor="ctr"/>
          <a:lstStyle/>
          <a:p>
            <a:pPr algn="l" indent="0" marL="0">
              <a:lnSpc>
                <a:spcPts val="1800"/>
              </a:lnSpc>
              <a:buNone/>
            </a:pPr>
            <a:r>
              <a:rPr lang="en-US" sz="1250" dirty="0">
                <a:solidFill>
                  <a:srgbClr val="0D2136"/>
                </a:solidFill>
                <a:latin typeface="Calibri" pitchFamily="34" charset="0"/>
                <a:ea typeface="Calibri" pitchFamily="34" charset="-122"/>
                <a:cs typeface="Calibri" pitchFamily="34" charset="-120"/>
              </a:rPr>
              <a:t>Commission and fees on orders where the seller collected the cash</a:t>
            </a:r>
            <a:endParaRPr lang="en-US" sz="1250" dirty="0"/>
          </a:p>
        </p:txBody>
      </p:sp>
      <p:sp>
        <p:nvSpPr>
          <p:cNvPr id="21" name="Shape 19"/>
          <p:cNvSpPr/>
          <p:nvPr/>
        </p:nvSpPr>
        <p:spPr>
          <a:xfrm>
            <a:off x="8961120" y="1700784"/>
            <a:ext cx="2670048" cy="3246120"/>
          </a:xfrm>
          <a:prstGeom prst="roundRect">
            <a:avLst>
              <a:gd name="adj" fmla="val 3082"/>
            </a:avLst>
          </a:prstGeom>
          <a:solidFill>
            <a:srgbClr val="EDF7FE"/>
          </a:solidFill>
          <a:ln w="12700">
            <a:solidFill>
              <a:srgbClr val="026DBD"/>
            </a:solidFill>
            <a:prstDash val="solid"/>
          </a:ln>
          <a:effectLst>
            <a:outerShdw sx="100000" sy="100000" kx="0" ky="0" algn="bl" rotWithShape="0" blurRad="127000" dist="25400" dir="5400000">
              <a:srgbClr val="021A37">
                <a:alpha val="7000"/>
              </a:srgbClr>
            </a:outerShdw>
          </a:effectLst>
        </p:spPr>
      </p:sp>
      <p:sp>
        <p:nvSpPr>
          <p:cNvPr id="22" name="Text 20"/>
          <p:cNvSpPr txBox="1"/>
          <p:nvPr/>
        </p:nvSpPr>
        <p:spPr>
          <a:xfrm>
            <a:off x="9198864" y="1883664"/>
            <a:ext cx="2194560" cy="329184"/>
          </a:xfrm>
          <a:prstGeom prst="rect">
            <a:avLst/>
          </a:prstGeom>
          <a:noFill/>
          <a:ln/>
        </p:spPr>
        <p:txBody>
          <a:bodyPr wrap="square" lIns="0" tIns="0" rIns="0" bIns="0" rtlCol="0" anchor="ctr"/>
          <a:lstStyle/>
          <a:p>
            <a:pPr algn="l" indent="0" marL="0">
              <a:buNone/>
            </a:pPr>
            <a:r>
              <a:rPr lang="en-US" sz="1700" b="1" dirty="0">
                <a:solidFill>
                  <a:srgbClr val="026DBD"/>
                </a:solidFill>
                <a:latin typeface="Cambria" pitchFamily="34" charset="0"/>
                <a:ea typeface="Cambria" pitchFamily="34" charset="-122"/>
                <a:cs typeface="Cambria" pitchFamily="34" charset="-120"/>
              </a:rPr>
              <a:t>Awaiting buyer</a:t>
            </a:r>
            <a:endParaRPr lang="en-US" sz="1700" dirty="0"/>
          </a:p>
        </p:txBody>
      </p:sp>
      <p:sp>
        <p:nvSpPr>
          <p:cNvPr id="23" name="Text 21"/>
          <p:cNvSpPr txBox="1"/>
          <p:nvPr/>
        </p:nvSpPr>
        <p:spPr>
          <a:xfrm>
            <a:off x="9198864" y="2231136"/>
            <a:ext cx="2194560" cy="566928"/>
          </a:xfrm>
          <a:prstGeom prst="rect">
            <a:avLst/>
          </a:prstGeom>
          <a:noFill/>
          <a:ln/>
        </p:spPr>
        <p:txBody>
          <a:bodyPr wrap="square" lIns="0" tIns="0" rIns="0" bIns="0" rtlCol="0" anchor="ctr"/>
          <a:lstStyle/>
          <a:p>
            <a:pPr algn="l" indent="0" marL="0">
              <a:buNone/>
            </a:pPr>
            <a:r>
              <a:rPr lang="en-US" sz="3000" b="1" dirty="0">
                <a:solidFill>
                  <a:srgbClr val="021A37"/>
                </a:solidFill>
                <a:latin typeface="Calibri" pitchFamily="34" charset="0"/>
                <a:ea typeface="Calibri" pitchFamily="34" charset="-122"/>
                <a:cs typeface="Calibri" pitchFamily="34" charset="-120"/>
              </a:rPr>
              <a:t>300.000</a:t>
            </a:r>
            <a:endParaRPr lang="en-US" sz="3000" dirty="0"/>
          </a:p>
        </p:txBody>
      </p:sp>
      <p:sp>
        <p:nvSpPr>
          <p:cNvPr id="24" name="Text 22"/>
          <p:cNvSpPr txBox="1"/>
          <p:nvPr/>
        </p:nvSpPr>
        <p:spPr>
          <a:xfrm>
            <a:off x="9198864" y="2798064"/>
            <a:ext cx="2194560" cy="274320"/>
          </a:xfrm>
          <a:prstGeom prst="rect">
            <a:avLst/>
          </a:prstGeom>
          <a:noFill/>
          <a:ln/>
        </p:spPr>
        <p:txBody>
          <a:bodyPr wrap="square" lIns="0" tIns="0" rIns="0" bIns="0" rtlCol="0" anchor="ctr"/>
          <a:lstStyle/>
          <a:p>
            <a:pPr algn="l" indent="0" marL="0">
              <a:buNone/>
            </a:pPr>
            <a:r>
              <a:rPr lang="en-US" sz="1100" i="1" dirty="0">
                <a:solidFill>
                  <a:srgbClr val="5B7080"/>
                </a:solidFill>
                <a:latin typeface="Calibri" pitchFamily="34" charset="0"/>
                <a:ea typeface="Calibri" pitchFamily="34" charset="-122"/>
                <a:cs typeface="Calibri" pitchFamily="34" charset="-120"/>
              </a:rPr>
              <a:t>Sitra Industrial Tools</a:t>
            </a:r>
            <a:endParaRPr lang="en-US" sz="1100" dirty="0"/>
          </a:p>
        </p:txBody>
      </p:sp>
      <p:sp>
        <p:nvSpPr>
          <p:cNvPr id="25" name="Text 23"/>
          <p:cNvSpPr txBox="1"/>
          <p:nvPr/>
        </p:nvSpPr>
        <p:spPr>
          <a:xfrm>
            <a:off x="9198864" y="3200400"/>
            <a:ext cx="2194560" cy="1463040"/>
          </a:xfrm>
          <a:prstGeom prst="rect">
            <a:avLst/>
          </a:prstGeom>
          <a:noFill/>
          <a:ln/>
        </p:spPr>
        <p:txBody>
          <a:bodyPr wrap="square" lIns="0" tIns="0" rIns="0" bIns="0" rtlCol="0" anchor="ctr"/>
          <a:lstStyle/>
          <a:p>
            <a:pPr algn="l" indent="0" marL="0">
              <a:lnSpc>
                <a:spcPts val="1800"/>
              </a:lnSpc>
              <a:buNone/>
            </a:pPr>
            <a:r>
              <a:rPr lang="en-US" sz="1250" dirty="0">
                <a:solidFill>
                  <a:srgbClr val="0D2136"/>
                </a:solidFill>
                <a:latin typeface="Calibri" pitchFamily="34" charset="0"/>
                <a:ea typeface="Calibri" pitchFamily="34" charset="-122"/>
                <a:cs typeface="Calibri" pitchFamily="34" charset="-120"/>
              </a:rPr>
              <a:t>Credit orders — delivered and invoiced, not yet collected from anyone</a:t>
            </a:r>
            <a:endParaRPr lang="en-US" sz="1250" dirty="0"/>
          </a:p>
        </p:txBody>
      </p:sp>
      <p:sp>
        <p:nvSpPr>
          <p:cNvPr id="26" name="Text 24"/>
          <p:cNvSpPr txBox="1"/>
          <p:nvPr/>
        </p:nvSpPr>
        <p:spPr>
          <a:xfrm>
            <a:off x="621792" y="4983480"/>
            <a:ext cx="10972800" cy="731520"/>
          </a:xfrm>
          <a:prstGeom prst="rect">
            <a:avLst/>
          </a:prstGeom>
          <a:noFill/>
          <a:ln/>
        </p:spPr>
        <p:txBody>
          <a:bodyPr wrap="square" lIns="0" tIns="0" rIns="0" bIns="0" rtlCol="0" anchor="ctr"/>
          <a:lstStyle/>
          <a:p>
            <a:pPr algn="l" indent="0" marL="0">
              <a:lnSpc>
                <a:spcPts val="1700"/>
              </a:lnSpc>
              <a:buNone/>
            </a:pPr>
            <a:r>
              <a:rPr lang="en-US" sz="1150" dirty="0">
                <a:solidFill>
                  <a:srgbClr val="93A4B4"/>
                </a:solidFill>
                <a:latin typeface="Calibri" pitchFamily="34" charset="0"/>
                <a:ea typeface="Calibri" pitchFamily="34" charset="-122"/>
                <a:cs typeface="Calibri" pitchFamily="34" charset="-120"/>
              </a:rPr>
              <a:t>“Your Balance” and “Your Dues” are the Highbase team’s own words from the statement margin. Held is 0.000 across every seed seller, so the figure shown comes from an account added to make the state reachable.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475488"/>
            <a:ext cx="420624" cy="420624"/>
          </a:xfrm>
          <a:prstGeom prst="ellipse">
            <a:avLst/>
          </a:prstGeom>
          <a:solidFill>
            <a:srgbClr val="021A37"/>
          </a:solidFill>
          <a:ln/>
        </p:spPr>
      </p:sp>
      <p:sp>
        <p:nvSpPr>
          <p:cNvPr id="3" name="Text 1"/>
          <p:cNvSpPr txBox="1"/>
          <p:nvPr/>
        </p:nvSpPr>
        <p:spPr>
          <a:xfrm>
            <a:off x="566928" y="475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170432" y="347472"/>
            <a:ext cx="10424160" cy="868680"/>
          </a:xfrm>
          <a:prstGeom prst="rect">
            <a:avLst/>
          </a:prstGeom>
          <a:noFill/>
          <a:ln/>
        </p:spPr>
        <p:txBody>
          <a:bodyPr wrap="square" lIns="0" tIns="0" rIns="0" bIns="0" rtlCol="0" anchor="ctr"/>
          <a:lstStyle/>
          <a:p>
            <a:pPr algn="l" indent="0" marL="0">
              <a:buNone/>
            </a:pPr>
            <a:r>
              <a:rPr lang="en-US" sz="2800" b="1" dirty="0">
                <a:solidFill>
                  <a:srgbClr val="021A37"/>
                </a:solidFill>
                <a:latin typeface="Cambria" pitchFamily="34" charset="0"/>
                <a:ea typeface="Cambria" pitchFamily="34" charset="-122"/>
                <a:cs typeface="Cambria" pitchFamily="34" charset="-120"/>
              </a:rPr>
              <a:t>What one mis-keyed row costs</a:t>
            </a:r>
            <a:endParaRPr lang="en-US" sz="2800" dirty="0"/>
          </a:p>
        </p:txBody>
      </p:sp>
      <p:sp>
        <p:nvSpPr>
          <p:cNvPr id="5" name="Text 3"/>
          <p:cNvSpPr txBox="1"/>
          <p:nvPr/>
        </p:nvSpPr>
        <p:spPr>
          <a:xfrm>
            <a:off x="621792" y="1371600"/>
            <a:ext cx="10972800" cy="365760"/>
          </a:xfrm>
          <a:prstGeom prst="rect">
            <a:avLst/>
          </a:prstGeom>
          <a:noFill/>
          <a:ln/>
        </p:spPr>
        <p:txBody>
          <a:bodyPr wrap="square" lIns="0" tIns="0" rIns="0" bIns="0" rtlCol="0" anchor="ctr"/>
          <a:lstStyle/>
          <a:p>
            <a:pPr algn="l" indent="0" marL="0">
              <a:buNone/>
            </a:pPr>
            <a:r>
              <a:rPr lang="en-US" sz="1500" dirty="0">
                <a:solidFill>
                  <a:srgbClr val="0D2136"/>
                </a:solidFill>
                <a:latin typeface="Calibri" pitchFamily="34" charset="0"/>
                <a:ea typeface="Calibri" pitchFamily="34" charset="-122"/>
                <a:cs typeface="Calibri" pitchFamily="34" charset="-120"/>
              </a:rPr>
              <a:t>RET-1007 is a return booked as a sale: reversed in the order column, charged in the commission column.</a:t>
            </a:r>
            <a:endParaRPr lang="en-US" sz="1500" dirty="0"/>
          </a:p>
        </p:txBody>
      </p:sp>
      <p:sp>
        <p:nvSpPr>
          <p:cNvPr id="6" name="Shape 4"/>
          <p:cNvSpPr/>
          <p:nvPr/>
        </p:nvSpPr>
        <p:spPr>
          <a:xfrm>
            <a:off x="566928" y="1810512"/>
            <a:ext cx="11064240" cy="841248"/>
          </a:xfrm>
          <a:prstGeom prst="roundRect">
            <a:avLst>
              <a:gd name="adj" fmla="val 9783"/>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914400" y="1920240"/>
            <a:ext cx="4023360" cy="621792"/>
          </a:xfrm>
          <a:prstGeom prst="rect">
            <a:avLst/>
          </a:prstGeom>
          <a:noFill/>
          <a:ln/>
        </p:spPr>
        <p:txBody>
          <a:bodyPr wrap="square" lIns="0" tIns="0" rIns="0" bIns="0" rtlCol="0" anchor="ctr"/>
          <a:lstStyle/>
          <a:p>
            <a:pPr algn="l" indent="0" marL="0">
              <a:buNone/>
            </a:pPr>
            <a:r>
              <a:rPr lang="en-US" sz="1700" b="1" dirty="0">
                <a:solidFill>
                  <a:srgbClr val="021A37"/>
                </a:solidFill>
                <a:latin typeface="Cambria" pitchFamily="34" charset="0"/>
                <a:ea typeface="Cambria" pitchFamily="34" charset="-122"/>
                <a:cs typeface="Cambria" pitchFamily="34" charset="-120"/>
              </a:rPr>
              <a:t>Cash leg</a:t>
            </a:r>
            <a:endParaRPr lang="en-US" sz="1700" dirty="0"/>
          </a:p>
        </p:txBody>
      </p:sp>
      <p:sp>
        <p:nvSpPr>
          <p:cNvPr id="8" name="Text 6"/>
          <p:cNvSpPr txBox="1"/>
          <p:nvPr/>
        </p:nvSpPr>
        <p:spPr>
          <a:xfrm>
            <a:off x="5029200" y="1920240"/>
            <a:ext cx="4023360" cy="621792"/>
          </a:xfrm>
          <a:prstGeom prst="rect">
            <a:avLst/>
          </a:prstGeom>
          <a:noFill/>
          <a:ln/>
        </p:spPr>
        <p:txBody>
          <a:bodyPr wrap="square" lIns="0" tIns="0" rIns="0" bIns="0" rtlCol="0" anchor="ctr"/>
          <a:lstStyle/>
          <a:p>
            <a:pPr algn="l" indent="0" marL="0">
              <a:buNone/>
            </a:pPr>
            <a:r>
              <a:rPr lang="en-US" sz="1250" dirty="0">
                <a:solidFill>
                  <a:srgbClr val="5B7080"/>
                </a:solidFill>
                <a:latin typeface="Calibri" pitchFamily="34" charset="0"/>
                <a:ea typeface="Calibri" pitchFamily="34" charset="-122"/>
                <a:cs typeface="Calibri" pitchFamily="34" charset="-120"/>
              </a:rPr>
              <a:t>the larger error by far</a:t>
            </a:r>
            <a:endParaRPr lang="en-US" sz="1250" dirty="0"/>
          </a:p>
        </p:txBody>
      </p:sp>
      <p:sp>
        <p:nvSpPr>
          <p:cNvPr id="9" name="Text 7"/>
          <p:cNvSpPr txBox="1"/>
          <p:nvPr/>
        </p:nvSpPr>
        <p:spPr>
          <a:xfrm>
            <a:off x="9144000" y="1920240"/>
            <a:ext cx="2148840" cy="621792"/>
          </a:xfrm>
          <a:prstGeom prst="rect">
            <a:avLst/>
          </a:prstGeom>
          <a:noFill/>
          <a:ln/>
        </p:spPr>
        <p:txBody>
          <a:bodyPr wrap="square" lIns="0" tIns="0" rIns="0" bIns="0" rtlCol="0" anchor="ctr"/>
          <a:lstStyle/>
          <a:p>
            <a:pPr algn="r" indent="0" marL="0">
              <a:buNone/>
            </a:pPr>
            <a:r>
              <a:rPr lang="en-US" sz="2400" b="1" dirty="0">
                <a:solidFill>
                  <a:srgbClr val="1F9D55"/>
                </a:solidFill>
                <a:latin typeface="Calibri" pitchFamily="34" charset="0"/>
                <a:ea typeface="Calibri" pitchFamily="34" charset="-122"/>
                <a:cs typeface="Calibri" pitchFamily="34" charset="-120"/>
              </a:rPr>
              <a:t>+300.000</a:t>
            </a:r>
            <a:endParaRPr lang="en-US" sz="2400" dirty="0"/>
          </a:p>
        </p:txBody>
      </p:sp>
      <p:sp>
        <p:nvSpPr>
          <p:cNvPr id="10" name="Shape 8"/>
          <p:cNvSpPr/>
          <p:nvPr/>
        </p:nvSpPr>
        <p:spPr>
          <a:xfrm>
            <a:off x="566928" y="2779776"/>
            <a:ext cx="11064240" cy="841248"/>
          </a:xfrm>
          <a:prstGeom prst="roundRect">
            <a:avLst>
              <a:gd name="adj" fmla="val 9783"/>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1" name="Text 9"/>
          <p:cNvSpPr txBox="1"/>
          <p:nvPr/>
        </p:nvSpPr>
        <p:spPr>
          <a:xfrm>
            <a:off x="914400" y="2889504"/>
            <a:ext cx="4023360" cy="621792"/>
          </a:xfrm>
          <a:prstGeom prst="rect">
            <a:avLst/>
          </a:prstGeom>
          <a:noFill/>
          <a:ln/>
        </p:spPr>
        <p:txBody>
          <a:bodyPr wrap="square" lIns="0" tIns="0" rIns="0" bIns="0" rtlCol="0" anchor="ctr"/>
          <a:lstStyle/>
          <a:p>
            <a:pPr algn="l" indent="0" marL="0">
              <a:buNone/>
            </a:pPr>
            <a:r>
              <a:rPr lang="en-US" sz="1700" b="1" dirty="0">
                <a:solidFill>
                  <a:srgbClr val="021A37"/>
                </a:solidFill>
                <a:latin typeface="Cambria" pitchFamily="34" charset="0"/>
                <a:ea typeface="Cambria" pitchFamily="34" charset="-122"/>
                <a:cs typeface="Cambria" pitchFamily="34" charset="-120"/>
              </a:rPr>
              <a:t>Commission leg</a:t>
            </a:r>
            <a:endParaRPr lang="en-US" sz="1700" dirty="0"/>
          </a:p>
        </p:txBody>
      </p:sp>
      <p:sp>
        <p:nvSpPr>
          <p:cNvPr id="12" name="Text 10"/>
          <p:cNvSpPr txBox="1"/>
          <p:nvPr/>
        </p:nvSpPr>
        <p:spPr>
          <a:xfrm>
            <a:off x="5029200" y="2889504"/>
            <a:ext cx="4023360" cy="621792"/>
          </a:xfrm>
          <a:prstGeom prst="rect">
            <a:avLst/>
          </a:prstGeom>
          <a:noFill/>
          <a:ln/>
        </p:spPr>
        <p:txBody>
          <a:bodyPr wrap="square" lIns="0" tIns="0" rIns="0" bIns="0" rtlCol="0" anchor="ctr"/>
          <a:lstStyle/>
          <a:p>
            <a:pPr algn="l" indent="0" marL="0">
              <a:buNone/>
            </a:pPr>
            <a:r>
              <a:rPr lang="en-US" sz="1250" dirty="0">
                <a:solidFill>
                  <a:srgbClr val="5B7080"/>
                </a:solidFill>
                <a:latin typeface="Calibri" pitchFamily="34" charset="0"/>
                <a:ea typeface="Calibri" pitchFamily="34" charset="-122"/>
                <a:cs typeface="Calibri" pitchFamily="34" charset="-120"/>
              </a:rPr>
              <a:t>the only leg a commission-only check sees</a:t>
            </a:r>
            <a:endParaRPr lang="en-US" sz="1250" dirty="0"/>
          </a:p>
        </p:txBody>
      </p:sp>
      <p:sp>
        <p:nvSpPr>
          <p:cNvPr id="13" name="Text 11"/>
          <p:cNvSpPr txBox="1"/>
          <p:nvPr/>
        </p:nvSpPr>
        <p:spPr>
          <a:xfrm>
            <a:off x="9144000" y="2889504"/>
            <a:ext cx="2148840" cy="621792"/>
          </a:xfrm>
          <a:prstGeom prst="rect">
            <a:avLst/>
          </a:prstGeom>
          <a:noFill/>
          <a:ln/>
        </p:spPr>
        <p:txBody>
          <a:bodyPr wrap="square" lIns="0" tIns="0" rIns="0" bIns="0" rtlCol="0" anchor="ctr"/>
          <a:lstStyle/>
          <a:p>
            <a:pPr algn="r" indent="0" marL="0">
              <a:buNone/>
            </a:pPr>
            <a:r>
              <a:rPr lang="en-US" sz="2400" b="1" dirty="0">
                <a:solidFill>
                  <a:srgbClr val="D0402A"/>
                </a:solidFill>
                <a:latin typeface="Calibri" pitchFamily="34" charset="0"/>
                <a:ea typeface="Calibri" pitchFamily="34" charset="-122"/>
                <a:cs typeface="Calibri" pitchFamily="34" charset="-120"/>
              </a:rPr>
              <a:t>−9.000</a:t>
            </a:r>
            <a:endParaRPr lang="en-US" sz="2400" dirty="0"/>
          </a:p>
        </p:txBody>
      </p:sp>
      <p:sp>
        <p:nvSpPr>
          <p:cNvPr id="14" name="Shape 12"/>
          <p:cNvSpPr/>
          <p:nvPr/>
        </p:nvSpPr>
        <p:spPr>
          <a:xfrm>
            <a:off x="566928" y="3749040"/>
            <a:ext cx="11064240" cy="841248"/>
          </a:xfrm>
          <a:prstGeom prst="roundRect">
            <a:avLst>
              <a:gd name="adj" fmla="val 9783"/>
            </a:avLst>
          </a:prstGeom>
          <a:solidFill>
            <a:srgbClr val="021A37"/>
          </a:solidFill>
          <a:ln w="12700">
            <a:solidFill>
              <a:srgbClr val="021A37"/>
            </a:solidFill>
            <a:prstDash val="solid"/>
          </a:ln>
          <a:effectLst>
            <a:outerShdw sx="100000" sy="100000" kx="0" ky="0" algn="bl" rotWithShape="0" blurRad="127000" dist="25400" dir="5400000">
              <a:srgbClr val="021A37">
                <a:alpha val="7000"/>
              </a:srgbClr>
            </a:outerShdw>
          </a:effectLst>
        </p:spPr>
      </p:sp>
      <p:sp>
        <p:nvSpPr>
          <p:cNvPr id="15" name="Text 13"/>
          <p:cNvSpPr txBox="1"/>
          <p:nvPr/>
        </p:nvSpPr>
        <p:spPr>
          <a:xfrm>
            <a:off x="914400" y="3858768"/>
            <a:ext cx="4023360" cy="621792"/>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ea typeface="Cambria" pitchFamily="34" charset="-122"/>
                <a:cs typeface="Cambria" pitchFamily="34" charset="-120"/>
              </a:rPr>
              <a:t>Effect on the stated balance</a:t>
            </a:r>
            <a:endParaRPr lang="en-US" sz="1700" dirty="0"/>
          </a:p>
        </p:txBody>
      </p:sp>
      <p:sp>
        <p:nvSpPr>
          <p:cNvPr id="16" name="Text 14"/>
          <p:cNvSpPr txBox="1"/>
          <p:nvPr/>
        </p:nvSpPr>
        <p:spPr>
          <a:xfrm>
            <a:off x="5029200" y="3858768"/>
            <a:ext cx="4023360" cy="621792"/>
          </a:xfrm>
          <a:prstGeom prst="rect">
            <a:avLst/>
          </a:prstGeom>
          <a:noFill/>
          <a:ln/>
        </p:spPr>
        <p:txBody>
          <a:bodyPr wrap="square" lIns="0" tIns="0" rIns="0" bIns="0" rtlCol="0" anchor="ctr"/>
          <a:lstStyle/>
          <a:p>
            <a:pPr algn="l" indent="0" marL="0">
              <a:buNone/>
            </a:pPr>
            <a:r>
              <a:rPr lang="en-US" sz="1250" dirty="0">
                <a:solidFill>
                  <a:srgbClr val="9FC4E4"/>
                </a:solidFill>
                <a:latin typeface="Calibri" pitchFamily="34" charset="0"/>
                <a:ea typeface="Calibri" pitchFamily="34" charset="-122"/>
                <a:cs typeface="Calibri" pitchFamily="34" charset="-120"/>
              </a:rPr>
              <a:t>stated 518.500 against a correct 227.500</a:t>
            </a:r>
            <a:endParaRPr lang="en-US" sz="1250" dirty="0"/>
          </a:p>
        </p:txBody>
      </p:sp>
      <p:sp>
        <p:nvSpPr>
          <p:cNvPr id="17" name="Text 15"/>
          <p:cNvSpPr txBox="1"/>
          <p:nvPr/>
        </p:nvSpPr>
        <p:spPr>
          <a:xfrm>
            <a:off x="9144000" y="3858768"/>
            <a:ext cx="2148840" cy="621792"/>
          </a:xfrm>
          <a:prstGeom prst="rect">
            <a:avLst/>
          </a:prstGeom>
          <a:noFill/>
          <a:ln/>
        </p:spPr>
        <p:txBody>
          <a:bodyPr wrap="square" lIns="0" tIns="0" rIns="0" bIns="0" rtlCol="0" anchor="ctr"/>
          <a:lstStyle/>
          <a:p>
            <a:pPr algn="r" indent="0" marL="0">
              <a:buNone/>
            </a:pPr>
            <a:r>
              <a:rPr lang="en-US" sz="2400" b="1" dirty="0">
                <a:solidFill>
                  <a:srgbClr val="FFFFFF"/>
                </a:solidFill>
                <a:latin typeface="Calibri" pitchFamily="34" charset="0"/>
                <a:ea typeface="Calibri" pitchFamily="34" charset="-122"/>
                <a:cs typeface="Calibri" pitchFamily="34" charset="-120"/>
              </a:rPr>
              <a:t>291.000</a:t>
            </a:r>
            <a:endParaRPr lang="en-US" sz="2400" dirty="0"/>
          </a:p>
        </p:txBody>
      </p:sp>
      <p:sp>
        <p:nvSpPr>
          <p:cNvPr id="18" name="Shape 16"/>
          <p:cNvSpPr/>
          <p:nvPr/>
        </p:nvSpPr>
        <p:spPr>
          <a:xfrm>
            <a:off x="566928" y="4882896"/>
            <a:ext cx="11064240" cy="1024128"/>
          </a:xfrm>
          <a:prstGeom prst="roundRect">
            <a:avLst>
              <a:gd name="adj" fmla="val 8036"/>
            </a:avLst>
          </a:prstGeom>
          <a:solidFill>
            <a:srgbClr val="FFF5E6"/>
          </a:solidFill>
          <a:ln w="12700">
            <a:solidFill>
              <a:srgbClr val="F6E1BF"/>
            </a:solidFill>
            <a:prstDash val="solid"/>
          </a:ln>
          <a:effectLst>
            <a:outerShdw sx="100000" sy="100000" kx="0" ky="0" algn="bl" rotWithShape="0" blurRad="127000" dist="25400" dir="5400000">
              <a:srgbClr val="021A37">
                <a:alpha val="7000"/>
              </a:srgbClr>
            </a:outerShdw>
          </a:effectLst>
        </p:spPr>
      </p:sp>
      <p:sp>
        <p:nvSpPr>
          <p:cNvPr id="19" name="Text 17"/>
          <p:cNvSpPr txBox="1"/>
          <p:nvPr/>
        </p:nvSpPr>
        <p:spPr>
          <a:xfrm>
            <a:off x="914400" y="5010912"/>
            <a:ext cx="10378440" cy="786384"/>
          </a:xfrm>
          <a:prstGeom prst="rect">
            <a:avLst/>
          </a:prstGeom>
          <a:noFill/>
          <a:ln/>
        </p:spPr>
        <p:txBody>
          <a:bodyPr wrap="square" lIns="0" tIns="0" rIns="0" bIns="0" rtlCol="0" anchor="ctr"/>
          <a:lstStyle/>
          <a:p>
            <a:pPr algn="l" indent="0" marL="0">
              <a:lnSpc>
                <a:spcPts val="1900"/>
              </a:lnSpc>
              <a:buNone/>
            </a:pPr>
            <a:r>
              <a:rPr lang="en-US" sz="1350" dirty="0">
                <a:solidFill>
                  <a:srgbClr val="A35C00"/>
                </a:solidFill>
                <a:latin typeface="Calibri" pitchFamily="34" charset="0"/>
                <a:ea typeface="Calibri" pitchFamily="34" charset="-122"/>
                <a:cs typeface="Calibri" pitchFamily="34" charset="-120"/>
              </a:rPr>
              <a:t>The cash error is 33.3× the commission error — which is exactly 1 ÷ 3%. That ratio is why an error of this shape is nearly invisible to a check that reads commission alone.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 y="475488"/>
            <a:ext cx="420624" cy="420624"/>
          </a:xfrm>
          <a:prstGeom prst="ellipse">
            <a:avLst/>
          </a:prstGeom>
          <a:solidFill>
            <a:srgbClr val="021A37"/>
          </a:solidFill>
          <a:ln/>
        </p:spPr>
      </p:sp>
      <p:sp>
        <p:nvSpPr>
          <p:cNvPr id="3" name="Text 1"/>
          <p:cNvSpPr txBox="1"/>
          <p:nvPr/>
        </p:nvSpPr>
        <p:spPr>
          <a:xfrm>
            <a:off x="566928" y="475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170432" y="347472"/>
            <a:ext cx="10424160" cy="868680"/>
          </a:xfrm>
          <a:prstGeom prst="rect">
            <a:avLst/>
          </a:prstGeom>
          <a:noFill/>
          <a:ln/>
        </p:spPr>
        <p:txBody>
          <a:bodyPr wrap="square" lIns="0" tIns="0" rIns="0" bIns="0" rtlCol="0" anchor="ctr"/>
          <a:lstStyle/>
          <a:p>
            <a:pPr algn="l" indent="0" marL="0">
              <a:buNone/>
            </a:pPr>
            <a:r>
              <a:rPr lang="en-US" sz="2800" b="1" dirty="0">
                <a:solidFill>
                  <a:srgbClr val="021A37"/>
                </a:solidFill>
                <a:latin typeface="Cambria" pitchFamily="34" charset="0"/>
                <a:ea typeface="Cambria" pitchFamily="34" charset="-122"/>
                <a:cs typeface="Cambria" pitchFamily="34" charset="-120"/>
              </a:rPr>
              <a:t>One query finds it, and names it</a:t>
            </a:r>
            <a:endParaRPr lang="en-US" sz="2800" dirty="0"/>
          </a:p>
        </p:txBody>
      </p:sp>
      <p:sp>
        <p:nvSpPr>
          <p:cNvPr id="5" name="Shape 3"/>
          <p:cNvSpPr/>
          <p:nvPr/>
        </p:nvSpPr>
        <p:spPr>
          <a:xfrm>
            <a:off x="566928" y="1371600"/>
            <a:ext cx="11064240" cy="713232"/>
          </a:xfrm>
          <a:prstGeom prst="roundRect">
            <a:avLst>
              <a:gd name="adj" fmla="val 11538"/>
            </a:avLst>
          </a:prstGeom>
          <a:solidFill>
            <a:srgbClr val="021A37"/>
          </a:solidFill>
          <a:ln w="12700">
            <a:solidFill>
              <a:srgbClr val="021A37"/>
            </a:solidFill>
            <a:prstDash val="solid"/>
          </a:ln>
          <a:effectLst>
            <a:outerShdw sx="100000" sy="100000" kx="0" ky="0" algn="bl" rotWithShape="0" blurRad="127000" dist="25400" dir="5400000">
              <a:srgbClr val="021A37">
                <a:alpha val="7000"/>
              </a:srgbClr>
            </a:outerShdw>
          </a:effectLst>
        </p:spPr>
      </p:sp>
      <p:sp>
        <p:nvSpPr>
          <p:cNvPr id="6" name="Text 4"/>
          <p:cNvSpPr txBox="1"/>
          <p:nvPr/>
        </p:nvSpPr>
        <p:spPr>
          <a:xfrm>
            <a:off x="566928" y="1371600"/>
            <a:ext cx="11064240" cy="713232"/>
          </a:xfrm>
          <a:prstGeom prst="rect">
            <a:avLst/>
          </a:prstGeom>
          <a:noFill/>
          <a:ln/>
        </p:spPr>
        <p:txBody>
          <a:bodyPr wrap="square" lIns="0" tIns="0" rIns="0" bIns="0" rtlCol="0" anchor="ctr"/>
          <a:lstStyle/>
          <a:p>
            <a:pPr algn="ctr" indent="0" marL="0">
              <a:buNone/>
            </a:pPr>
            <a:r>
              <a:rPr lang="en-US" sz="1800" dirty="0">
                <a:solidFill>
                  <a:srgbClr val="7FC4F0"/>
                </a:solidFill>
                <a:latin typeface="Courier New" pitchFamily="34" charset="0"/>
                <a:ea typeface="Courier New" pitchFamily="34" charset="-122"/>
                <a:cs typeface="Courier New" pitchFamily="34" charset="-120"/>
              </a:rPr>
              <a:t>sum(commission)  ===  round3( rate × sum(orderValue) )</a:t>
            </a:r>
            <a:endParaRPr lang="en-US" sz="1800" dirty="0"/>
          </a:p>
        </p:txBody>
      </p:sp>
      <p:sp>
        <p:nvSpPr>
          <p:cNvPr id="7" name="Text 5"/>
          <p:cNvSpPr txBox="1"/>
          <p:nvPr/>
        </p:nvSpPr>
        <p:spPr>
          <a:xfrm>
            <a:off x="621792" y="2304288"/>
            <a:ext cx="10972800" cy="777240"/>
          </a:xfrm>
          <a:prstGeom prst="rect">
            <a:avLst/>
          </a:prstGeom>
          <a:noFill/>
          <a:ln/>
        </p:spPr>
        <p:txBody>
          <a:bodyPr wrap="square" lIns="0" tIns="0" rIns="0" bIns="0" rtlCol="0" anchor="ctr"/>
          <a:lstStyle/>
          <a:p>
            <a:pPr algn="l" indent="0" marL="0">
              <a:lnSpc>
                <a:spcPts val="2500"/>
              </a:lnSpc>
              <a:buNone/>
            </a:pPr>
            <a:r>
              <a:rPr lang="en-US" sz="1550" dirty="0">
                <a:solidFill>
                  <a:srgbClr val="0D2136"/>
                </a:solidFill>
                <a:latin typeface="Calibri" pitchFamily="34" charset="0"/>
                <a:ea typeface="Calibri" pitchFamily="34" charset="-122"/>
                <a:cs typeface="Calibri" pitchFamily="34" charset="-120"/>
              </a:rPr>
              <a:t>The control fails as filed and passes corrected. It does not report that “a mismatch exists” — it names RET-1007, with expected against charged, the delta, and the seller it belongs to.</a:t>
            </a:r>
            <a:endParaRPr lang="en-US" sz="1550" dirty="0"/>
          </a:p>
        </p:txBody>
      </p:sp>
      <p:sp>
        <p:nvSpPr>
          <p:cNvPr id="8" name="Shape 6"/>
          <p:cNvSpPr/>
          <p:nvPr/>
        </p:nvSpPr>
        <p:spPr>
          <a:xfrm>
            <a:off x="566928" y="3310128"/>
            <a:ext cx="3529584"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9" name="Text 7"/>
          <p:cNvSpPr txBox="1"/>
          <p:nvPr/>
        </p:nvSpPr>
        <p:spPr>
          <a:xfrm>
            <a:off x="804672" y="3493008"/>
            <a:ext cx="3054096" cy="365760"/>
          </a:xfrm>
          <a:prstGeom prst="rect">
            <a:avLst/>
          </a:prstGeom>
          <a:noFill/>
          <a:ln/>
        </p:spPr>
        <p:txBody>
          <a:bodyPr wrap="square" lIns="0" tIns="0" rIns="0" bIns="0" rtlCol="0" anchor="ctr"/>
          <a:lstStyle/>
          <a:p>
            <a:pPr algn="l" indent="0" marL="0">
              <a:buNone/>
            </a:pPr>
            <a:r>
              <a:rPr lang="en-US" sz="1700" b="1" dirty="0">
                <a:solidFill>
                  <a:srgbClr val="D0402A"/>
                </a:solidFill>
                <a:latin typeface="Cambria" pitchFamily="34" charset="0"/>
                <a:ea typeface="Cambria" pitchFamily="34" charset="-122"/>
                <a:cs typeface="Cambria" pitchFamily="34" charset="-120"/>
              </a:rPr>
              <a:t>Fails as filed</a:t>
            </a:r>
            <a:endParaRPr lang="en-US" sz="1700" dirty="0"/>
          </a:p>
        </p:txBody>
      </p:sp>
      <p:sp>
        <p:nvSpPr>
          <p:cNvPr id="10" name="Text 8"/>
          <p:cNvSpPr txBox="1"/>
          <p:nvPr/>
        </p:nvSpPr>
        <p:spPr>
          <a:xfrm>
            <a:off x="804672" y="3877056"/>
            <a:ext cx="3054096" cy="640080"/>
          </a:xfrm>
          <a:prstGeom prst="rect">
            <a:avLst/>
          </a:prstGeom>
          <a:noFill/>
          <a:ln/>
        </p:spPr>
        <p:txBody>
          <a:bodyPr wrap="square" lIns="0" tIns="0" rIns="0" bIns="0" rtlCol="0" anchor="ctr"/>
          <a:lstStyle/>
          <a:p>
            <a:pPr algn="l" indent="0" marL="0">
              <a:lnSpc>
                <a:spcPts val="1800"/>
              </a:lnSpc>
              <a:buNone/>
            </a:pPr>
            <a:r>
              <a:rPr lang="en-US" sz="1300" dirty="0">
                <a:solidFill>
                  <a:srgbClr val="5B7080"/>
                </a:solidFill>
                <a:latin typeface="Calibri" pitchFamily="34" charset="0"/>
                <a:ea typeface="Calibri" pitchFamily="34" charset="-122"/>
                <a:cs typeface="Calibri" pitchFamily="34" charset="-120"/>
              </a:rPr>
              <a:t>delta +9.000 on the commission leg</a:t>
            </a:r>
            <a:endParaRPr lang="en-US" sz="1300" dirty="0"/>
          </a:p>
        </p:txBody>
      </p:sp>
      <p:sp>
        <p:nvSpPr>
          <p:cNvPr id="11" name="Shape 9"/>
          <p:cNvSpPr/>
          <p:nvPr/>
        </p:nvSpPr>
        <p:spPr>
          <a:xfrm>
            <a:off x="4242816" y="3310128"/>
            <a:ext cx="3529584"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2" name="Text 10"/>
          <p:cNvSpPr txBox="1"/>
          <p:nvPr/>
        </p:nvSpPr>
        <p:spPr>
          <a:xfrm>
            <a:off x="4480560" y="3493008"/>
            <a:ext cx="3054096" cy="365760"/>
          </a:xfrm>
          <a:prstGeom prst="rect">
            <a:avLst/>
          </a:prstGeom>
          <a:noFill/>
          <a:ln/>
        </p:spPr>
        <p:txBody>
          <a:bodyPr wrap="square" lIns="0" tIns="0" rIns="0" bIns="0" rtlCol="0" anchor="ctr"/>
          <a:lstStyle/>
          <a:p>
            <a:pPr algn="l" indent="0" marL="0">
              <a:buNone/>
            </a:pPr>
            <a:r>
              <a:rPr lang="en-US" sz="1700" b="1" dirty="0">
                <a:solidFill>
                  <a:srgbClr val="1F9D55"/>
                </a:solidFill>
                <a:latin typeface="Cambria" pitchFamily="34" charset="0"/>
                <a:ea typeface="Cambria" pitchFamily="34" charset="-122"/>
                <a:cs typeface="Cambria" pitchFamily="34" charset="-120"/>
              </a:rPr>
              <a:t>Passes corrected</a:t>
            </a:r>
            <a:endParaRPr lang="en-US" sz="1700" dirty="0"/>
          </a:p>
        </p:txBody>
      </p:sp>
      <p:sp>
        <p:nvSpPr>
          <p:cNvPr id="13" name="Text 11"/>
          <p:cNvSpPr txBox="1"/>
          <p:nvPr/>
        </p:nvSpPr>
        <p:spPr>
          <a:xfrm>
            <a:off x="4480560" y="3877056"/>
            <a:ext cx="3054096" cy="640080"/>
          </a:xfrm>
          <a:prstGeom prst="rect">
            <a:avLst/>
          </a:prstGeom>
          <a:noFill/>
          <a:ln/>
        </p:spPr>
        <p:txBody>
          <a:bodyPr wrap="square" lIns="0" tIns="0" rIns="0" bIns="0" rtlCol="0" anchor="ctr"/>
          <a:lstStyle/>
          <a:p>
            <a:pPr algn="l" indent="0" marL="0">
              <a:lnSpc>
                <a:spcPts val="1800"/>
              </a:lnSpc>
              <a:buNone/>
            </a:pPr>
            <a:r>
              <a:rPr lang="en-US" sz="1300" dirty="0">
                <a:solidFill>
                  <a:srgbClr val="5B7080"/>
                </a:solidFill>
                <a:latin typeface="Calibri" pitchFamily="34" charset="0"/>
                <a:ea typeface="Calibri" pitchFamily="34" charset="-122"/>
                <a:cs typeface="Calibri" pitchFamily="34" charset="-120"/>
              </a:rPr>
              <a:t>every other row reconciles</a:t>
            </a:r>
            <a:endParaRPr lang="en-US" sz="1300" dirty="0"/>
          </a:p>
        </p:txBody>
      </p:sp>
      <p:sp>
        <p:nvSpPr>
          <p:cNvPr id="14" name="Shape 12"/>
          <p:cNvSpPr/>
          <p:nvPr/>
        </p:nvSpPr>
        <p:spPr>
          <a:xfrm>
            <a:off x="7918704" y="3310128"/>
            <a:ext cx="3529584" cy="1371600"/>
          </a:xfrm>
          <a:prstGeom prst="roundRect">
            <a:avLst>
              <a:gd name="adj" fmla="val 6000"/>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5" name="Text 13"/>
          <p:cNvSpPr txBox="1"/>
          <p:nvPr/>
        </p:nvSpPr>
        <p:spPr>
          <a:xfrm>
            <a:off x="8156448" y="3493008"/>
            <a:ext cx="3054096" cy="365760"/>
          </a:xfrm>
          <a:prstGeom prst="rect">
            <a:avLst/>
          </a:prstGeom>
          <a:noFill/>
          <a:ln/>
        </p:spPr>
        <p:txBody>
          <a:bodyPr wrap="square" lIns="0" tIns="0" rIns="0" bIns="0" rtlCol="0" anchor="ctr"/>
          <a:lstStyle/>
          <a:p>
            <a:pPr algn="l" indent="0" marL="0">
              <a:buNone/>
            </a:pPr>
            <a:r>
              <a:rPr lang="en-US" sz="1700" b="1" dirty="0">
                <a:solidFill>
                  <a:srgbClr val="026DBD"/>
                </a:solidFill>
                <a:latin typeface="Cambria" pitchFamily="34" charset="0"/>
                <a:ea typeface="Cambria" pitchFamily="34" charset="-122"/>
                <a:cs typeface="Cambria" pitchFamily="34" charset="-120"/>
              </a:rPr>
              <a:t>Names the row</a:t>
            </a:r>
            <a:endParaRPr lang="en-US" sz="1700" dirty="0"/>
          </a:p>
        </p:txBody>
      </p:sp>
      <p:sp>
        <p:nvSpPr>
          <p:cNvPr id="16" name="Text 14"/>
          <p:cNvSpPr txBox="1"/>
          <p:nvPr/>
        </p:nvSpPr>
        <p:spPr>
          <a:xfrm>
            <a:off x="8156448" y="3877056"/>
            <a:ext cx="3054096" cy="640080"/>
          </a:xfrm>
          <a:prstGeom prst="rect">
            <a:avLst/>
          </a:prstGeom>
          <a:noFill/>
          <a:ln/>
        </p:spPr>
        <p:txBody>
          <a:bodyPr wrap="square" lIns="0" tIns="0" rIns="0" bIns="0" rtlCol="0" anchor="ctr"/>
          <a:lstStyle/>
          <a:p>
            <a:pPr algn="l" indent="0" marL="0">
              <a:lnSpc>
                <a:spcPts val="1800"/>
              </a:lnSpc>
              <a:buNone/>
            </a:pPr>
            <a:r>
              <a:rPr lang="en-US" sz="1300" dirty="0">
                <a:solidFill>
                  <a:srgbClr val="5B7080"/>
                </a:solidFill>
                <a:latin typeface="Calibri" pitchFamily="34" charset="0"/>
                <a:ea typeface="Calibri" pitchFamily="34" charset="-122"/>
                <a:cs typeface="Calibri" pitchFamily="34" charset="-120"/>
              </a:rPr>
              <a:t>a control you cannot act on is a report</a:t>
            </a:r>
            <a:endParaRPr lang="en-US" sz="1300" dirty="0"/>
          </a:p>
        </p:txBody>
      </p:sp>
      <p:sp>
        <p:nvSpPr>
          <p:cNvPr id="17" name="Text 15"/>
          <p:cNvSpPr txBox="1"/>
          <p:nvPr/>
        </p:nvSpPr>
        <p:spPr>
          <a:xfrm>
            <a:off x="621792" y="4956048"/>
            <a:ext cx="10972800" cy="457200"/>
          </a:xfrm>
          <a:prstGeom prst="rect">
            <a:avLst/>
          </a:prstGeom>
          <a:noFill/>
          <a:ln/>
        </p:spPr>
        <p:txBody>
          <a:bodyPr wrap="square" lIns="0" tIns="0" rIns="0" bIns="0" rtlCol="0" anchor="ctr"/>
          <a:lstStyle/>
          <a:p>
            <a:pPr algn="l" indent="0" marL="0">
              <a:buNone/>
            </a:pPr>
            <a:r>
              <a:rPr lang="en-US" sz="1450" i="1" dirty="0">
                <a:solidFill>
                  <a:srgbClr val="021A37"/>
                </a:solidFill>
                <a:latin typeface="Calibri" pitchFamily="34" charset="0"/>
                <a:ea typeface="Calibri" pitchFamily="34" charset="-122"/>
                <a:cs typeface="Calibri" pitchFamily="34" charset="-120"/>
              </a:rPr>
              <a:t>Worth deciding: this runs as a gate on every settlement cycle, not as a monthly report.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475488"/>
            <a:ext cx="420624" cy="420624"/>
          </a:xfrm>
          <a:prstGeom prst="ellipse">
            <a:avLst/>
          </a:prstGeom>
          <a:solidFill>
            <a:srgbClr val="021A37"/>
          </a:solidFill>
          <a:ln/>
        </p:spPr>
      </p:sp>
      <p:sp>
        <p:nvSpPr>
          <p:cNvPr id="3" name="Text 1"/>
          <p:cNvSpPr txBox="1"/>
          <p:nvPr/>
        </p:nvSpPr>
        <p:spPr>
          <a:xfrm>
            <a:off x="566928" y="475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170432" y="347472"/>
            <a:ext cx="10424160" cy="868680"/>
          </a:xfrm>
          <a:prstGeom prst="rect">
            <a:avLst/>
          </a:prstGeom>
          <a:noFill/>
          <a:ln/>
        </p:spPr>
        <p:txBody>
          <a:bodyPr wrap="square" lIns="0" tIns="0" rIns="0" bIns="0" rtlCol="0" anchor="ctr"/>
          <a:lstStyle/>
          <a:p>
            <a:pPr algn="l" indent="0" marL="0">
              <a:buNone/>
            </a:pPr>
            <a:r>
              <a:rPr lang="en-US" sz="2800" b="1" dirty="0">
                <a:solidFill>
                  <a:srgbClr val="021A37"/>
                </a:solidFill>
                <a:latin typeface="Cambria" pitchFamily="34" charset="0"/>
                <a:ea typeface="Cambria" pitchFamily="34" charset="-122"/>
                <a:cs typeface="Cambria" pitchFamily="34" charset="-120"/>
              </a:rPr>
              <a:t>Never pay one seller with another seller’s money</a:t>
            </a:r>
            <a:endParaRPr lang="en-US" sz="2800" dirty="0"/>
          </a:p>
        </p:txBody>
      </p:sp>
      <p:sp>
        <p:nvSpPr>
          <p:cNvPr id="5" name="Text 3"/>
          <p:cNvSpPr txBox="1"/>
          <p:nvPr/>
        </p:nvSpPr>
        <p:spPr>
          <a:xfrm>
            <a:off x="621792" y="1371600"/>
            <a:ext cx="5943600" cy="1737360"/>
          </a:xfrm>
          <a:prstGeom prst="rect">
            <a:avLst/>
          </a:prstGeom>
          <a:noFill/>
          <a:ln/>
        </p:spPr>
        <p:txBody>
          <a:bodyPr wrap="square" lIns="0" tIns="0" rIns="0" bIns="0" rtlCol="0" anchor="t"/>
          <a:lstStyle/>
          <a:p>
            <a:pPr algn="l" indent="0" marL="0">
              <a:lnSpc>
                <a:spcPts val="2600"/>
              </a:lnSpc>
              <a:buNone/>
            </a:pPr>
            <a:r>
              <a:rPr lang="en-US" sz="1550" dirty="0">
                <a:solidFill>
                  <a:srgbClr val="0D2136"/>
                </a:solidFill>
                <a:latin typeface="Calibri" pitchFamily="34" charset="0"/>
                <a:ea typeface="Calibri" pitchFamily="34" charset="-122"/>
                <a:cs typeface="Calibri" pitchFamily="34" charset="-120"/>
              </a:rPr>
              <a:t>Manama Packaging Co. is owed 81.300 by the book. Highbase holds 81.000 of his cash. The run releases the cash, reports the shortfall, and refuses — it does not warn and proceed.</a:t>
            </a:r>
            <a:endParaRPr lang="en-US" sz="1550" dirty="0"/>
          </a:p>
        </p:txBody>
      </p:sp>
      <p:sp>
        <p:nvSpPr>
          <p:cNvPr id="6" name="Shape 4"/>
          <p:cNvSpPr/>
          <p:nvPr/>
        </p:nvSpPr>
        <p:spPr>
          <a:xfrm>
            <a:off x="566928" y="3246120"/>
            <a:ext cx="6035040" cy="1417320"/>
          </a:xfrm>
          <a:prstGeom prst="roundRect">
            <a:avLst>
              <a:gd name="adj" fmla="val 5806"/>
            </a:avLst>
          </a:prstGeom>
          <a:solidFill>
            <a:srgbClr val="FFF5E6"/>
          </a:solidFill>
          <a:ln w="12700">
            <a:solidFill>
              <a:srgbClr val="F6E1BF"/>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859536" y="3364992"/>
            <a:ext cx="5449824" cy="1188720"/>
          </a:xfrm>
          <a:prstGeom prst="rect">
            <a:avLst/>
          </a:prstGeom>
          <a:noFill/>
          <a:ln/>
        </p:spPr>
        <p:txBody>
          <a:bodyPr wrap="square" lIns="0" tIns="0" rIns="0" bIns="0" rtlCol="0" anchor="ctr"/>
          <a:lstStyle/>
          <a:p>
            <a:pPr algn="l" indent="0" marL="0">
              <a:lnSpc>
                <a:spcPts val="1900"/>
              </a:lnSpc>
              <a:buNone/>
            </a:pPr>
            <a:r>
              <a:rPr lang="en-US" sz="1300" dirty="0">
                <a:solidFill>
                  <a:srgbClr val="A35C00"/>
                </a:solidFill>
                <a:latin typeface="Calibri" pitchFamily="34" charset="0"/>
                <a:ea typeface="Calibri" pitchFamily="34" charset="-122"/>
                <a:cs typeface="Calibri" pitchFamily="34" charset="-120"/>
              </a:rPr>
              <a:t>Highbase’s own position on that order: 2.700 commission earned against 9.000 of discount funded — −6.300 on a single order. That is a commercial decision, and it should be visible as one.</a:t>
            </a:r>
            <a:endParaRPr lang="en-US" sz="1300" dirty="0"/>
          </a:p>
        </p:txBody>
      </p:sp>
      <p:sp>
        <p:nvSpPr>
          <p:cNvPr id="8" name="Shape 6"/>
          <p:cNvSpPr/>
          <p:nvPr/>
        </p:nvSpPr>
        <p:spPr>
          <a:xfrm>
            <a:off x="6967728" y="1371600"/>
            <a:ext cx="4663440" cy="3291840"/>
          </a:xfrm>
          <a:prstGeom prst="roundRect">
            <a:avLst>
              <a:gd name="adj" fmla="val 2500"/>
            </a:avLst>
          </a:prstGeom>
          <a:solidFill>
            <a:srgbClr val="F7FAFD"/>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9" name="Text 7"/>
          <p:cNvSpPr txBox="1"/>
          <p:nvPr/>
        </p:nvSpPr>
        <p:spPr>
          <a:xfrm>
            <a:off x="7269480" y="1664208"/>
            <a:ext cx="2468880" cy="457200"/>
          </a:xfrm>
          <a:prstGeom prst="rect">
            <a:avLst/>
          </a:prstGeom>
          <a:noFill/>
          <a:ln/>
        </p:spPr>
        <p:txBody>
          <a:bodyPr wrap="square" lIns="0" tIns="0" rIns="0" bIns="0" rtlCol="0" anchor="ctr"/>
          <a:lstStyle/>
          <a:p>
            <a:pPr algn="l" indent="0" marL="0">
              <a:buNone/>
            </a:pPr>
            <a:r>
              <a:rPr lang="en-US" sz="1350" dirty="0">
                <a:solidFill>
                  <a:srgbClr val="5B7080"/>
                </a:solidFill>
                <a:latin typeface="Calibri" pitchFamily="34" charset="0"/>
                <a:ea typeface="Calibri" pitchFamily="34" charset="-122"/>
                <a:cs typeface="Calibri" pitchFamily="34" charset="-120"/>
              </a:rPr>
              <a:t>The book asks for</a:t>
            </a:r>
            <a:endParaRPr lang="en-US" sz="1350" dirty="0"/>
          </a:p>
        </p:txBody>
      </p:sp>
      <p:sp>
        <p:nvSpPr>
          <p:cNvPr id="10" name="Text 8"/>
          <p:cNvSpPr txBox="1"/>
          <p:nvPr/>
        </p:nvSpPr>
        <p:spPr>
          <a:xfrm>
            <a:off x="9738360" y="1664208"/>
            <a:ext cx="1600200" cy="457200"/>
          </a:xfrm>
          <a:prstGeom prst="rect">
            <a:avLst/>
          </a:prstGeom>
          <a:noFill/>
          <a:ln/>
        </p:spPr>
        <p:txBody>
          <a:bodyPr wrap="square" lIns="0" tIns="0" rIns="0" bIns="0" rtlCol="0" anchor="ctr"/>
          <a:lstStyle/>
          <a:p>
            <a:pPr algn="r" indent="0" marL="0">
              <a:buNone/>
            </a:pPr>
            <a:r>
              <a:rPr lang="en-US" sz="1900" b="1" dirty="0">
                <a:solidFill>
                  <a:srgbClr val="021A37"/>
                </a:solidFill>
                <a:latin typeface="Calibri" pitchFamily="34" charset="0"/>
                <a:ea typeface="Calibri" pitchFamily="34" charset="-122"/>
                <a:cs typeface="Calibri" pitchFamily="34" charset="-120"/>
              </a:rPr>
              <a:t>81.300</a:t>
            </a:r>
            <a:endParaRPr lang="en-US" sz="1900" dirty="0"/>
          </a:p>
        </p:txBody>
      </p:sp>
      <p:sp>
        <p:nvSpPr>
          <p:cNvPr id="11" name="Text 9"/>
          <p:cNvSpPr txBox="1"/>
          <p:nvPr/>
        </p:nvSpPr>
        <p:spPr>
          <a:xfrm>
            <a:off x="7269480" y="2377440"/>
            <a:ext cx="2468880" cy="457200"/>
          </a:xfrm>
          <a:prstGeom prst="rect">
            <a:avLst/>
          </a:prstGeom>
          <a:noFill/>
          <a:ln/>
        </p:spPr>
        <p:txBody>
          <a:bodyPr wrap="square" lIns="0" tIns="0" rIns="0" bIns="0" rtlCol="0" anchor="ctr"/>
          <a:lstStyle/>
          <a:p>
            <a:pPr algn="l" indent="0" marL="0">
              <a:buNone/>
            </a:pPr>
            <a:r>
              <a:rPr lang="en-US" sz="1350" dirty="0">
                <a:solidFill>
                  <a:srgbClr val="5B7080"/>
                </a:solidFill>
                <a:latin typeface="Calibri" pitchFamily="34" charset="0"/>
                <a:ea typeface="Calibri" pitchFamily="34" charset="-122"/>
                <a:cs typeface="Calibri" pitchFamily="34" charset="-120"/>
              </a:rPr>
              <a:t>Cash actually held</a:t>
            </a:r>
            <a:endParaRPr lang="en-US" sz="1350" dirty="0"/>
          </a:p>
        </p:txBody>
      </p:sp>
      <p:sp>
        <p:nvSpPr>
          <p:cNvPr id="12" name="Text 10"/>
          <p:cNvSpPr txBox="1"/>
          <p:nvPr/>
        </p:nvSpPr>
        <p:spPr>
          <a:xfrm>
            <a:off x="9738360" y="2377440"/>
            <a:ext cx="1600200" cy="457200"/>
          </a:xfrm>
          <a:prstGeom prst="rect">
            <a:avLst/>
          </a:prstGeom>
          <a:noFill/>
          <a:ln/>
        </p:spPr>
        <p:txBody>
          <a:bodyPr wrap="square" lIns="0" tIns="0" rIns="0" bIns="0" rtlCol="0" anchor="ctr"/>
          <a:lstStyle/>
          <a:p>
            <a:pPr algn="r" indent="0" marL="0">
              <a:buNone/>
            </a:pPr>
            <a:r>
              <a:rPr lang="en-US" sz="1900" b="1" dirty="0">
                <a:solidFill>
                  <a:srgbClr val="021A37"/>
                </a:solidFill>
                <a:latin typeface="Calibri" pitchFamily="34" charset="0"/>
                <a:ea typeface="Calibri" pitchFamily="34" charset="-122"/>
                <a:cs typeface="Calibri" pitchFamily="34" charset="-120"/>
              </a:rPr>
              <a:t>81.000</a:t>
            </a:r>
            <a:endParaRPr lang="en-US" sz="1900" dirty="0"/>
          </a:p>
        </p:txBody>
      </p:sp>
      <p:sp>
        <p:nvSpPr>
          <p:cNvPr id="13" name="Shape 11"/>
          <p:cNvSpPr/>
          <p:nvPr/>
        </p:nvSpPr>
        <p:spPr>
          <a:xfrm>
            <a:off x="7269480" y="2907792"/>
            <a:ext cx="4069080" cy="13716"/>
          </a:xfrm>
          <a:prstGeom prst="rect">
            <a:avLst/>
          </a:prstGeom>
          <a:solidFill>
            <a:srgbClr val="E6EDF3"/>
          </a:solidFill>
          <a:ln/>
        </p:spPr>
      </p:sp>
      <p:sp>
        <p:nvSpPr>
          <p:cNvPr id="14" name="Text 12"/>
          <p:cNvSpPr txBox="1"/>
          <p:nvPr/>
        </p:nvSpPr>
        <p:spPr>
          <a:xfrm>
            <a:off x="7269480" y="3090672"/>
            <a:ext cx="2468880" cy="457200"/>
          </a:xfrm>
          <a:prstGeom prst="rect">
            <a:avLst/>
          </a:prstGeom>
          <a:noFill/>
          <a:ln/>
        </p:spPr>
        <p:txBody>
          <a:bodyPr wrap="square" lIns="0" tIns="0" rIns="0" bIns="0" rtlCol="0" anchor="ctr"/>
          <a:lstStyle/>
          <a:p>
            <a:pPr algn="l" indent="0" marL="0">
              <a:buNone/>
            </a:pPr>
            <a:r>
              <a:rPr lang="en-US" sz="1350" b="1" dirty="0">
                <a:solidFill>
                  <a:srgbClr val="021A37"/>
                </a:solidFill>
                <a:latin typeface="Calibri" pitchFamily="34" charset="0"/>
                <a:ea typeface="Calibri" pitchFamily="34" charset="-122"/>
                <a:cs typeface="Calibri" pitchFamily="34" charset="-120"/>
              </a:rPr>
              <a:t>Released</a:t>
            </a:r>
            <a:endParaRPr lang="en-US" sz="1350" dirty="0"/>
          </a:p>
        </p:txBody>
      </p:sp>
      <p:sp>
        <p:nvSpPr>
          <p:cNvPr id="15" name="Text 13"/>
          <p:cNvSpPr txBox="1"/>
          <p:nvPr/>
        </p:nvSpPr>
        <p:spPr>
          <a:xfrm>
            <a:off x="9738360" y="3090672"/>
            <a:ext cx="1600200" cy="457200"/>
          </a:xfrm>
          <a:prstGeom prst="rect">
            <a:avLst/>
          </a:prstGeom>
          <a:noFill/>
          <a:ln/>
        </p:spPr>
        <p:txBody>
          <a:bodyPr wrap="square" lIns="0" tIns="0" rIns="0" bIns="0" rtlCol="0" anchor="ctr"/>
          <a:lstStyle/>
          <a:p>
            <a:pPr algn="r" indent="0" marL="0">
              <a:buNone/>
            </a:pPr>
            <a:r>
              <a:rPr lang="en-US" sz="1900" b="1" dirty="0">
                <a:solidFill>
                  <a:srgbClr val="1F9D55"/>
                </a:solidFill>
                <a:latin typeface="Calibri" pitchFamily="34" charset="0"/>
                <a:ea typeface="Calibri" pitchFamily="34" charset="-122"/>
                <a:cs typeface="Calibri" pitchFamily="34" charset="-120"/>
              </a:rPr>
              <a:t>81.000</a:t>
            </a:r>
            <a:endParaRPr lang="en-US" sz="1900" dirty="0"/>
          </a:p>
        </p:txBody>
      </p:sp>
      <p:sp>
        <p:nvSpPr>
          <p:cNvPr id="16" name="Text 14"/>
          <p:cNvSpPr txBox="1"/>
          <p:nvPr/>
        </p:nvSpPr>
        <p:spPr>
          <a:xfrm>
            <a:off x="7269480" y="3803904"/>
            <a:ext cx="2468880" cy="457200"/>
          </a:xfrm>
          <a:prstGeom prst="rect">
            <a:avLst/>
          </a:prstGeom>
          <a:noFill/>
          <a:ln/>
        </p:spPr>
        <p:txBody>
          <a:bodyPr wrap="square" lIns="0" tIns="0" rIns="0" bIns="0" rtlCol="0" anchor="ctr"/>
          <a:lstStyle/>
          <a:p>
            <a:pPr algn="l" indent="0" marL="0">
              <a:buNone/>
            </a:pPr>
            <a:r>
              <a:rPr lang="en-US" sz="1350" b="1" dirty="0">
                <a:solidFill>
                  <a:srgbClr val="021A37"/>
                </a:solidFill>
                <a:latin typeface="Calibri" pitchFamily="34" charset="0"/>
                <a:ea typeface="Calibri" pitchFamily="34" charset="-122"/>
                <a:cs typeface="Calibri" pitchFamily="34" charset="-120"/>
              </a:rPr>
              <a:t>Reported unfunded</a:t>
            </a:r>
            <a:endParaRPr lang="en-US" sz="1350" dirty="0"/>
          </a:p>
        </p:txBody>
      </p:sp>
      <p:sp>
        <p:nvSpPr>
          <p:cNvPr id="17" name="Text 15"/>
          <p:cNvSpPr txBox="1"/>
          <p:nvPr/>
        </p:nvSpPr>
        <p:spPr>
          <a:xfrm>
            <a:off x="9738360" y="3803904"/>
            <a:ext cx="1600200" cy="457200"/>
          </a:xfrm>
          <a:prstGeom prst="rect">
            <a:avLst/>
          </a:prstGeom>
          <a:noFill/>
          <a:ln/>
        </p:spPr>
        <p:txBody>
          <a:bodyPr wrap="square" lIns="0" tIns="0" rIns="0" bIns="0" rtlCol="0" anchor="ctr"/>
          <a:lstStyle/>
          <a:p>
            <a:pPr algn="r" indent="0" marL="0">
              <a:buNone/>
            </a:pPr>
            <a:r>
              <a:rPr lang="en-US" sz="1900" b="1" dirty="0">
                <a:solidFill>
                  <a:srgbClr val="D0402A"/>
                </a:solidFill>
                <a:latin typeface="Calibri" pitchFamily="34" charset="0"/>
                <a:ea typeface="Calibri" pitchFamily="34" charset="-122"/>
                <a:cs typeface="Calibri" pitchFamily="34" charset="-120"/>
              </a:rPr>
              <a:t>0.300</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66928" y="475488"/>
            <a:ext cx="420624" cy="420624"/>
          </a:xfrm>
          <a:prstGeom prst="ellipse">
            <a:avLst/>
          </a:prstGeom>
          <a:solidFill>
            <a:srgbClr val="021A37"/>
          </a:solidFill>
          <a:ln/>
        </p:spPr>
      </p:sp>
      <p:sp>
        <p:nvSpPr>
          <p:cNvPr id="3" name="Text 1"/>
          <p:cNvSpPr txBox="1"/>
          <p:nvPr/>
        </p:nvSpPr>
        <p:spPr>
          <a:xfrm>
            <a:off x="566928" y="475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170432" y="347472"/>
            <a:ext cx="10424160" cy="868680"/>
          </a:xfrm>
          <a:prstGeom prst="rect">
            <a:avLst/>
          </a:prstGeom>
          <a:noFill/>
          <a:ln/>
        </p:spPr>
        <p:txBody>
          <a:bodyPr wrap="square" lIns="0" tIns="0" rIns="0" bIns="0" rtlCol="0" anchor="ctr"/>
          <a:lstStyle/>
          <a:p>
            <a:pPr algn="l" indent="0" marL="0">
              <a:buNone/>
            </a:pPr>
            <a:r>
              <a:rPr lang="en-US" sz="2800" b="1" dirty="0">
                <a:solidFill>
                  <a:srgbClr val="021A37"/>
                </a:solidFill>
                <a:latin typeface="Cambria" pitchFamily="34" charset="0"/>
                <a:ea typeface="Cambria" pitchFamily="34" charset="-122"/>
                <a:cs typeface="Cambria" pitchFamily="34" charset="-120"/>
              </a:rPr>
              <a:t>The case the whole model exists for</a:t>
            </a:r>
            <a:endParaRPr lang="en-US" sz="2800" dirty="0"/>
          </a:p>
        </p:txBody>
      </p:sp>
      <p:sp>
        <p:nvSpPr>
          <p:cNvPr id="5" name="Text 3"/>
          <p:cNvSpPr txBox="1"/>
          <p:nvPr/>
        </p:nvSpPr>
        <p:spPr>
          <a:xfrm>
            <a:off x="621792" y="1371600"/>
            <a:ext cx="10972800" cy="384048"/>
          </a:xfrm>
          <a:prstGeom prst="rect">
            <a:avLst/>
          </a:prstGeom>
          <a:noFill/>
          <a:ln/>
        </p:spPr>
        <p:txBody>
          <a:bodyPr wrap="square" lIns="0" tIns="0" rIns="0" bIns="0" rtlCol="0" anchor="ctr"/>
          <a:lstStyle/>
          <a:p>
            <a:pPr algn="l" indent="0" marL="0">
              <a:buNone/>
            </a:pPr>
            <a:r>
              <a:rPr lang="en-US" sz="2000" b="1" dirty="0">
                <a:solidFill>
                  <a:srgbClr val="D0402A"/>
                </a:solidFill>
                <a:latin typeface="Cambria" pitchFamily="34" charset="0"/>
                <a:ea typeface="Cambria" pitchFamily="34" charset="-122"/>
                <a:cs typeface="Cambria" pitchFamily="34" charset="-120"/>
              </a:rPr>
              <a:t>Riffa Building Materials</a:t>
            </a:r>
            <a:endParaRPr lang="en-US" sz="2000" dirty="0"/>
          </a:p>
        </p:txBody>
      </p:sp>
      <p:sp>
        <p:nvSpPr>
          <p:cNvPr id="6" name="Shape 4"/>
          <p:cNvSpPr/>
          <p:nvPr/>
        </p:nvSpPr>
        <p:spPr>
          <a:xfrm>
            <a:off x="566928" y="1847088"/>
            <a:ext cx="3529584" cy="1481328"/>
          </a:xfrm>
          <a:prstGeom prst="roundRect">
            <a:avLst>
              <a:gd name="adj" fmla="val 5556"/>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749808" y="2029968"/>
            <a:ext cx="3163824" cy="685800"/>
          </a:xfrm>
          <a:prstGeom prst="rect">
            <a:avLst/>
          </a:prstGeom>
          <a:noFill/>
          <a:ln/>
        </p:spPr>
        <p:txBody>
          <a:bodyPr wrap="square" lIns="0" tIns="0" rIns="0" bIns="0" rtlCol="0" anchor="ctr"/>
          <a:lstStyle/>
          <a:p>
            <a:pPr algn="ctr" indent="0" marL="0">
              <a:buNone/>
            </a:pPr>
            <a:r>
              <a:rPr lang="en-US" sz="3800" b="1" dirty="0">
                <a:solidFill>
                  <a:srgbClr val="021A37"/>
                </a:solidFill>
                <a:latin typeface="Calibri" pitchFamily="34" charset="0"/>
                <a:ea typeface="Calibri" pitchFamily="34" charset="-122"/>
                <a:cs typeface="Calibri" pitchFamily="34" charset="-120"/>
              </a:rPr>
              <a:t>159.000</a:t>
            </a:r>
            <a:endParaRPr lang="en-US" sz="3800" dirty="0"/>
          </a:p>
        </p:txBody>
      </p:sp>
      <p:sp>
        <p:nvSpPr>
          <p:cNvPr id="8" name="Text 6"/>
          <p:cNvSpPr txBox="1"/>
          <p:nvPr/>
        </p:nvSpPr>
        <p:spPr>
          <a:xfrm>
            <a:off x="749808" y="2743200"/>
            <a:ext cx="3163824" cy="365760"/>
          </a:xfrm>
          <a:prstGeom prst="rect">
            <a:avLst/>
          </a:prstGeom>
          <a:noFill/>
          <a:ln/>
        </p:spPr>
        <p:txBody>
          <a:bodyPr wrap="square" lIns="0" tIns="0" rIns="0" bIns="0" rtlCol="0" anchor="ctr"/>
          <a:lstStyle/>
          <a:p>
            <a:pPr algn="ctr" indent="0" marL="0">
              <a:buNone/>
            </a:pPr>
            <a:r>
              <a:rPr lang="en-US" sz="1300" dirty="0">
                <a:solidFill>
                  <a:srgbClr val="5B7080"/>
                </a:solidFill>
                <a:latin typeface="Calibri" pitchFamily="34" charset="0"/>
                <a:ea typeface="Calibri" pitchFamily="34" charset="-122"/>
                <a:cs typeface="Calibri" pitchFamily="34" charset="-120"/>
              </a:rPr>
              <a:t>commission earned</a:t>
            </a:r>
            <a:endParaRPr lang="en-US" sz="1300" dirty="0"/>
          </a:p>
        </p:txBody>
      </p:sp>
      <p:sp>
        <p:nvSpPr>
          <p:cNvPr id="9" name="Shape 7"/>
          <p:cNvSpPr/>
          <p:nvPr/>
        </p:nvSpPr>
        <p:spPr>
          <a:xfrm>
            <a:off x="4242816" y="1847088"/>
            <a:ext cx="3529584" cy="1481328"/>
          </a:xfrm>
          <a:prstGeom prst="roundRect">
            <a:avLst>
              <a:gd name="adj" fmla="val 5556"/>
            </a:avLst>
          </a:prstGeom>
          <a:solidFill>
            <a:srgbClr val="FEEEE9"/>
          </a:solidFill>
          <a:ln w="12700">
            <a:solidFill>
              <a:srgbClr val="F6D5CD"/>
            </a:solidFill>
            <a:prstDash val="solid"/>
          </a:ln>
          <a:effectLst>
            <a:outerShdw sx="100000" sy="100000" kx="0" ky="0" algn="bl" rotWithShape="0" blurRad="127000" dist="25400" dir="5400000">
              <a:srgbClr val="021A37">
                <a:alpha val="7000"/>
              </a:srgbClr>
            </a:outerShdw>
          </a:effectLst>
        </p:spPr>
      </p:sp>
      <p:sp>
        <p:nvSpPr>
          <p:cNvPr id="10" name="Text 8"/>
          <p:cNvSpPr txBox="1"/>
          <p:nvPr/>
        </p:nvSpPr>
        <p:spPr>
          <a:xfrm>
            <a:off x="4425696" y="2029968"/>
            <a:ext cx="3163824" cy="685800"/>
          </a:xfrm>
          <a:prstGeom prst="rect">
            <a:avLst/>
          </a:prstGeom>
          <a:noFill/>
          <a:ln/>
        </p:spPr>
        <p:txBody>
          <a:bodyPr wrap="square" lIns="0" tIns="0" rIns="0" bIns="0" rtlCol="0" anchor="ctr"/>
          <a:lstStyle/>
          <a:p>
            <a:pPr algn="ctr" indent="0" marL="0">
              <a:buNone/>
            </a:pPr>
            <a:r>
              <a:rPr lang="en-US" sz="3800" b="1" dirty="0">
                <a:solidFill>
                  <a:srgbClr val="D0402A"/>
                </a:solidFill>
                <a:latin typeface="Calibri" pitchFamily="34" charset="0"/>
                <a:ea typeface="Calibri" pitchFamily="34" charset="-122"/>
                <a:cs typeface="Calibri" pitchFamily="34" charset="-120"/>
              </a:rPr>
              <a:t>0.000</a:t>
            </a:r>
            <a:endParaRPr lang="en-US" sz="3800" dirty="0"/>
          </a:p>
        </p:txBody>
      </p:sp>
      <p:sp>
        <p:nvSpPr>
          <p:cNvPr id="11" name="Text 9"/>
          <p:cNvSpPr txBox="1"/>
          <p:nvPr/>
        </p:nvSpPr>
        <p:spPr>
          <a:xfrm>
            <a:off x="4425696" y="2743200"/>
            <a:ext cx="3163824" cy="365760"/>
          </a:xfrm>
          <a:prstGeom prst="rect">
            <a:avLst/>
          </a:prstGeom>
          <a:noFill/>
          <a:ln/>
        </p:spPr>
        <p:txBody>
          <a:bodyPr wrap="square" lIns="0" tIns="0" rIns="0" bIns="0" rtlCol="0" anchor="ctr"/>
          <a:lstStyle/>
          <a:p>
            <a:pPr algn="ctr" indent="0" marL="0">
              <a:buNone/>
            </a:pPr>
            <a:r>
              <a:rPr lang="en-US" sz="1300" dirty="0">
                <a:solidFill>
                  <a:srgbClr val="5B7080"/>
                </a:solidFill>
                <a:latin typeface="Calibri" pitchFamily="34" charset="0"/>
                <a:ea typeface="Calibri" pitchFamily="34" charset="-122"/>
                <a:cs typeface="Calibri" pitchFamily="34" charset="-120"/>
              </a:rPr>
              <a:t>of his cash held</a:t>
            </a:r>
            <a:endParaRPr lang="en-US" sz="1300" dirty="0"/>
          </a:p>
        </p:txBody>
      </p:sp>
      <p:sp>
        <p:nvSpPr>
          <p:cNvPr id="12" name="Shape 10"/>
          <p:cNvSpPr/>
          <p:nvPr/>
        </p:nvSpPr>
        <p:spPr>
          <a:xfrm>
            <a:off x="7918704" y="1847088"/>
            <a:ext cx="3529584" cy="1481328"/>
          </a:xfrm>
          <a:prstGeom prst="roundRect">
            <a:avLst>
              <a:gd name="adj" fmla="val 5556"/>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3" name="Text 11"/>
          <p:cNvSpPr txBox="1"/>
          <p:nvPr/>
        </p:nvSpPr>
        <p:spPr>
          <a:xfrm>
            <a:off x="8101584" y="2029968"/>
            <a:ext cx="3163824" cy="685800"/>
          </a:xfrm>
          <a:prstGeom prst="rect">
            <a:avLst/>
          </a:prstGeom>
          <a:noFill/>
          <a:ln/>
        </p:spPr>
        <p:txBody>
          <a:bodyPr wrap="square" lIns="0" tIns="0" rIns="0" bIns="0" rtlCol="0" anchor="ctr"/>
          <a:lstStyle/>
          <a:p>
            <a:pPr algn="ctr" indent="0" marL="0">
              <a:buNone/>
            </a:pPr>
            <a:r>
              <a:rPr lang="en-US" sz="3800" b="1" dirty="0">
                <a:solidFill>
                  <a:srgbClr val="021A37"/>
                </a:solidFill>
                <a:latin typeface="Calibri" pitchFamily="34" charset="0"/>
                <a:ea typeface="Calibri" pitchFamily="34" charset="-122"/>
                <a:cs typeface="Calibri" pitchFamily="34" charset="-120"/>
              </a:rPr>
              <a:t>1.06×</a:t>
            </a:r>
            <a:endParaRPr lang="en-US" sz="3800" dirty="0"/>
          </a:p>
        </p:txBody>
      </p:sp>
      <p:sp>
        <p:nvSpPr>
          <p:cNvPr id="14" name="Text 12"/>
          <p:cNvSpPr txBox="1"/>
          <p:nvPr/>
        </p:nvSpPr>
        <p:spPr>
          <a:xfrm>
            <a:off x="8101584" y="2743200"/>
            <a:ext cx="3163824" cy="365760"/>
          </a:xfrm>
          <a:prstGeom prst="rect">
            <a:avLst/>
          </a:prstGeom>
          <a:noFill/>
          <a:ln/>
        </p:spPr>
        <p:txBody>
          <a:bodyPr wrap="square" lIns="0" tIns="0" rIns="0" bIns="0" rtlCol="0" anchor="ctr"/>
          <a:lstStyle/>
          <a:p>
            <a:pPr algn="ctr" indent="0" marL="0">
              <a:buNone/>
            </a:pPr>
            <a:r>
              <a:rPr lang="en-US" sz="1300" dirty="0">
                <a:solidFill>
                  <a:srgbClr val="5B7080"/>
                </a:solidFill>
                <a:latin typeface="Calibri" pitchFamily="34" charset="0"/>
                <a:ea typeface="Calibri" pitchFamily="34" charset="-122"/>
                <a:cs typeface="Calibri" pitchFamily="34" charset="-120"/>
              </a:rPr>
              <a:t>the arrears ceiling</a:t>
            </a:r>
            <a:endParaRPr lang="en-US" sz="1300" dirty="0"/>
          </a:p>
        </p:txBody>
      </p:sp>
      <p:sp>
        <p:nvSpPr>
          <p:cNvPr id="15" name="Text 13"/>
          <p:cNvSpPr txBox="1"/>
          <p:nvPr/>
        </p:nvSpPr>
        <p:spPr>
          <a:xfrm>
            <a:off x="621792" y="3584448"/>
            <a:ext cx="10972800" cy="1005840"/>
          </a:xfrm>
          <a:prstGeom prst="rect">
            <a:avLst/>
          </a:prstGeom>
          <a:noFill/>
          <a:ln/>
        </p:spPr>
        <p:txBody>
          <a:bodyPr wrap="square" lIns="0" tIns="0" rIns="0" bIns="0" rtlCol="0" anchor="ctr"/>
          <a:lstStyle/>
          <a:p>
            <a:pPr algn="l" indent="0" marL="0">
              <a:lnSpc>
                <a:spcPts val="2700"/>
              </a:lnSpc>
              <a:buNone/>
            </a:pPr>
            <a:r>
              <a:rPr lang="en-US" sz="1600" dirty="0">
                <a:solidFill>
                  <a:srgbClr val="0D2136"/>
                </a:solidFill>
                <a:latin typeface="Calibri" pitchFamily="34" charset="0"/>
                <a:ea typeface="Calibri" pitchFamily="34" charset="-122"/>
                <a:cs typeface="Calibri" pitchFamily="34" charset="-120"/>
              </a:rPr>
              <a:t>Every order was collected directly by the seller. Highbase has earned 159.000 and can recover none of it by netting a payout, because it holds none of his money. Standing: credit suspended.</a:t>
            </a:r>
            <a:endParaRPr lang="en-US" sz="1600" dirty="0"/>
          </a:p>
        </p:txBody>
      </p:sp>
      <p:sp>
        <p:nvSpPr>
          <p:cNvPr id="16" name="Shape 14"/>
          <p:cNvSpPr/>
          <p:nvPr/>
        </p:nvSpPr>
        <p:spPr>
          <a:xfrm>
            <a:off x="566928" y="4736592"/>
            <a:ext cx="11064240" cy="868680"/>
          </a:xfrm>
          <a:prstGeom prst="roundRect">
            <a:avLst>
              <a:gd name="adj" fmla="val 9474"/>
            </a:avLst>
          </a:prstGeom>
          <a:solidFill>
            <a:srgbClr val="021A37"/>
          </a:solidFill>
          <a:ln w="12700">
            <a:solidFill>
              <a:srgbClr val="021A37"/>
            </a:solidFill>
            <a:prstDash val="solid"/>
          </a:ln>
          <a:effectLst>
            <a:outerShdw sx="100000" sy="100000" kx="0" ky="0" algn="bl" rotWithShape="0" blurRad="127000" dist="25400" dir="5400000">
              <a:srgbClr val="021A37">
                <a:alpha val="7000"/>
              </a:srgbClr>
            </a:outerShdw>
          </a:effectLst>
        </p:spPr>
      </p:sp>
      <p:sp>
        <p:nvSpPr>
          <p:cNvPr id="17" name="Text 15"/>
          <p:cNvSpPr txBox="1"/>
          <p:nvPr/>
        </p:nvSpPr>
        <p:spPr>
          <a:xfrm>
            <a:off x="914400" y="4818888"/>
            <a:ext cx="10378440" cy="713232"/>
          </a:xfrm>
          <a:prstGeom prst="rect">
            <a:avLst/>
          </a:prstGeom>
          <a:noFill/>
          <a:ln/>
        </p:spPr>
        <p:txBody>
          <a:bodyPr wrap="square" lIns="0" tIns="0" rIns="0" bIns="0" rtlCol="0" anchor="ctr"/>
          <a:lstStyle/>
          <a:p>
            <a:pPr algn="l" indent="0" marL="0">
              <a:buNone/>
            </a:pPr>
            <a:r>
              <a:rPr lang="en-US" sz="1450" dirty="0">
                <a:solidFill>
                  <a:srgbClr val="FFFFFF"/>
                </a:solidFill>
                <a:latin typeface="Calibri" pitchFamily="34" charset="0"/>
                <a:ea typeface="Calibri" pitchFamily="34" charset="-122"/>
                <a:cs typeface="Calibri" pitchFamily="34" charset="-120"/>
              </a:rPr>
              <a:t>Across the seed book: 188.550 of commission is unsecured, and three of four sellers are under watch or worse.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66928" y="475488"/>
            <a:ext cx="420624" cy="420624"/>
          </a:xfrm>
          <a:prstGeom prst="ellipse">
            <a:avLst/>
          </a:prstGeom>
          <a:solidFill>
            <a:srgbClr val="021A37"/>
          </a:solidFill>
          <a:ln/>
        </p:spPr>
      </p:sp>
      <p:sp>
        <p:nvSpPr>
          <p:cNvPr id="3" name="Text 1"/>
          <p:cNvSpPr txBox="1"/>
          <p:nvPr/>
        </p:nvSpPr>
        <p:spPr>
          <a:xfrm>
            <a:off x="566928" y="475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170432" y="347472"/>
            <a:ext cx="10424160" cy="868680"/>
          </a:xfrm>
          <a:prstGeom prst="rect">
            <a:avLst/>
          </a:prstGeom>
          <a:noFill/>
          <a:ln/>
        </p:spPr>
        <p:txBody>
          <a:bodyPr wrap="square" lIns="0" tIns="0" rIns="0" bIns="0" rtlCol="0" anchor="ctr"/>
          <a:lstStyle/>
          <a:p>
            <a:pPr algn="l" indent="0" marL="0">
              <a:buNone/>
            </a:pPr>
            <a:r>
              <a:rPr lang="en-US" sz="2800" b="1" dirty="0">
                <a:solidFill>
                  <a:srgbClr val="021A37"/>
                </a:solidFill>
                <a:latin typeface="Cambria" pitchFamily="34" charset="0"/>
                <a:ea typeface="Cambria" pitchFamily="34" charset="-122"/>
                <a:cs typeface="Cambria" pitchFamily="34" charset="-120"/>
              </a:rPr>
              <a:t>Standing is a status, not an amount</a:t>
            </a:r>
            <a:endParaRPr lang="en-US" sz="2800" dirty="0"/>
          </a:p>
        </p:txBody>
      </p:sp>
      <p:sp>
        <p:nvSpPr>
          <p:cNvPr id="5" name="Text 3"/>
          <p:cNvSpPr txBox="1"/>
          <p:nvPr/>
        </p:nvSpPr>
        <p:spPr>
          <a:xfrm>
            <a:off x="621792" y="1335024"/>
            <a:ext cx="10972800" cy="548640"/>
          </a:xfrm>
          <a:prstGeom prst="rect">
            <a:avLst/>
          </a:prstGeom>
          <a:noFill/>
          <a:ln/>
        </p:spPr>
        <p:txBody>
          <a:bodyPr wrap="square" lIns="0" tIns="0" rIns="0" bIns="0" rtlCol="0" anchor="ctr"/>
          <a:lstStyle/>
          <a:p>
            <a:pPr algn="l" indent="0" marL="0">
              <a:lnSpc>
                <a:spcPts val="2100"/>
              </a:lnSpc>
              <a:buNone/>
            </a:pPr>
            <a:r>
              <a:rPr lang="en-US" sz="1450" dirty="0">
                <a:solidFill>
                  <a:srgbClr val="5B7080"/>
                </a:solidFill>
                <a:latin typeface="Calibri" pitchFamily="34" charset="0"/>
                <a:ea typeface="Calibri" pitchFamily="34" charset="-122"/>
                <a:cs typeface="Calibri" pitchFamily="34" charset="-120"/>
              </a:rPr>
              <a:t>Four grades from three inputs. Each seed seller trips a different one, and the seller can see exactly what would move them up or down.</a:t>
            </a:r>
            <a:endParaRPr lang="en-US" sz="1450" dirty="0"/>
          </a:p>
        </p:txBody>
      </p:sp>
      <p:sp>
        <p:nvSpPr>
          <p:cNvPr id="6" name="Shape 4"/>
          <p:cNvSpPr/>
          <p:nvPr/>
        </p:nvSpPr>
        <p:spPr>
          <a:xfrm>
            <a:off x="566928" y="1975104"/>
            <a:ext cx="11247120" cy="457200"/>
          </a:xfrm>
          <a:prstGeom prst="rect">
            <a:avLst/>
          </a:prstGeom>
          <a:solidFill>
            <a:srgbClr val="F4F6F6"/>
          </a:solidFill>
          <a:ln/>
        </p:spPr>
      </p:sp>
      <p:sp>
        <p:nvSpPr>
          <p:cNvPr id="7" name="Text 5"/>
          <p:cNvSpPr txBox="1"/>
          <p:nvPr/>
        </p:nvSpPr>
        <p:spPr>
          <a:xfrm>
            <a:off x="768096" y="1975104"/>
            <a:ext cx="3383280" cy="457200"/>
          </a:xfrm>
          <a:prstGeom prst="rect">
            <a:avLst/>
          </a:prstGeom>
          <a:noFill/>
          <a:ln/>
        </p:spPr>
        <p:txBody>
          <a:bodyPr wrap="square" lIns="0" tIns="0" rIns="0" bIns="0" rtlCol="0" anchor="ctr"/>
          <a:lstStyle/>
          <a:p>
            <a:pPr algn="l" indent="0" marL="0">
              <a:buNone/>
            </a:pPr>
            <a:r>
              <a:rPr lang="en-US" sz="1300" b="1" dirty="0">
                <a:solidFill>
                  <a:srgbClr val="021A37"/>
                </a:solidFill>
                <a:latin typeface="Calibri" pitchFamily="34" charset="0"/>
                <a:ea typeface="Calibri" pitchFamily="34" charset="-122"/>
                <a:cs typeface="Calibri" pitchFamily="34" charset="-120"/>
              </a:rPr>
              <a:t>Seller</a:t>
            </a:r>
            <a:endParaRPr lang="en-US" sz="1300" dirty="0"/>
          </a:p>
        </p:txBody>
      </p:sp>
      <p:sp>
        <p:nvSpPr>
          <p:cNvPr id="8" name="Text 6"/>
          <p:cNvSpPr txBox="1"/>
          <p:nvPr/>
        </p:nvSpPr>
        <p:spPr>
          <a:xfrm>
            <a:off x="4517136" y="1975104"/>
            <a:ext cx="2194560" cy="457200"/>
          </a:xfrm>
          <a:prstGeom prst="rect">
            <a:avLst/>
          </a:prstGeom>
          <a:noFill/>
          <a:ln/>
        </p:spPr>
        <p:txBody>
          <a:bodyPr wrap="square" lIns="0" tIns="0" rIns="0" bIns="0" rtlCol="0" anchor="ctr"/>
          <a:lstStyle/>
          <a:p>
            <a:pPr algn="l" indent="0" marL="0">
              <a:buNone/>
            </a:pPr>
            <a:r>
              <a:rPr lang="en-US" sz="1300" b="1" dirty="0">
                <a:solidFill>
                  <a:srgbClr val="021A37"/>
                </a:solidFill>
                <a:latin typeface="Calibri" pitchFamily="34" charset="0"/>
                <a:ea typeface="Calibri" pitchFamily="34" charset="-122"/>
                <a:cs typeface="Calibri" pitchFamily="34" charset="-120"/>
              </a:rPr>
              <a:t>Standing</a:t>
            </a:r>
            <a:endParaRPr lang="en-US" sz="1300" dirty="0"/>
          </a:p>
        </p:txBody>
      </p:sp>
      <p:sp>
        <p:nvSpPr>
          <p:cNvPr id="9" name="Text 7"/>
          <p:cNvSpPr txBox="1"/>
          <p:nvPr/>
        </p:nvSpPr>
        <p:spPr>
          <a:xfrm>
            <a:off x="7077456" y="1975104"/>
            <a:ext cx="4663440" cy="457200"/>
          </a:xfrm>
          <a:prstGeom prst="rect">
            <a:avLst/>
          </a:prstGeom>
          <a:noFill/>
          <a:ln/>
        </p:spPr>
        <p:txBody>
          <a:bodyPr wrap="square" lIns="0" tIns="0" rIns="0" bIns="0" rtlCol="0" anchor="ctr"/>
          <a:lstStyle/>
          <a:p>
            <a:pPr algn="l" indent="0" marL="0">
              <a:buNone/>
            </a:pPr>
            <a:r>
              <a:rPr lang="en-US" sz="1300" b="1" dirty="0">
                <a:solidFill>
                  <a:srgbClr val="021A37"/>
                </a:solidFill>
                <a:latin typeface="Calibri" pitchFamily="34" charset="0"/>
                <a:ea typeface="Calibri" pitchFamily="34" charset="-122"/>
                <a:cs typeface="Calibri" pitchFamily="34" charset="-120"/>
              </a:rPr>
              <a:t>What triggered it</a:t>
            </a:r>
            <a:endParaRPr lang="en-US" sz="1300" dirty="0"/>
          </a:p>
        </p:txBody>
      </p:sp>
      <p:sp>
        <p:nvSpPr>
          <p:cNvPr id="10" name="Text 8"/>
          <p:cNvSpPr txBox="1"/>
          <p:nvPr/>
        </p:nvSpPr>
        <p:spPr>
          <a:xfrm>
            <a:off x="768096" y="2432304"/>
            <a:ext cx="3383280" cy="713232"/>
          </a:xfrm>
          <a:prstGeom prst="rect">
            <a:avLst/>
          </a:prstGeom>
          <a:noFill/>
          <a:ln/>
        </p:spPr>
        <p:txBody>
          <a:bodyPr wrap="square" lIns="0" tIns="0" rIns="0" bIns="0" rtlCol="0" anchor="ctr"/>
          <a:lstStyle/>
          <a:p>
            <a:pPr algn="l" indent="0" marL="0">
              <a:buNone/>
            </a:pPr>
            <a:r>
              <a:rPr lang="en-US" sz="1400" b="1" dirty="0">
                <a:solidFill>
                  <a:srgbClr val="0D2136"/>
                </a:solidFill>
                <a:latin typeface="Calibri" pitchFamily="34" charset="0"/>
                <a:ea typeface="Calibri" pitchFamily="34" charset="-122"/>
                <a:cs typeface="Calibri" pitchFamily="34" charset="-120"/>
              </a:rPr>
              <a:t>Gulf Metal Supplies</a:t>
            </a:r>
            <a:endParaRPr lang="en-US" sz="1400" dirty="0"/>
          </a:p>
        </p:txBody>
      </p:sp>
      <p:sp>
        <p:nvSpPr>
          <p:cNvPr id="11" name="Shape 9"/>
          <p:cNvSpPr/>
          <p:nvPr/>
        </p:nvSpPr>
        <p:spPr>
          <a:xfrm>
            <a:off x="4517136" y="2606040"/>
            <a:ext cx="2103120" cy="365760"/>
          </a:xfrm>
          <a:prstGeom prst="roundRect">
            <a:avLst>
              <a:gd name="adj" fmla="val 15000"/>
            </a:avLst>
          </a:prstGeom>
          <a:solidFill>
            <a:srgbClr val="E9FDEE"/>
          </a:solidFill>
          <a:ln w="9525">
            <a:solidFill>
              <a:srgbClr val="1F9D55"/>
            </a:solidFill>
            <a:prstDash val="solid"/>
          </a:ln>
        </p:spPr>
      </p:sp>
      <p:sp>
        <p:nvSpPr>
          <p:cNvPr id="12" name="Text 10"/>
          <p:cNvSpPr txBox="1"/>
          <p:nvPr/>
        </p:nvSpPr>
        <p:spPr>
          <a:xfrm>
            <a:off x="4517136" y="2606040"/>
            <a:ext cx="2103120" cy="365760"/>
          </a:xfrm>
          <a:prstGeom prst="rect">
            <a:avLst/>
          </a:prstGeom>
          <a:noFill/>
          <a:ln/>
        </p:spPr>
        <p:txBody>
          <a:bodyPr wrap="square" lIns="0" tIns="0" rIns="0" bIns="0" rtlCol="0" anchor="ctr"/>
          <a:lstStyle/>
          <a:p>
            <a:pPr algn="ctr" indent="0" marL="0">
              <a:buNone/>
            </a:pPr>
            <a:r>
              <a:rPr lang="en-US" sz="1250" b="1" dirty="0">
                <a:solidFill>
                  <a:srgbClr val="1F9D55"/>
                </a:solidFill>
                <a:latin typeface="Calibri" pitchFamily="34" charset="0"/>
                <a:ea typeface="Calibri" pitchFamily="34" charset="-122"/>
                <a:cs typeface="Calibri" pitchFamily="34" charset="-120"/>
              </a:rPr>
              <a:t>Good standing</a:t>
            </a:r>
            <a:endParaRPr lang="en-US" sz="1250" dirty="0"/>
          </a:p>
        </p:txBody>
      </p:sp>
      <p:sp>
        <p:nvSpPr>
          <p:cNvPr id="13" name="Text 11"/>
          <p:cNvSpPr txBox="1"/>
          <p:nvPr/>
        </p:nvSpPr>
        <p:spPr>
          <a:xfrm>
            <a:off x="7077456" y="2432304"/>
            <a:ext cx="4663440" cy="713232"/>
          </a:xfrm>
          <a:prstGeom prst="rect">
            <a:avLst/>
          </a:prstGeom>
          <a:noFill/>
          <a:ln/>
        </p:spPr>
        <p:txBody>
          <a:bodyPr wrap="square" lIns="0" tIns="0" rIns="0" bIns="0" rtlCol="0" anchor="ctr"/>
          <a:lstStyle/>
          <a:p>
            <a:pPr algn="l" indent="0" marL="0">
              <a:buNone/>
            </a:pPr>
            <a:r>
              <a:rPr lang="en-US" sz="1300" dirty="0">
                <a:solidFill>
                  <a:srgbClr val="5B7080"/>
                </a:solidFill>
                <a:latin typeface="Calibri" pitchFamily="34" charset="0"/>
                <a:ea typeface="Calibri" pitchFamily="34" charset="-122"/>
                <a:cs typeface="Calibri" pitchFamily="34" charset="-120"/>
              </a:rPr>
              <a:t>nothing — all three inputs clear</a:t>
            </a:r>
            <a:endParaRPr lang="en-US" sz="1300" dirty="0"/>
          </a:p>
        </p:txBody>
      </p:sp>
      <p:sp>
        <p:nvSpPr>
          <p:cNvPr id="14" name="Shape 12"/>
          <p:cNvSpPr/>
          <p:nvPr/>
        </p:nvSpPr>
        <p:spPr>
          <a:xfrm>
            <a:off x="566928" y="3145536"/>
            <a:ext cx="11247120" cy="9144"/>
          </a:xfrm>
          <a:prstGeom prst="rect">
            <a:avLst/>
          </a:prstGeom>
          <a:solidFill>
            <a:srgbClr val="E6EDF3"/>
          </a:solidFill>
          <a:ln/>
        </p:spPr>
      </p:sp>
      <p:sp>
        <p:nvSpPr>
          <p:cNvPr id="15" name="Shape 13"/>
          <p:cNvSpPr/>
          <p:nvPr/>
        </p:nvSpPr>
        <p:spPr>
          <a:xfrm>
            <a:off x="566928" y="3145536"/>
            <a:ext cx="11247120" cy="713232"/>
          </a:xfrm>
          <a:prstGeom prst="rect">
            <a:avLst/>
          </a:prstGeom>
          <a:solidFill>
            <a:srgbClr val="FBFCFE"/>
          </a:solidFill>
          <a:ln/>
        </p:spPr>
      </p:sp>
      <p:sp>
        <p:nvSpPr>
          <p:cNvPr id="16" name="Text 14"/>
          <p:cNvSpPr txBox="1"/>
          <p:nvPr/>
        </p:nvSpPr>
        <p:spPr>
          <a:xfrm>
            <a:off x="768096" y="3145536"/>
            <a:ext cx="3383280" cy="713232"/>
          </a:xfrm>
          <a:prstGeom prst="rect">
            <a:avLst/>
          </a:prstGeom>
          <a:noFill/>
          <a:ln/>
        </p:spPr>
        <p:txBody>
          <a:bodyPr wrap="square" lIns="0" tIns="0" rIns="0" bIns="0" rtlCol="0" anchor="ctr"/>
          <a:lstStyle/>
          <a:p>
            <a:pPr algn="l" indent="0" marL="0">
              <a:buNone/>
            </a:pPr>
            <a:r>
              <a:rPr lang="en-US" sz="1400" b="1" dirty="0">
                <a:solidFill>
                  <a:srgbClr val="0D2136"/>
                </a:solidFill>
                <a:latin typeface="Calibri" pitchFamily="34" charset="0"/>
                <a:ea typeface="Calibri" pitchFamily="34" charset="-122"/>
                <a:cs typeface="Calibri" pitchFamily="34" charset="-120"/>
              </a:rPr>
              <a:t>Manama Packaging Co.</a:t>
            </a:r>
            <a:endParaRPr lang="en-US" sz="1400" dirty="0"/>
          </a:p>
        </p:txBody>
      </p:sp>
      <p:sp>
        <p:nvSpPr>
          <p:cNvPr id="17" name="Shape 15"/>
          <p:cNvSpPr/>
          <p:nvPr/>
        </p:nvSpPr>
        <p:spPr>
          <a:xfrm>
            <a:off x="4517136" y="3319272"/>
            <a:ext cx="2103120" cy="365760"/>
          </a:xfrm>
          <a:prstGeom prst="roundRect">
            <a:avLst>
              <a:gd name="adj" fmla="val 15000"/>
            </a:avLst>
          </a:prstGeom>
          <a:solidFill>
            <a:srgbClr val="FFF5E6"/>
          </a:solidFill>
          <a:ln w="9525">
            <a:solidFill>
              <a:srgbClr val="FE8E00"/>
            </a:solidFill>
            <a:prstDash val="solid"/>
          </a:ln>
        </p:spPr>
      </p:sp>
      <p:sp>
        <p:nvSpPr>
          <p:cNvPr id="18" name="Text 16"/>
          <p:cNvSpPr txBox="1"/>
          <p:nvPr/>
        </p:nvSpPr>
        <p:spPr>
          <a:xfrm>
            <a:off x="4517136" y="3319272"/>
            <a:ext cx="2103120" cy="365760"/>
          </a:xfrm>
          <a:prstGeom prst="rect">
            <a:avLst/>
          </a:prstGeom>
          <a:noFill/>
          <a:ln/>
        </p:spPr>
        <p:txBody>
          <a:bodyPr wrap="square" lIns="0" tIns="0" rIns="0" bIns="0" rtlCol="0" anchor="ctr"/>
          <a:lstStyle/>
          <a:p>
            <a:pPr algn="ctr" indent="0" marL="0">
              <a:buNone/>
            </a:pPr>
            <a:r>
              <a:rPr lang="en-US" sz="1250" b="1" dirty="0">
                <a:solidFill>
                  <a:srgbClr val="FE8E00"/>
                </a:solidFill>
                <a:latin typeface="Calibri" pitchFamily="34" charset="0"/>
                <a:ea typeface="Calibri" pitchFamily="34" charset="-122"/>
                <a:cs typeface="Calibri" pitchFamily="34" charset="-120"/>
              </a:rPr>
              <a:t>Under watch</a:t>
            </a:r>
            <a:endParaRPr lang="en-US" sz="1250" dirty="0"/>
          </a:p>
        </p:txBody>
      </p:sp>
      <p:sp>
        <p:nvSpPr>
          <p:cNvPr id="19" name="Text 17"/>
          <p:cNvSpPr txBox="1"/>
          <p:nvPr/>
        </p:nvSpPr>
        <p:spPr>
          <a:xfrm>
            <a:off x="7077456" y="3145536"/>
            <a:ext cx="4663440" cy="713232"/>
          </a:xfrm>
          <a:prstGeom prst="rect">
            <a:avLst/>
          </a:prstGeom>
          <a:noFill/>
          <a:ln/>
        </p:spPr>
        <p:txBody>
          <a:bodyPr wrap="square" lIns="0" tIns="0" rIns="0" bIns="0" rtlCol="0" anchor="ctr"/>
          <a:lstStyle/>
          <a:p>
            <a:pPr algn="l" indent="0" marL="0">
              <a:buNone/>
            </a:pPr>
            <a:r>
              <a:rPr lang="en-US" sz="1300" dirty="0">
                <a:solidFill>
                  <a:srgbClr val="5B7080"/>
                </a:solidFill>
                <a:latin typeface="Calibri" pitchFamily="34" charset="0"/>
                <a:ea typeface="Calibri" pitchFamily="34" charset="-122"/>
                <a:cs typeface="Calibri" pitchFamily="34" charset="-120"/>
              </a:rPr>
              <a:t>discount ratio 1.03 — funded discounts exceed commission</a:t>
            </a:r>
            <a:endParaRPr lang="en-US" sz="1300" dirty="0"/>
          </a:p>
        </p:txBody>
      </p:sp>
      <p:sp>
        <p:nvSpPr>
          <p:cNvPr id="20" name="Shape 18"/>
          <p:cNvSpPr/>
          <p:nvPr/>
        </p:nvSpPr>
        <p:spPr>
          <a:xfrm>
            <a:off x="566928" y="3858768"/>
            <a:ext cx="11247120" cy="9144"/>
          </a:xfrm>
          <a:prstGeom prst="rect">
            <a:avLst/>
          </a:prstGeom>
          <a:solidFill>
            <a:srgbClr val="E6EDF3"/>
          </a:solidFill>
          <a:ln/>
        </p:spPr>
      </p:sp>
      <p:sp>
        <p:nvSpPr>
          <p:cNvPr id="21" name="Text 19"/>
          <p:cNvSpPr txBox="1"/>
          <p:nvPr/>
        </p:nvSpPr>
        <p:spPr>
          <a:xfrm>
            <a:off x="768096" y="3858768"/>
            <a:ext cx="3383280" cy="713232"/>
          </a:xfrm>
          <a:prstGeom prst="rect">
            <a:avLst/>
          </a:prstGeom>
          <a:noFill/>
          <a:ln/>
        </p:spPr>
        <p:txBody>
          <a:bodyPr wrap="square" lIns="0" tIns="0" rIns="0" bIns="0" rtlCol="0" anchor="ctr"/>
          <a:lstStyle/>
          <a:p>
            <a:pPr algn="l" indent="0" marL="0">
              <a:buNone/>
            </a:pPr>
            <a:r>
              <a:rPr lang="en-US" sz="1400" b="1" dirty="0">
                <a:solidFill>
                  <a:srgbClr val="0D2136"/>
                </a:solidFill>
                <a:latin typeface="Calibri" pitchFamily="34" charset="0"/>
                <a:ea typeface="Calibri" pitchFamily="34" charset="-122"/>
                <a:cs typeface="Calibri" pitchFamily="34" charset="-120"/>
              </a:rPr>
              <a:t>Sitra Industrial Tools</a:t>
            </a:r>
            <a:endParaRPr lang="en-US" sz="1400" dirty="0"/>
          </a:p>
        </p:txBody>
      </p:sp>
      <p:sp>
        <p:nvSpPr>
          <p:cNvPr id="22" name="Shape 20"/>
          <p:cNvSpPr/>
          <p:nvPr/>
        </p:nvSpPr>
        <p:spPr>
          <a:xfrm>
            <a:off x="4517136" y="4032504"/>
            <a:ext cx="2103120" cy="365760"/>
          </a:xfrm>
          <a:prstGeom prst="roundRect">
            <a:avLst>
              <a:gd name="adj" fmla="val 15000"/>
            </a:avLst>
          </a:prstGeom>
          <a:solidFill>
            <a:srgbClr val="FFF5E6"/>
          </a:solidFill>
          <a:ln w="9525">
            <a:solidFill>
              <a:srgbClr val="FE8E00"/>
            </a:solidFill>
            <a:prstDash val="solid"/>
          </a:ln>
        </p:spPr>
      </p:sp>
      <p:sp>
        <p:nvSpPr>
          <p:cNvPr id="23" name="Text 21"/>
          <p:cNvSpPr txBox="1"/>
          <p:nvPr/>
        </p:nvSpPr>
        <p:spPr>
          <a:xfrm>
            <a:off x="4517136" y="4032504"/>
            <a:ext cx="2103120" cy="365760"/>
          </a:xfrm>
          <a:prstGeom prst="rect">
            <a:avLst/>
          </a:prstGeom>
          <a:noFill/>
          <a:ln/>
        </p:spPr>
        <p:txBody>
          <a:bodyPr wrap="square" lIns="0" tIns="0" rIns="0" bIns="0" rtlCol="0" anchor="ctr"/>
          <a:lstStyle/>
          <a:p>
            <a:pPr algn="ctr" indent="0" marL="0">
              <a:buNone/>
            </a:pPr>
            <a:r>
              <a:rPr lang="en-US" sz="1250" b="1" dirty="0">
                <a:solidFill>
                  <a:srgbClr val="FE8E00"/>
                </a:solidFill>
                <a:latin typeface="Calibri" pitchFamily="34" charset="0"/>
                <a:ea typeface="Calibri" pitchFamily="34" charset="-122"/>
                <a:cs typeface="Calibri" pitchFamily="34" charset="-120"/>
              </a:rPr>
              <a:t>Under watch</a:t>
            </a:r>
            <a:endParaRPr lang="en-US" sz="1250" dirty="0"/>
          </a:p>
        </p:txBody>
      </p:sp>
      <p:sp>
        <p:nvSpPr>
          <p:cNvPr id="24" name="Text 22"/>
          <p:cNvSpPr txBox="1"/>
          <p:nvPr/>
        </p:nvSpPr>
        <p:spPr>
          <a:xfrm>
            <a:off x="7077456" y="3858768"/>
            <a:ext cx="4663440" cy="713232"/>
          </a:xfrm>
          <a:prstGeom prst="rect">
            <a:avLst/>
          </a:prstGeom>
          <a:noFill/>
          <a:ln/>
        </p:spPr>
        <p:txBody>
          <a:bodyPr wrap="square" lIns="0" tIns="0" rIns="0" bIns="0" rtlCol="0" anchor="ctr"/>
          <a:lstStyle/>
          <a:p>
            <a:pPr algn="l" indent="0" marL="0">
              <a:buNone/>
            </a:pPr>
            <a:r>
              <a:rPr lang="en-US" sz="1300" dirty="0">
                <a:solidFill>
                  <a:srgbClr val="5B7080"/>
                </a:solidFill>
                <a:latin typeface="Calibri" pitchFamily="34" charset="0"/>
                <a:ea typeface="Calibri" pitchFamily="34" charset="-122"/>
                <a:cs typeface="Calibri" pitchFamily="34" charset="-120"/>
              </a:rPr>
              <a:t>online share 12.5% — below the 30% floor</a:t>
            </a:r>
            <a:endParaRPr lang="en-US" sz="1300" dirty="0"/>
          </a:p>
        </p:txBody>
      </p:sp>
      <p:sp>
        <p:nvSpPr>
          <p:cNvPr id="25" name="Shape 23"/>
          <p:cNvSpPr/>
          <p:nvPr/>
        </p:nvSpPr>
        <p:spPr>
          <a:xfrm>
            <a:off x="566928" y="4572000"/>
            <a:ext cx="11247120" cy="9144"/>
          </a:xfrm>
          <a:prstGeom prst="rect">
            <a:avLst/>
          </a:prstGeom>
          <a:solidFill>
            <a:srgbClr val="E6EDF3"/>
          </a:solidFill>
          <a:ln/>
        </p:spPr>
      </p:sp>
      <p:sp>
        <p:nvSpPr>
          <p:cNvPr id="26" name="Shape 24"/>
          <p:cNvSpPr/>
          <p:nvPr/>
        </p:nvSpPr>
        <p:spPr>
          <a:xfrm>
            <a:off x="566928" y="4572000"/>
            <a:ext cx="11247120" cy="713232"/>
          </a:xfrm>
          <a:prstGeom prst="rect">
            <a:avLst/>
          </a:prstGeom>
          <a:solidFill>
            <a:srgbClr val="FBFCFE"/>
          </a:solidFill>
          <a:ln/>
        </p:spPr>
      </p:sp>
      <p:sp>
        <p:nvSpPr>
          <p:cNvPr id="27" name="Text 25"/>
          <p:cNvSpPr txBox="1"/>
          <p:nvPr/>
        </p:nvSpPr>
        <p:spPr>
          <a:xfrm>
            <a:off x="768096" y="4572000"/>
            <a:ext cx="3383280" cy="713232"/>
          </a:xfrm>
          <a:prstGeom prst="rect">
            <a:avLst/>
          </a:prstGeom>
          <a:noFill/>
          <a:ln/>
        </p:spPr>
        <p:txBody>
          <a:bodyPr wrap="square" lIns="0" tIns="0" rIns="0" bIns="0" rtlCol="0" anchor="ctr"/>
          <a:lstStyle/>
          <a:p>
            <a:pPr algn="l" indent="0" marL="0">
              <a:buNone/>
            </a:pPr>
            <a:r>
              <a:rPr lang="en-US" sz="1400" b="1" dirty="0">
                <a:solidFill>
                  <a:srgbClr val="0D2136"/>
                </a:solidFill>
                <a:latin typeface="Calibri" pitchFamily="34" charset="0"/>
                <a:ea typeface="Calibri" pitchFamily="34" charset="-122"/>
                <a:cs typeface="Calibri" pitchFamily="34" charset="-120"/>
              </a:rPr>
              <a:t>Riffa Building Materials</a:t>
            </a:r>
            <a:endParaRPr lang="en-US" sz="1400" dirty="0"/>
          </a:p>
        </p:txBody>
      </p:sp>
      <p:sp>
        <p:nvSpPr>
          <p:cNvPr id="28" name="Shape 26"/>
          <p:cNvSpPr/>
          <p:nvPr/>
        </p:nvSpPr>
        <p:spPr>
          <a:xfrm>
            <a:off x="4517136" y="4745736"/>
            <a:ext cx="2103120" cy="365760"/>
          </a:xfrm>
          <a:prstGeom prst="roundRect">
            <a:avLst>
              <a:gd name="adj" fmla="val 15000"/>
            </a:avLst>
          </a:prstGeom>
          <a:solidFill>
            <a:srgbClr val="FEEEE9"/>
          </a:solidFill>
          <a:ln w="9525">
            <a:solidFill>
              <a:srgbClr val="D0402A"/>
            </a:solidFill>
            <a:prstDash val="solid"/>
          </a:ln>
        </p:spPr>
      </p:sp>
      <p:sp>
        <p:nvSpPr>
          <p:cNvPr id="29" name="Text 27"/>
          <p:cNvSpPr txBox="1"/>
          <p:nvPr/>
        </p:nvSpPr>
        <p:spPr>
          <a:xfrm>
            <a:off x="4517136" y="4745736"/>
            <a:ext cx="2103120" cy="365760"/>
          </a:xfrm>
          <a:prstGeom prst="rect">
            <a:avLst/>
          </a:prstGeom>
          <a:noFill/>
          <a:ln/>
        </p:spPr>
        <p:txBody>
          <a:bodyPr wrap="square" lIns="0" tIns="0" rIns="0" bIns="0" rtlCol="0" anchor="ctr"/>
          <a:lstStyle/>
          <a:p>
            <a:pPr algn="ctr" indent="0" marL="0">
              <a:buNone/>
            </a:pPr>
            <a:r>
              <a:rPr lang="en-US" sz="1250" b="1" dirty="0">
                <a:solidFill>
                  <a:srgbClr val="D0402A"/>
                </a:solidFill>
                <a:latin typeface="Calibri" pitchFamily="34" charset="0"/>
                <a:ea typeface="Calibri" pitchFamily="34" charset="-122"/>
                <a:cs typeface="Calibri" pitchFamily="34" charset="-120"/>
              </a:rPr>
              <a:t>Credit suspended</a:t>
            </a:r>
            <a:endParaRPr lang="en-US" sz="1250" dirty="0"/>
          </a:p>
        </p:txBody>
      </p:sp>
      <p:sp>
        <p:nvSpPr>
          <p:cNvPr id="30" name="Text 28"/>
          <p:cNvSpPr txBox="1"/>
          <p:nvPr/>
        </p:nvSpPr>
        <p:spPr>
          <a:xfrm>
            <a:off x="7077456" y="4572000"/>
            <a:ext cx="4663440" cy="713232"/>
          </a:xfrm>
          <a:prstGeom prst="rect">
            <a:avLst/>
          </a:prstGeom>
          <a:noFill/>
          <a:ln/>
        </p:spPr>
        <p:txBody>
          <a:bodyPr wrap="square" lIns="0" tIns="0" rIns="0" bIns="0" rtlCol="0" anchor="ctr"/>
          <a:lstStyle/>
          <a:p>
            <a:pPr algn="l" indent="0" marL="0">
              <a:buNone/>
            </a:pPr>
            <a:r>
              <a:rPr lang="en-US" sz="1300" dirty="0">
                <a:solidFill>
                  <a:srgbClr val="5B7080"/>
                </a:solidFill>
                <a:latin typeface="Calibri" pitchFamily="34" charset="0"/>
                <a:ea typeface="Calibri" pitchFamily="34" charset="-122"/>
                <a:cs typeface="Calibri" pitchFamily="34" charset="-120"/>
              </a:rPr>
              <a:t>arrears ratio 1.06 — past the ceiling</a:t>
            </a:r>
            <a:endParaRPr lang="en-US" sz="1300" dirty="0"/>
          </a:p>
        </p:txBody>
      </p:sp>
      <p:sp>
        <p:nvSpPr>
          <p:cNvPr id="31" name="Shape 29"/>
          <p:cNvSpPr/>
          <p:nvPr/>
        </p:nvSpPr>
        <p:spPr>
          <a:xfrm>
            <a:off x="566928" y="5285232"/>
            <a:ext cx="11247120" cy="9144"/>
          </a:xfrm>
          <a:prstGeom prst="rect">
            <a:avLst/>
          </a:prstGeom>
          <a:solidFill>
            <a:srgbClr val="E6EDF3"/>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66928" y="475488"/>
            <a:ext cx="420624" cy="420624"/>
          </a:xfrm>
          <a:prstGeom prst="ellipse">
            <a:avLst/>
          </a:prstGeom>
          <a:solidFill>
            <a:srgbClr val="021A37"/>
          </a:solidFill>
          <a:ln/>
        </p:spPr>
      </p:sp>
      <p:sp>
        <p:nvSpPr>
          <p:cNvPr id="3" name="Text 1"/>
          <p:cNvSpPr txBox="1"/>
          <p:nvPr/>
        </p:nvSpPr>
        <p:spPr>
          <a:xfrm>
            <a:off x="566928" y="475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170432" y="347472"/>
            <a:ext cx="10424160" cy="868680"/>
          </a:xfrm>
          <a:prstGeom prst="rect">
            <a:avLst/>
          </a:prstGeom>
          <a:noFill/>
          <a:ln/>
        </p:spPr>
        <p:txBody>
          <a:bodyPr wrap="square" lIns="0" tIns="0" rIns="0" bIns="0" rtlCol="0" anchor="ctr"/>
          <a:lstStyle/>
          <a:p>
            <a:pPr algn="l" indent="0" marL="0">
              <a:buNone/>
            </a:pPr>
            <a:r>
              <a:rPr lang="en-US" sz="2800" b="1" dirty="0">
                <a:solidFill>
                  <a:srgbClr val="021A37"/>
                </a:solidFill>
                <a:latin typeface="Cambria" pitchFamily="34" charset="0"/>
                <a:ea typeface="Cambria" pitchFamily="34" charset="-122"/>
                <a:cs typeface="Cambria" pitchFamily="34" charset="-120"/>
              </a:rPr>
              <a:t>One ledger, two products — and this is not decided</a:t>
            </a:r>
            <a:endParaRPr lang="en-US" sz="2800" dirty="0"/>
          </a:p>
        </p:txBody>
      </p:sp>
      <p:sp>
        <p:nvSpPr>
          <p:cNvPr id="5" name="Shape 3"/>
          <p:cNvSpPr/>
          <p:nvPr/>
        </p:nvSpPr>
        <p:spPr>
          <a:xfrm>
            <a:off x="566928" y="1371600"/>
            <a:ext cx="5486400" cy="2926080"/>
          </a:xfrm>
          <a:prstGeom prst="roundRect">
            <a:avLst>
              <a:gd name="adj" fmla="val 2813"/>
            </a:avLst>
          </a:prstGeom>
          <a:solidFill>
            <a:srgbClr val="EDF7FE"/>
          </a:solidFill>
          <a:ln w="12700">
            <a:solidFill>
              <a:srgbClr val="026DBD"/>
            </a:solidFill>
            <a:prstDash val="solid"/>
          </a:ln>
          <a:effectLst>
            <a:outerShdw sx="100000" sy="100000" kx="0" ky="0" algn="bl" rotWithShape="0" blurRad="127000" dist="25400" dir="5400000">
              <a:srgbClr val="021A37">
                <a:alpha val="7000"/>
              </a:srgbClr>
            </a:outerShdw>
          </a:effectLst>
        </p:spPr>
      </p:sp>
      <p:sp>
        <p:nvSpPr>
          <p:cNvPr id="6" name="Text 4"/>
          <p:cNvSpPr txBox="1"/>
          <p:nvPr/>
        </p:nvSpPr>
        <p:spPr>
          <a:xfrm>
            <a:off x="859536" y="1572768"/>
            <a:ext cx="4901184" cy="457200"/>
          </a:xfrm>
          <a:prstGeom prst="rect">
            <a:avLst/>
          </a:prstGeom>
          <a:noFill/>
          <a:ln/>
        </p:spPr>
        <p:txBody>
          <a:bodyPr wrap="square" lIns="0" tIns="0" rIns="0" bIns="0" rtlCol="0" anchor="ctr"/>
          <a:lstStyle/>
          <a:p>
            <a:pPr algn="l" indent="0" marL="0">
              <a:buNone/>
            </a:pPr>
            <a:r>
              <a:rPr lang="en-US" sz="2500" b="1" dirty="0">
                <a:solidFill>
                  <a:srgbClr val="026DBD"/>
                </a:solidFill>
                <a:latin typeface="Cambria" pitchFamily="34" charset="0"/>
                <a:ea typeface="Cambria" pitchFamily="34" charset="-122"/>
                <a:cs typeface="Cambria" pitchFamily="34" charset="-120"/>
              </a:rPr>
              <a:t>Agent</a:t>
            </a:r>
            <a:endParaRPr lang="en-US" sz="2500" dirty="0"/>
          </a:p>
        </p:txBody>
      </p:sp>
      <p:sp>
        <p:nvSpPr>
          <p:cNvPr id="7" name="Text 5"/>
          <p:cNvSpPr txBox="1"/>
          <p:nvPr/>
        </p:nvSpPr>
        <p:spPr>
          <a:xfrm>
            <a:off x="859536" y="2011680"/>
            <a:ext cx="4901184" cy="329184"/>
          </a:xfrm>
          <a:prstGeom prst="rect">
            <a:avLst/>
          </a:prstGeom>
          <a:noFill/>
          <a:ln/>
        </p:spPr>
        <p:txBody>
          <a:bodyPr wrap="square" lIns="0" tIns="0" rIns="0" bIns="0" rtlCol="0" anchor="ctr"/>
          <a:lstStyle/>
          <a:p>
            <a:pPr algn="l" indent="0" marL="0">
              <a:buNone/>
            </a:pPr>
            <a:r>
              <a:rPr lang="en-US" sz="1400" i="1" dirty="0">
                <a:solidFill>
                  <a:srgbClr val="5B7080"/>
                </a:solidFill>
                <a:latin typeface="Calibri" pitchFamily="34" charset="0"/>
                <a:ea typeface="Calibri" pitchFamily="34" charset="-122"/>
                <a:cs typeface="Calibri" pitchFamily="34" charset="-120"/>
              </a:rPr>
              <a:t>Highbase does not guarantee</a:t>
            </a:r>
            <a:endParaRPr lang="en-US" sz="1400" dirty="0"/>
          </a:p>
        </p:txBody>
      </p:sp>
      <p:sp>
        <p:nvSpPr>
          <p:cNvPr id="8" name="Text 6"/>
          <p:cNvSpPr txBox="1"/>
          <p:nvPr/>
        </p:nvSpPr>
        <p:spPr>
          <a:xfrm>
            <a:off x="859536" y="2432304"/>
            <a:ext cx="4901184" cy="2011680"/>
          </a:xfrm>
          <a:prstGeom prst="rect">
            <a:avLst/>
          </a:prstGeom>
          <a:noFill/>
          <a:ln/>
        </p:spPr>
        <p:txBody>
          <a:bodyPr wrap="square" lIns="0" tIns="0" rIns="0" bIns="0" rtlCol="0" anchor="ctr"/>
          <a:lstStyle/>
          <a:p>
            <a:pPr algn="l" marL="342900" indent="-342900">
              <a:lnSpc>
                <a:spcPts val="1900"/>
              </a:lnSpc>
              <a:spcAft>
                <a:spcPts val="800"/>
              </a:spcAft>
              <a:buSzPct val="100000"/>
              <a:buChar char="•"/>
            </a:pPr>
            <a:r>
              <a:rPr lang="en-US" sz="1350" dirty="0">
                <a:solidFill>
                  <a:srgbClr val="0D2136"/>
                </a:solidFill>
                <a:latin typeface="Calibri" pitchFamily="34" charset="0"/>
                <a:ea typeface="Calibri" pitchFamily="34" charset="-122"/>
                <a:cs typeface="Calibri" pitchFamily="34" charset="-120"/>
              </a:rPr>
              <a:t>The seller waits for the buyer</a:t>
            </a:r>
            <a:endParaRPr lang="en-US" sz="1350" dirty="0"/>
          </a:p>
          <a:p>
            <a:pPr algn="l" marL="342900" indent="-342900">
              <a:lnSpc>
                <a:spcPts val="1900"/>
              </a:lnSpc>
              <a:spcAft>
                <a:spcPts val="800"/>
              </a:spcAft>
              <a:buSzPct val="100000"/>
              <a:buChar char="•"/>
            </a:pPr>
            <a:r>
              <a:rPr lang="en-US" sz="1350" dirty="0">
                <a:solidFill>
                  <a:srgbClr val="0D2136"/>
                </a:solidFill>
                <a:latin typeface="Calibri" pitchFamily="34" charset="0"/>
                <a:ea typeface="Calibri" pitchFamily="34" charset="-122"/>
                <a:cs typeface="Calibri" pitchFamily="34" charset="-120"/>
              </a:rPr>
              <a:t>Credit orders never enter a payout run</a:t>
            </a:r>
            <a:endParaRPr lang="en-US" sz="1350" dirty="0"/>
          </a:p>
          <a:p>
            <a:pPr algn="l" marL="342900" indent="-342900">
              <a:lnSpc>
                <a:spcPts val="1900"/>
              </a:lnSpc>
              <a:spcAft>
                <a:spcPts val="800"/>
              </a:spcAft>
              <a:buSzPct val="100000"/>
              <a:buChar char="•"/>
            </a:pPr>
            <a:r>
              <a:rPr lang="en-US" sz="1350" dirty="0">
                <a:solidFill>
                  <a:srgbClr val="0D2136"/>
                </a:solidFill>
                <a:latin typeface="Calibri" pitchFamily="34" charset="0"/>
                <a:ea typeface="Calibri" pitchFamily="34" charset="-122"/>
                <a:cs typeface="Calibri" pitchFamily="34" charset="-120"/>
              </a:rPr>
              <a:t>State reads “Awaiting buyer”</a:t>
            </a:r>
            <a:endParaRPr lang="en-US" sz="1350" dirty="0"/>
          </a:p>
          <a:p>
            <a:pPr algn="l" marL="342900" indent="-342900">
              <a:lnSpc>
                <a:spcPts val="1900"/>
              </a:lnSpc>
              <a:spcAft>
                <a:spcPts val="800"/>
              </a:spcAft>
              <a:buSzPct val="100000"/>
              <a:buChar char="•"/>
            </a:pPr>
            <a:r>
              <a:rPr lang="en-US" sz="1350" dirty="0">
                <a:solidFill>
                  <a:srgbClr val="0D2136"/>
                </a:solidFill>
                <a:latin typeface="Calibri" pitchFamily="34" charset="0"/>
                <a:ea typeface="Calibri" pitchFamily="34" charset="-122"/>
                <a:cs typeface="Calibri" pitchFamily="34" charset="-120"/>
              </a:rPr>
              <a:t>Highbase carries no buyer credit risk</a:t>
            </a:r>
            <a:endParaRPr lang="en-US" sz="1350" dirty="0"/>
          </a:p>
        </p:txBody>
      </p:sp>
      <p:sp>
        <p:nvSpPr>
          <p:cNvPr id="9" name="Shape 7"/>
          <p:cNvSpPr/>
          <p:nvPr/>
        </p:nvSpPr>
        <p:spPr>
          <a:xfrm>
            <a:off x="6144768" y="1371600"/>
            <a:ext cx="5486400" cy="2926080"/>
          </a:xfrm>
          <a:prstGeom prst="roundRect">
            <a:avLst>
              <a:gd name="adj" fmla="val 2813"/>
            </a:avLst>
          </a:prstGeom>
          <a:solidFill>
            <a:srgbClr val="FFF5E6"/>
          </a:solidFill>
          <a:ln w="12700">
            <a:solidFill>
              <a:srgbClr val="FE8E00"/>
            </a:solidFill>
            <a:prstDash val="solid"/>
          </a:ln>
          <a:effectLst>
            <a:outerShdw sx="100000" sy="100000" kx="0" ky="0" algn="bl" rotWithShape="0" blurRad="127000" dist="25400" dir="5400000">
              <a:srgbClr val="021A37">
                <a:alpha val="7000"/>
              </a:srgbClr>
            </a:outerShdw>
          </a:effectLst>
        </p:spPr>
      </p:sp>
      <p:sp>
        <p:nvSpPr>
          <p:cNvPr id="10" name="Text 8"/>
          <p:cNvSpPr txBox="1"/>
          <p:nvPr/>
        </p:nvSpPr>
        <p:spPr>
          <a:xfrm>
            <a:off x="6437376" y="1572768"/>
            <a:ext cx="4901184" cy="457200"/>
          </a:xfrm>
          <a:prstGeom prst="rect">
            <a:avLst/>
          </a:prstGeom>
          <a:noFill/>
          <a:ln/>
        </p:spPr>
        <p:txBody>
          <a:bodyPr wrap="square" lIns="0" tIns="0" rIns="0" bIns="0" rtlCol="0" anchor="ctr"/>
          <a:lstStyle/>
          <a:p>
            <a:pPr algn="l" indent="0" marL="0">
              <a:buNone/>
            </a:pPr>
            <a:r>
              <a:rPr lang="en-US" sz="2500" b="1" dirty="0">
                <a:solidFill>
                  <a:srgbClr val="FE8E00"/>
                </a:solidFill>
                <a:latin typeface="Cambria" pitchFamily="34" charset="0"/>
                <a:ea typeface="Cambria" pitchFamily="34" charset="-122"/>
                <a:cs typeface="Cambria" pitchFamily="34" charset="-120"/>
              </a:rPr>
              <a:t>Guarantor</a:t>
            </a:r>
            <a:endParaRPr lang="en-US" sz="2500" dirty="0"/>
          </a:p>
        </p:txBody>
      </p:sp>
      <p:sp>
        <p:nvSpPr>
          <p:cNvPr id="11" name="Text 9"/>
          <p:cNvSpPr txBox="1"/>
          <p:nvPr/>
        </p:nvSpPr>
        <p:spPr>
          <a:xfrm>
            <a:off x="6437376" y="2011680"/>
            <a:ext cx="4901184" cy="329184"/>
          </a:xfrm>
          <a:prstGeom prst="rect">
            <a:avLst/>
          </a:prstGeom>
          <a:noFill/>
          <a:ln/>
        </p:spPr>
        <p:txBody>
          <a:bodyPr wrap="square" lIns="0" tIns="0" rIns="0" bIns="0" rtlCol="0" anchor="ctr"/>
          <a:lstStyle/>
          <a:p>
            <a:pPr algn="l" indent="0" marL="0">
              <a:buNone/>
            </a:pPr>
            <a:r>
              <a:rPr lang="en-US" sz="1400" i="1" dirty="0">
                <a:solidFill>
                  <a:srgbClr val="5B7080"/>
                </a:solidFill>
                <a:latin typeface="Calibri" pitchFamily="34" charset="0"/>
                <a:ea typeface="Calibri" pitchFamily="34" charset="-122"/>
                <a:cs typeface="Calibri" pitchFamily="34" charset="-120"/>
              </a:rPr>
              <a:t>Highbase pays at delivery</a:t>
            </a:r>
            <a:endParaRPr lang="en-US" sz="1400" dirty="0"/>
          </a:p>
        </p:txBody>
      </p:sp>
      <p:sp>
        <p:nvSpPr>
          <p:cNvPr id="12" name="Text 10"/>
          <p:cNvSpPr txBox="1"/>
          <p:nvPr/>
        </p:nvSpPr>
        <p:spPr>
          <a:xfrm>
            <a:off x="6437376" y="2432304"/>
            <a:ext cx="4901184" cy="2011680"/>
          </a:xfrm>
          <a:prstGeom prst="rect">
            <a:avLst/>
          </a:prstGeom>
          <a:noFill/>
          <a:ln/>
        </p:spPr>
        <p:txBody>
          <a:bodyPr wrap="square" lIns="0" tIns="0" rIns="0" bIns="0" rtlCol="0" anchor="ctr"/>
          <a:lstStyle/>
          <a:p>
            <a:pPr algn="l" marL="342900" indent="-342900">
              <a:lnSpc>
                <a:spcPts val="1900"/>
              </a:lnSpc>
              <a:spcAft>
                <a:spcPts val="800"/>
              </a:spcAft>
              <a:buSzPct val="100000"/>
              <a:buChar char="•"/>
            </a:pPr>
            <a:r>
              <a:rPr lang="en-US" sz="1350" dirty="0">
                <a:solidFill>
                  <a:srgbClr val="0D2136"/>
                </a:solidFill>
                <a:latin typeface="Calibri" pitchFamily="34" charset="0"/>
                <a:ea typeface="Calibri" pitchFamily="34" charset="-122"/>
                <a:cs typeface="Calibri" pitchFamily="34" charset="-120"/>
              </a:rPr>
              <a:t>The seller is paid on delivery confirmation</a:t>
            </a:r>
            <a:endParaRPr lang="en-US" sz="1350" dirty="0"/>
          </a:p>
          <a:p>
            <a:pPr algn="l" marL="342900" indent="-342900">
              <a:lnSpc>
                <a:spcPts val="1900"/>
              </a:lnSpc>
              <a:spcAft>
                <a:spcPts val="800"/>
              </a:spcAft>
              <a:buSzPct val="100000"/>
              <a:buChar char="•"/>
            </a:pPr>
            <a:r>
              <a:rPr lang="en-US" sz="1350" dirty="0">
                <a:solidFill>
                  <a:srgbClr val="0D2136"/>
                </a:solidFill>
                <a:latin typeface="Calibri" pitchFamily="34" charset="0"/>
                <a:ea typeface="Calibri" pitchFamily="34" charset="-122"/>
                <a:cs typeface="Calibri" pitchFamily="34" charset="-120"/>
              </a:rPr>
              <a:t>Credit orders enter the run at delivery</a:t>
            </a:r>
            <a:endParaRPr lang="en-US" sz="1350" dirty="0"/>
          </a:p>
          <a:p>
            <a:pPr algn="l" marL="342900" indent="-342900">
              <a:lnSpc>
                <a:spcPts val="1900"/>
              </a:lnSpc>
              <a:spcAft>
                <a:spcPts val="800"/>
              </a:spcAft>
              <a:buSzPct val="100000"/>
              <a:buChar char="•"/>
            </a:pPr>
            <a:r>
              <a:rPr lang="en-US" sz="1350" dirty="0">
                <a:solidFill>
                  <a:srgbClr val="0D2136"/>
                </a:solidFill>
                <a:latin typeface="Calibri" pitchFamily="34" charset="0"/>
                <a:ea typeface="Calibri" pitchFamily="34" charset="-122"/>
                <a:cs typeface="Calibri" pitchFamily="34" charset="-120"/>
              </a:rPr>
              <a:t>State reads “Guaranteed — due”</a:t>
            </a:r>
            <a:endParaRPr lang="en-US" sz="1350" dirty="0"/>
          </a:p>
          <a:p>
            <a:pPr algn="l" marL="342900" indent="-342900">
              <a:lnSpc>
                <a:spcPts val="1900"/>
              </a:lnSpc>
              <a:spcAft>
                <a:spcPts val="800"/>
              </a:spcAft>
              <a:buSzPct val="100000"/>
              <a:buChar char="•"/>
            </a:pPr>
            <a:r>
              <a:rPr lang="en-US" sz="1350" dirty="0">
                <a:solidFill>
                  <a:srgbClr val="0D2136"/>
                </a:solidFill>
                <a:latin typeface="Calibri" pitchFamily="34" charset="0"/>
                <a:ea typeface="Calibri" pitchFamily="34" charset="-122"/>
                <a:cs typeface="Calibri" pitchFamily="34" charset="-120"/>
              </a:rPr>
              <a:t>Highbase carries 300.000 of exposure on one seller alone</a:t>
            </a:r>
            <a:endParaRPr lang="en-US" sz="1350" dirty="0"/>
          </a:p>
        </p:txBody>
      </p:sp>
      <p:sp>
        <p:nvSpPr>
          <p:cNvPr id="13" name="Text 11"/>
          <p:cNvSpPr txBox="1"/>
          <p:nvPr/>
        </p:nvSpPr>
        <p:spPr>
          <a:xfrm>
            <a:off x="621792" y="4526280"/>
            <a:ext cx="10972800" cy="731520"/>
          </a:xfrm>
          <a:prstGeom prst="rect">
            <a:avLst/>
          </a:prstGeom>
          <a:noFill/>
          <a:ln/>
        </p:spPr>
        <p:txBody>
          <a:bodyPr wrap="square" lIns="0" tIns="0" rIns="0" bIns="0" rtlCol="0" anchor="ctr"/>
          <a:lstStyle/>
          <a:p>
            <a:pPr algn="l" indent="0" marL="0">
              <a:lnSpc>
                <a:spcPts val="2100"/>
              </a:lnSpc>
              <a:buNone/>
            </a:pPr>
            <a:r>
              <a:rPr lang="en-US" sz="1400" dirty="0">
                <a:solidFill>
                  <a:srgbClr val="5B7080"/>
                </a:solidFill>
                <a:latin typeface="Calibri" pitchFamily="34" charset="0"/>
                <a:ea typeface="Calibri" pitchFamily="34" charset="-122"/>
                <a:cs typeface="Calibri" pitchFamily="34" charset="-120"/>
              </a:rPr>
              <a:t>The prototype ships both as a switch, so the same seed data can be reviewed as two different products. It is the one decision everything downstream waits 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66928" y="475488"/>
            <a:ext cx="420624" cy="420624"/>
          </a:xfrm>
          <a:prstGeom prst="ellipse">
            <a:avLst/>
          </a:prstGeom>
          <a:solidFill>
            <a:srgbClr val="021A37"/>
          </a:solidFill>
          <a:ln/>
        </p:spPr>
      </p:sp>
      <p:sp>
        <p:nvSpPr>
          <p:cNvPr id="3" name="Text 1"/>
          <p:cNvSpPr txBox="1"/>
          <p:nvPr/>
        </p:nvSpPr>
        <p:spPr>
          <a:xfrm>
            <a:off x="566928" y="475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170432" y="347472"/>
            <a:ext cx="10424160" cy="868680"/>
          </a:xfrm>
          <a:prstGeom prst="rect">
            <a:avLst/>
          </a:prstGeom>
          <a:noFill/>
          <a:ln/>
        </p:spPr>
        <p:txBody>
          <a:bodyPr wrap="square" lIns="0" tIns="0" rIns="0" bIns="0" rtlCol="0" anchor="ctr"/>
          <a:lstStyle/>
          <a:p>
            <a:pPr algn="l" indent="0" marL="0">
              <a:buNone/>
            </a:pPr>
            <a:r>
              <a:rPr lang="en-US" sz="2800" b="1" dirty="0">
                <a:solidFill>
                  <a:srgbClr val="021A37"/>
                </a:solidFill>
                <a:latin typeface="Cambria" pitchFamily="34" charset="0"/>
                <a:ea typeface="Cambria" pitchFamily="34" charset="-122"/>
                <a:cs typeface="Cambria" pitchFamily="34" charset="-120"/>
              </a:rPr>
              <a:t>Three open questions, now settled</a:t>
            </a:r>
            <a:endParaRPr lang="en-US" sz="2800" dirty="0"/>
          </a:p>
        </p:txBody>
      </p:sp>
      <p:sp>
        <p:nvSpPr>
          <p:cNvPr id="5" name="Shape 3"/>
          <p:cNvSpPr/>
          <p:nvPr/>
        </p:nvSpPr>
        <p:spPr>
          <a:xfrm>
            <a:off x="566928" y="1371600"/>
            <a:ext cx="11064240" cy="1335024"/>
          </a:xfrm>
          <a:prstGeom prst="roundRect">
            <a:avLst>
              <a:gd name="adj" fmla="val 6164"/>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6" name="Shape 4"/>
          <p:cNvSpPr/>
          <p:nvPr/>
        </p:nvSpPr>
        <p:spPr>
          <a:xfrm>
            <a:off x="914400" y="1783080"/>
            <a:ext cx="512064" cy="512064"/>
          </a:xfrm>
          <a:prstGeom prst="ellipse">
            <a:avLst/>
          </a:prstGeom>
          <a:solidFill>
            <a:srgbClr val="E9FDEE"/>
          </a:solidFill>
          <a:ln/>
        </p:spPr>
      </p:sp>
      <p:sp>
        <p:nvSpPr>
          <p:cNvPr id="7" name="Text 5"/>
          <p:cNvSpPr txBox="1"/>
          <p:nvPr/>
        </p:nvSpPr>
        <p:spPr>
          <a:xfrm>
            <a:off x="914400" y="1783080"/>
            <a:ext cx="512064" cy="512064"/>
          </a:xfrm>
          <a:prstGeom prst="rect">
            <a:avLst/>
          </a:prstGeom>
          <a:noFill/>
          <a:ln/>
        </p:spPr>
        <p:txBody>
          <a:bodyPr wrap="square" lIns="0" tIns="0" rIns="0" bIns="0" rtlCol="0" anchor="ctr"/>
          <a:lstStyle/>
          <a:p>
            <a:pPr algn="ctr" indent="0" marL="0">
              <a:buNone/>
            </a:pPr>
            <a:r>
              <a:rPr lang="en-US" sz="1800" b="1" dirty="0">
                <a:solidFill>
                  <a:srgbClr val="1F9D55"/>
                </a:solidFill>
                <a:latin typeface="Calibri" pitchFamily="34" charset="0"/>
                <a:ea typeface="Calibri" pitchFamily="34" charset="-122"/>
                <a:cs typeface="Calibri" pitchFamily="34" charset="-120"/>
              </a:rPr>
              <a:t>✓</a:t>
            </a:r>
            <a:endParaRPr lang="en-US" sz="1800" dirty="0"/>
          </a:p>
        </p:txBody>
      </p:sp>
      <p:sp>
        <p:nvSpPr>
          <p:cNvPr id="8" name="Text 6"/>
          <p:cNvSpPr txBox="1"/>
          <p:nvPr/>
        </p:nvSpPr>
        <p:spPr>
          <a:xfrm>
            <a:off x="1700784" y="1554480"/>
            <a:ext cx="9601200" cy="365760"/>
          </a:xfrm>
          <a:prstGeom prst="rect">
            <a:avLst/>
          </a:prstGeom>
          <a:noFill/>
          <a:ln/>
        </p:spPr>
        <p:txBody>
          <a:bodyPr wrap="square" lIns="0" tIns="0" rIns="0" bIns="0" rtlCol="0" anchor="ctr"/>
          <a:lstStyle/>
          <a:p>
            <a:pPr algn="l" indent="0" marL="0">
              <a:buNone/>
            </a:pPr>
            <a:r>
              <a:rPr lang="en-US" sz="1800" b="1" dirty="0">
                <a:solidFill>
                  <a:srgbClr val="021A37"/>
                </a:solidFill>
                <a:latin typeface="Cambria" pitchFamily="34" charset="0"/>
                <a:ea typeface="Cambria" pitchFamily="34" charset="-122"/>
                <a:cs typeface="Cambria" pitchFamily="34" charset="-120"/>
              </a:rPr>
              <a:t>The rate card conflict</a:t>
            </a:r>
            <a:endParaRPr lang="en-US" sz="1800" dirty="0"/>
          </a:p>
        </p:txBody>
      </p:sp>
      <p:sp>
        <p:nvSpPr>
          <p:cNvPr id="9" name="Text 7"/>
          <p:cNvSpPr txBox="1"/>
          <p:nvPr/>
        </p:nvSpPr>
        <p:spPr>
          <a:xfrm>
            <a:off x="1700784" y="1920240"/>
            <a:ext cx="9601200" cy="694944"/>
          </a:xfrm>
          <a:prstGeom prst="rect">
            <a:avLst/>
          </a:prstGeom>
          <a:noFill/>
          <a:ln/>
        </p:spPr>
        <p:txBody>
          <a:bodyPr wrap="square" lIns="0" tIns="0" rIns="0" bIns="0" rtlCol="0" anchor="ctr"/>
          <a:lstStyle/>
          <a:p>
            <a:pPr algn="l" indent="0" marL="0">
              <a:lnSpc>
                <a:spcPts val="1900"/>
              </a:lnSpc>
              <a:buNone/>
            </a:pPr>
            <a:r>
              <a:rPr lang="en-US" sz="1350" dirty="0">
                <a:solidFill>
                  <a:srgbClr val="5B7080"/>
                </a:solidFill>
                <a:latin typeface="Calibri" pitchFamily="34" charset="0"/>
                <a:ea typeface="Calibri" pitchFamily="34" charset="-122"/>
                <a:cs typeface="Calibri" pitchFamily="34" charset="-120"/>
              </a:rPr>
              <a:t>The ledger’s flat 3% is contractual. Subscription Settings advertises 10% first order / 0% thereafter — terms never applied to a single posting. That is now a defect to fix and a claim to size, not an open commercial question.</a:t>
            </a:r>
            <a:endParaRPr lang="en-US" sz="1350" dirty="0"/>
          </a:p>
        </p:txBody>
      </p:sp>
      <p:sp>
        <p:nvSpPr>
          <p:cNvPr id="10" name="Shape 8"/>
          <p:cNvSpPr/>
          <p:nvPr/>
        </p:nvSpPr>
        <p:spPr>
          <a:xfrm>
            <a:off x="566928" y="2889504"/>
            <a:ext cx="11064240" cy="1335024"/>
          </a:xfrm>
          <a:prstGeom prst="roundRect">
            <a:avLst>
              <a:gd name="adj" fmla="val 6164"/>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1" name="Shape 9"/>
          <p:cNvSpPr/>
          <p:nvPr/>
        </p:nvSpPr>
        <p:spPr>
          <a:xfrm>
            <a:off x="914400" y="3300984"/>
            <a:ext cx="512064" cy="512064"/>
          </a:xfrm>
          <a:prstGeom prst="ellipse">
            <a:avLst/>
          </a:prstGeom>
          <a:solidFill>
            <a:srgbClr val="E9FDEE"/>
          </a:solidFill>
          <a:ln/>
        </p:spPr>
      </p:sp>
      <p:sp>
        <p:nvSpPr>
          <p:cNvPr id="12" name="Text 10"/>
          <p:cNvSpPr txBox="1"/>
          <p:nvPr/>
        </p:nvSpPr>
        <p:spPr>
          <a:xfrm>
            <a:off x="914400" y="3300984"/>
            <a:ext cx="512064" cy="512064"/>
          </a:xfrm>
          <a:prstGeom prst="rect">
            <a:avLst/>
          </a:prstGeom>
          <a:noFill/>
          <a:ln/>
        </p:spPr>
        <p:txBody>
          <a:bodyPr wrap="square" lIns="0" tIns="0" rIns="0" bIns="0" rtlCol="0" anchor="ctr"/>
          <a:lstStyle/>
          <a:p>
            <a:pPr algn="ctr" indent="0" marL="0">
              <a:buNone/>
            </a:pPr>
            <a:r>
              <a:rPr lang="en-US" sz="1800" b="1" dirty="0">
                <a:solidFill>
                  <a:srgbClr val="1F9D55"/>
                </a:solidFill>
                <a:latin typeface="Calibri" pitchFamily="34" charset="0"/>
                <a:ea typeface="Calibri" pitchFamily="34" charset="-122"/>
                <a:cs typeface="Calibri" pitchFamily="34" charset="-120"/>
              </a:rPr>
              <a:t>✓</a:t>
            </a:r>
            <a:endParaRPr lang="en-US" sz="1800" dirty="0"/>
          </a:p>
        </p:txBody>
      </p:sp>
      <p:sp>
        <p:nvSpPr>
          <p:cNvPr id="13" name="Text 11"/>
          <p:cNvSpPr txBox="1"/>
          <p:nvPr/>
        </p:nvSpPr>
        <p:spPr>
          <a:xfrm>
            <a:off x="1700784" y="3072384"/>
            <a:ext cx="9601200" cy="365760"/>
          </a:xfrm>
          <a:prstGeom prst="rect">
            <a:avLst/>
          </a:prstGeom>
          <a:noFill/>
          <a:ln/>
        </p:spPr>
        <p:txBody>
          <a:bodyPr wrap="square" lIns="0" tIns="0" rIns="0" bIns="0" rtlCol="0" anchor="ctr"/>
          <a:lstStyle/>
          <a:p>
            <a:pPr algn="l" indent="0" marL="0">
              <a:buNone/>
            </a:pPr>
            <a:r>
              <a:rPr lang="en-US" sz="1800" b="1" dirty="0">
                <a:solidFill>
                  <a:srgbClr val="021A37"/>
                </a:solidFill>
                <a:latin typeface="Cambria" pitchFamily="34" charset="0"/>
                <a:ea typeface="Cambria" pitchFamily="34" charset="-122"/>
                <a:cs typeface="Cambria" pitchFamily="34" charset="-120"/>
              </a:rPr>
              <a:t>The simplified-invoice threshold</a:t>
            </a:r>
            <a:endParaRPr lang="en-US" sz="1800" dirty="0"/>
          </a:p>
        </p:txBody>
      </p:sp>
      <p:sp>
        <p:nvSpPr>
          <p:cNvPr id="14" name="Text 12"/>
          <p:cNvSpPr txBox="1"/>
          <p:nvPr/>
        </p:nvSpPr>
        <p:spPr>
          <a:xfrm>
            <a:off x="1700784" y="3438144"/>
            <a:ext cx="9601200" cy="694944"/>
          </a:xfrm>
          <a:prstGeom prst="rect">
            <a:avLst/>
          </a:prstGeom>
          <a:noFill/>
          <a:ln/>
        </p:spPr>
        <p:txBody>
          <a:bodyPr wrap="square" lIns="0" tIns="0" rIns="0" bIns="0" rtlCol="0" anchor="ctr"/>
          <a:lstStyle/>
          <a:p>
            <a:pPr algn="l" indent="0" marL="0">
              <a:lnSpc>
                <a:spcPts val="1900"/>
              </a:lnSpc>
              <a:buNone/>
            </a:pPr>
            <a:r>
              <a:rPr lang="en-US" sz="1350" dirty="0">
                <a:solidFill>
                  <a:srgbClr val="5B7080"/>
                </a:solidFill>
                <a:latin typeface="Calibri" pitchFamily="34" charset="0"/>
                <a:ea typeface="Calibri" pitchFamily="34" charset="-122"/>
                <a:cs typeface="Calibri" pitchFamily="34" charset="-120"/>
              </a:rPr>
              <a:t>Measured on the taxable amount, before VAT — not on the total payable.</a:t>
            </a:r>
            <a:endParaRPr lang="en-US" sz="1350" dirty="0"/>
          </a:p>
        </p:txBody>
      </p:sp>
      <p:sp>
        <p:nvSpPr>
          <p:cNvPr id="15" name="Shape 13"/>
          <p:cNvSpPr/>
          <p:nvPr/>
        </p:nvSpPr>
        <p:spPr>
          <a:xfrm>
            <a:off x="566928" y="4407408"/>
            <a:ext cx="11064240" cy="1335024"/>
          </a:xfrm>
          <a:prstGeom prst="roundRect">
            <a:avLst>
              <a:gd name="adj" fmla="val 6164"/>
            </a:avLst>
          </a:prstGeom>
          <a:solidFill>
            <a:srgbClr val="FFFFFF"/>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6" name="Shape 14"/>
          <p:cNvSpPr/>
          <p:nvPr/>
        </p:nvSpPr>
        <p:spPr>
          <a:xfrm>
            <a:off x="914400" y="4818888"/>
            <a:ext cx="512064" cy="512064"/>
          </a:xfrm>
          <a:prstGeom prst="ellipse">
            <a:avLst/>
          </a:prstGeom>
          <a:solidFill>
            <a:srgbClr val="E9FDEE"/>
          </a:solidFill>
          <a:ln/>
        </p:spPr>
      </p:sp>
      <p:sp>
        <p:nvSpPr>
          <p:cNvPr id="17" name="Text 15"/>
          <p:cNvSpPr txBox="1"/>
          <p:nvPr/>
        </p:nvSpPr>
        <p:spPr>
          <a:xfrm>
            <a:off x="914400" y="4818888"/>
            <a:ext cx="512064" cy="512064"/>
          </a:xfrm>
          <a:prstGeom prst="rect">
            <a:avLst/>
          </a:prstGeom>
          <a:noFill/>
          <a:ln/>
        </p:spPr>
        <p:txBody>
          <a:bodyPr wrap="square" lIns="0" tIns="0" rIns="0" bIns="0" rtlCol="0" anchor="ctr"/>
          <a:lstStyle/>
          <a:p>
            <a:pPr algn="ctr" indent="0" marL="0">
              <a:buNone/>
            </a:pPr>
            <a:r>
              <a:rPr lang="en-US" sz="1800" b="1" dirty="0">
                <a:solidFill>
                  <a:srgbClr val="1F9D55"/>
                </a:solidFill>
                <a:latin typeface="Calibri" pitchFamily="34" charset="0"/>
                <a:ea typeface="Calibri" pitchFamily="34" charset="-122"/>
                <a:cs typeface="Calibri" pitchFamily="34" charset="-120"/>
              </a:rPr>
              <a:t>✓</a:t>
            </a:r>
            <a:endParaRPr lang="en-US" sz="1800" dirty="0"/>
          </a:p>
        </p:txBody>
      </p:sp>
      <p:sp>
        <p:nvSpPr>
          <p:cNvPr id="18" name="Text 16"/>
          <p:cNvSpPr txBox="1"/>
          <p:nvPr/>
        </p:nvSpPr>
        <p:spPr>
          <a:xfrm>
            <a:off x="1700784" y="4590288"/>
            <a:ext cx="9601200" cy="365760"/>
          </a:xfrm>
          <a:prstGeom prst="rect">
            <a:avLst/>
          </a:prstGeom>
          <a:noFill/>
          <a:ln/>
        </p:spPr>
        <p:txBody>
          <a:bodyPr wrap="square" lIns="0" tIns="0" rIns="0" bIns="0" rtlCol="0" anchor="ctr"/>
          <a:lstStyle/>
          <a:p>
            <a:pPr algn="l" indent="0" marL="0">
              <a:buNone/>
            </a:pPr>
            <a:r>
              <a:rPr lang="en-US" sz="1800" b="1" dirty="0">
                <a:solidFill>
                  <a:srgbClr val="021A37"/>
                </a:solidFill>
                <a:latin typeface="Cambria" pitchFamily="34" charset="0"/>
                <a:ea typeface="Cambria" pitchFamily="34" charset="-122"/>
                <a:cs typeface="Cambria" pitchFamily="34" charset="-120"/>
              </a:rPr>
              <a:t>Seller #1088’s payable</a:t>
            </a:r>
            <a:endParaRPr lang="en-US" sz="1800" dirty="0"/>
          </a:p>
        </p:txBody>
      </p:sp>
      <p:sp>
        <p:nvSpPr>
          <p:cNvPr id="19" name="Text 17"/>
          <p:cNvSpPr txBox="1"/>
          <p:nvPr/>
        </p:nvSpPr>
        <p:spPr>
          <a:xfrm>
            <a:off x="1700784" y="4956048"/>
            <a:ext cx="9601200" cy="694944"/>
          </a:xfrm>
          <a:prstGeom prst="rect">
            <a:avLst/>
          </a:prstGeom>
          <a:noFill/>
          <a:ln/>
        </p:spPr>
        <p:txBody>
          <a:bodyPr wrap="square" lIns="0" tIns="0" rIns="0" bIns="0" rtlCol="0" anchor="ctr"/>
          <a:lstStyle/>
          <a:p>
            <a:pPr algn="l" indent="0" marL="0">
              <a:lnSpc>
                <a:spcPts val="1900"/>
              </a:lnSpc>
              <a:buNone/>
            </a:pPr>
            <a:r>
              <a:rPr lang="en-US" sz="1350" dirty="0">
                <a:solidFill>
                  <a:srgbClr val="5B7080"/>
                </a:solidFill>
                <a:latin typeface="Calibri" pitchFamily="34" charset="0"/>
                <a:ea typeface="Calibri" pitchFamily="34" charset="-122"/>
                <a:cs typeface="Calibri" pitchFamily="34" charset="-120"/>
              </a:rPr>
              <a:t>54.600, not the 56.400 written in the brief. The brief’s derived line omits that order’s own 1.800 of commission; the formula beside it gives 54.600.</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66928" y="475488"/>
            <a:ext cx="420624" cy="420624"/>
          </a:xfrm>
          <a:prstGeom prst="ellipse">
            <a:avLst/>
          </a:prstGeom>
          <a:solidFill>
            <a:srgbClr val="021A37"/>
          </a:solidFill>
          <a:ln/>
        </p:spPr>
      </p:sp>
      <p:sp>
        <p:nvSpPr>
          <p:cNvPr id="3" name="Text 1"/>
          <p:cNvSpPr txBox="1"/>
          <p:nvPr/>
        </p:nvSpPr>
        <p:spPr>
          <a:xfrm>
            <a:off x="566928" y="4754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170432" y="347472"/>
            <a:ext cx="10424160" cy="868680"/>
          </a:xfrm>
          <a:prstGeom prst="rect">
            <a:avLst/>
          </a:prstGeom>
          <a:noFill/>
          <a:ln/>
        </p:spPr>
        <p:txBody>
          <a:bodyPr wrap="square" lIns="0" tIns="0" rIns="0" bIns="0" rtlCol="0" anchor="ctr"/>
          <a:lstStyle/>
          <a:p>
            <a:pPr algn="l" indent="0" marL="0">
              <a:buNone/>
            </a:pPr>
            <a:r>
              <a:rPr lang="en-US" sz="2800" b="1" dirty="0">
                <a:solidFill>
                  <a:srgbClr val="021A37"/>
                </a:solidFill>
                <a:latin typeface="Cambria" pitchFamily="34" charset="0"/>
                <a:ea typeface="Cambria" pitchFamily="34" charset="-122"/>
                <a:cs typeface="Cambria" pitchFamily="34" charset="-120"/>
              </a:rPr>
              <a:t>What exists today</a:t>
            </a:r>
            <a:endParaRPr lang="en-US" sz="2800" dirty="0"/>
          </a:p>
        </p:txBody>
      </p:sp>
      <p:sp>
        <p:nvSpPr>
          <p:cNvPr id="5" name="Text 3"/>
          <p:cNvSpPr txBox="1"/>
          <p:nvPr/>
        </p:nvSpPr>
        <p:spPr>
          <a:xfrm>
            <a:off x="621792" y="1371600"/>
            <a:ext cx="10972800" cy="868680"/>
          </a:xfrm>
          <a:prstGeom prst="rect">
            <a:avLst/>
          </a:prstGeom>
          <a:noFill/>
          <a:ln/>
        </p:spPr>
        <p:txBody>
          <a:bodyPr wrap="square" lIns="0" tIns="0" rIns="0" bIns="0" rtlCol="0" anchor="ctr"/>
          <a:lstStyle/>
          <a:p>
            <a:pPr algn="l" indent="0" marL="0">
              <a:lnSpc>
                <a:spcPts val="2500"/>
              </a:lnSpc>
              <a:buNone/>
            </a:pPr>
            <a:r>
              <a:rPr lang="en-US" sz="1550" dirty="0">
                <a:solidFill>
                  <a:srgbClr val="0D2136"/>
                </a:solidFill>
                <a:latin typeface="Calibri" pitchFamily="34" charset="0"/>
                <a:ea typeface="Calibri" pitchFamily="34" charset="-122"/>
                <a:cs typeface="Calibri" pitchFamily="34" charset="-120"/>
              </a:rPr>
              <a:t>A clickable prototype of all three surfaces, reading one ledger. No screen displays a total that is not computed from postings — if a figure appears twice, it came from one function.</a:t>
            </a:r>
            <a:endParaRPr lang="en-US" sz="1550" dirty="0"/>
          </a:p>
        </p:txBody>
      </p:sp>
      <p:sp>
        <p:nvSpPr>
          <p:cNvPr id="6" name="Shape 4"/>
          <p:cNvSpPr/>
          <p:nvPr/>
        </p:nvSpPr>
        <p:spPr>
          <a:xfrm>
            <a:off x="566928" y="2432304"/>
            <a:ext cx="2670048" cy="1737360"/>
          </a:xfrm>
          <a:prstGeom prst="roundRect">
            <a:avLst>
              <a:gd name="adj" fmla="val 4737"/>
            </a:avLst>
          </a:prstGeom>
          <a:solidFill>
            <a:srgbClr val="F7FAFD"/>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7" name="Text 5"/>
          <p:cNvSpPr txBox="1"/>
          <p:nvPr/>
        </p:nvSpPr>
        <p:spPr>
          <a:xfrm>
            <a:off x="749808" y="2651760"/>
            <a:ext cx="2304288" cy="822960"/>
          </a:xfrm>
          <a:prstGeom prst="rect">
            <a:avLst/>
          </a:prstGeom>
          <a:noFill/>
          <a:ln/>
        </p:spPr>
        <p:txBody>
          <a:bodyPr wrap="square" lIns="0" tIns="0" rIns="0" bIns="0" rtlCol="0" anchor="ctr"/>
          <a:lstStyle/>
          <a:p>
            <a:pPr algn="ctr" indent="0" marL="0">
              <a:buNone/>
            </a:pPr>
            <a:r>
              <a:rPr lang="en-US" sz="4600" b="1" dirty="0">
                <a:solidFill>
                  <a:srgbClr val="021A37"/>
                </a:solidFill>
                <a:latin typeface="Calibri" pitchFamily="34" charset="0"/>
                <a:ea typeface="Calibri" pitchFamily="34" charset="-122"/>
                <a:cs typeface="Calibri" pitchFamily="34" charset="-120"/>
              </a:rPr>
              <a:t>3</a:t>
            </a:r>
            <a:endParaRPr lang="en-US" sz="4600" dirty="0"/>
          </a:p>
        </p:txBody>
      </p:sp>
      <p:sp>
        <p:nvSpPr>
          <p:cNvPr id="8" name="Text 6"/>
          <p:cNvSpPr txBox="1"/>
          <p:nvPr/>
        </p:nvSpPr>
        <p:spPr>
          <a:xfrm>
            <a:off x="749808" y="3511296"/>
            <a:ext cx="2304288" cy="411480"/>
          </a:xfrm>
          <a:prstGeom prst="rect">
            <a:avLst/>
          </a:prstGeom>
          <a:noFill/>
          <a:ln/>
        </p:spPr>
        <p:txBody>
          <a:bodyPr wrap="square" lIns="0" tIns="0" rIns="0" bIns="0" rtlCol="0" anchor="ctr"/>
          <a:lstStyle/>
          <a:p>
            <a:pPr algn="ctr" indent="0" marL="0">
              <a:buNone/>
            </a:pPr>
            <a:r>
              <a:rPr lang="en-US" sz="1350" dirty="0">
                <a:solidFill>
                  <a:srgbClr val="5B7080"/>
                </a:solidFill>
                <a:latin typeface="Calibri" pitchFamily="34" charset="0"/>
                <a:ea typeface="Calibri" pitchFamily="34" charset="-122"/>
                <a:cs typeface="Calibri" pitchFamily="34" charset="-120"/>
              </a:rPr>
              <a:t>surfaces</a:t>
            </a:r>
            <a:endParaRPr lang="en-US" sz="1350" dirty="0"/>
          </a:p>
        </p:txBody>
      </p:sp>
      <p:sp>
        <p:nvSpPr>
          <p:cNvPr id="9" name="Shape 7"/>
          <p:cNvSpPr/>
          <p:nvPr/>
        </p:nvSpPr>
        <p:spPr>
          <a:xfrm>
            <a:off x="3364992" y="2432304"/>
            <a:ext cx="2670048" cy="1737360"/>
          </a:xfrm>
          <a:prstGeom prst="roundRect">
            <a:avLst>
              <a:gd name="adj" fmla="val 4737"/>
            </a:avLst>
          </a:prstGeom>
          <a:solidFill>
            <a:srgbClr val="F7FAFD"/>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0" name="Text 8"/>
          <p:cNvSpPr txBox="1"/>
          <p:nvPr/>
        </p:nvSpPr>
        <p:spPr>
          <a:xfrm>
            <a:off x="3547872" y="2651760"/>
            <a:ext cx="2304288" cy="822960"/>
          </a:xfrm>
          <a:prstGeom prst="rect">
            <a:avLst/>
          </a:prstGeom>
          <a:noFill/>
          <a:ln/>
        </p:spPr>
        <p:txBody>
          <a:bodyPr wrap="square" lIns="0" tIns="0" rIns="0" bIns="0" rtlCol="0" anchor="ctr"/>
          <a:lstStyle/>
          <a:p>
            <a:pPr algn="ctr" indent="0" marL="0">
              <a:buNone/>
            </a:pPr>
            <a:r>
              <a:rPr lang="en-US" sz="4600" b="1" dirty="0">
                <a:solidFill>
                  <a:srgbClr val="021A37"/>
                </a:solidFill>
                <a:latin typeface="Calibri" pitchFamily="34" charset="0"/>
                <a:ea typeface="Calibri" pitchFamily="34" charset="-122"/>
                <a:cs typeface="Calibri" pitchFamily="34" charset="-120"/>
              </a:rPr>
              <a:t>20</a:t>
            </a:r>
            <a:endParaRPr lang="en-US" sz="4600" dirty="0"/>
          </a:p>
        </p:txBody>
      </p:sp>
      <p:sp>
        <p:nvSpPr>
          <p:cNvPr id="11" name="Text 9"/>
          <p:cNvSpPr txBox="1"/>
          <p:nvPr/>
        </p:nvSpPr>
        <p:spPr>
          <a:xfrm>
            <a:off x="3547872" y="3511296"/>
            <a:ext cx="2304288" cy="411480"/>
          </a:xfrm>
          <a:prstGeom prst="rect">
            <a:avLst/>
          </a:prstGeom>
          <a:noFill/>
          <a:ln/>
        </p:spPr>
        <p:txBody>
          <a:bodyPr wrap="square" lIns="0" tIns="0" rIns="0" bIns="0" rtlCol="0" anchor="ctr"/>
          <a:lstStyle/>
          <a:p>
            <a:pPr algn="ctr" indent="0" marL="0">
              <a:buNone/>
            </a:pPr>
            <a:r>
              <a:rPr lang="en-US" sz="1350" dirty="0">
                <a:solidFill>
                  <a:srgbClr val="5B7080"/>
                </a:solidFill>
                <a:latin typeface="Calibri" pitchFamily="34" charset="0"/>
                <a:ea typeface="Calibri" pitchFamily="34" charset="-122"/>
                <a:cs typeface="Calibri" pitchFamily="34" charset="-120"/>
              </a:rPr>
              <a:t>screens</a:t>
            </a:r>
            <a:endParaRPr lang="en-US" sz="1350" dirty="0"/>
          </a:p>
        </p:txBody>
      </p:sp>
      <p:sp>
        <p:nvSpPr>
          <p:cNvPr id="12" name="Shape 10"/>
          <p:cNvSpPr/>
          <p:nvPr/>
        </p:nvSpPr>
        <p:spPr>
          <a:xfrm>
            <a:off x="6163056" y="2432304"/>
            <a:ext cx="2670048" cy="1737360"/>
          </a:xfrm>
          <a:prstGeom prst="roundRect">
            <a:avLst>
              <a:gd name="adj" fmla="val 4737"/>
            </a:avLst>
          </a:prstGeom>
          <a:solidFill>
            <a:srgbClr val="F7FAFD"/>
          </a:solidFill>
          <a:ln w="12700">
            <a:solidFill>
              <a:srgbClr val="E6EDF3"/>
            </a:solidFill>
            <a:prstDash val="solid"/>
          </a:ln>
          <a:effectLst>
            <a:outerShdw sx="100000" sy="100000" kx="0" ky="0" algn="bl" rotWithShape="0" blurRad="127000" dist="25400" dir="5400000">
              <a:srgbClr val="021A37">
                <a:alpha val="7000"/>
              </a:srgbClr>
            </a:outerShdw>
          </a:effectLst>
        </p:spPr>
      </p:sp>
      <p:sp>
        <p:nvSpPr>
          <p:cNvPr id="13" name="Text 11"/>
          <p:cNvSpPr txBox="1"/>
          <p:nvPr/>
        </p:nvSpPr>
        <p:spPr>
          <a:xfrm>
            <a:off x="6345936" y="2651760"/>
            <a:ext cx="2304288" cy="822960"/>
          </a:xfrm>
          <a:prstGeom prst="rect">
            <a:avLst/>
          </a:prstGeom>
          <a:noFill/>
          <a:ln/>
        </p:spPr>
        <p:txBody>
          <a:bodyPr wrap="square" lIns="0" tIns="0" rIns="0" bIns="0" rtlCol="0" anchor="ctr"/>
          <a:lstStyle/>
          <a:p>
            <a:pPr algn="ctr" indent="0" marL="0">
              <a:buNone/>
            </a:pPr>
            <a:r>
              <a:rPr lang="en-US" sz="4600" b="1" dirty="0">
                <a:solidFill>
                  <a:srgbClr val="021A37"/>
                </a:solidFill>
                <a:latin typeface="Calibri" pitchFamily="34" charset="0"/>
                <a:ea typeface="Calibri" pitchFamily="34" charset="-122"/>
                <a:cs typeface="Calibri" pitchFamily="34" charset="-120"/>
              </a:rPr>
              <a:t>52</a:t>
            </a:r>
            <a:endParaRPr lang="en-US" sz="4600" dirty="0"/>
          </a:p>
        </p:txBody>
      </p:sp>
      <p:sp>
        <p:nvSpPr>
          <p:cNvPr id="14" name="Text 12"/>
          <p:cNvSpPr txBox="1"/>
          <p:nvPr/>
        </p:nvSpPr>
        <p:spPr>
          <a:xfrm>
            <a:off x="6345936" y="3511296"/>
            <a:ext cx="2304288" cy="411480"/>
          </a:xfrm>
          <a:prstGeom prst="rect">
            <a:avLst/>
          </a:prstGeom>
          <a:noFill/>
          <a:ln/>
        </p:spPr>
        <p:txBody>
          <a:bodyPr wrap="square" lIns="0" tIns="0" rIns="0" bIns="0" rtlCol="0" anchor="ctr"/>
          <a:lstStyle/>
          <a:p>
            <a:pPr algn="ctr" indent="0" marL="0">
              <a:buNone/>
            </a:pPr>
            <a:r>
              <a:rPr lang="en-US" sz="1350" dirty="0">
                <a:solidFill>
                  <a:srgbClr val="5B7080"/>
                </a:solidFill>
                <a:latin typeface="Calibri" pitchFamily="34" charset="0"/>
                <a:ea typeface="Calibri" pitchFamily="34" charset="-122"/>
                <a:cs typeface="Calibri" pitchFamily="34" charset="-120"/>
              </a:rPr>
              <a:t>model assertions</a:t>
            </a:r>
            <a:endParaRPr lang="en-US" sz="1350" dirty="0"/>
          </a:p>
        </p:txBody>
      </p:sp>
      <p:sp>
        <p:nvSpPr>
          <p:cNvPr id="15" name="Shape 13"/>
          <p:cNvSpPr/>
          <p:nvPr/>
        </p:nvSpPr>
        <p:spPr>
          <a:xfrm>
            <a:off x="8961120" y="2432304"/>
            <a:ext cx="2670048" cy="1737360"/>
          </a:xfrm>
          <a:prstGeom prst="roundRect">
            <a:avLst>
              <a:gd name="adj" fmla="val 4737"/>
            </a:avLst>
          </a:prstGeom>
          <a:solidFill>
            <a:srgbClr val="E9FDEE"/>
          </a:solidFill>
          <a:ln w="12700">
            <a:solidFill>
              <a:srgbClr val="C9EED6"/>
            </a:solidFill>
            <a:prstDash val="solid"/>
          </a:ln>
          <a:effectLst>
            <a:outerShdw sx="100000" sy="100000" kx="0" ky="0" algn="bl" rotWithShape="0" blurRad="127000" dist="25400" dir="5400000">
              <a:srgbClr val="021A37">
                <a:alpha val="7000"/>
              </a:srgbClr>
            </a:outerShdw>
          </a:effectLst>
        </p:spPr>
      </p:sp>
      <p:sp>
        <p:nvSpPr>
          <p:cNvPr id="16" name="Text 14"/>
          <p:cNvSpPr txBox="1"/>
          <p:nvPr/>
        </p:nvSpPr>
        <p:spPr>
          <a:xfrm>
            <a:off x="9144000" y="2651760"/>
            <a:ext cx="2304288" cy="822960"/>
          </a:xfrm>
          <a:prstGeom prst="rect">
            <a:avLst/>
          </a:prstGeom>
          <a:noFill/>
          <a:ln/>
        </p:spPr>
        <p:txBody>
          <a:bodyPr wrap="square" lIns="0" tIns="0" rIns="0" bIns="0" rtlCol="0" anchor="ctr"/>
          <a:lstStyle/>
          <a:p>
            <a:pPr algn="ctr" indent="0" marL="0">
              <a:buNone/>
            </a:pPr>
            <a:r>
              <a:rPr lang="en-US" sz="4600" b="1" dirty="0">
                <a:solidFill>
                  <a:srgbClr val="1F9D55"/>
                </a:solidFill>
                <a:latin typeface="Calibri" pitchFamily="34" charset="0"/>
                <a:ea typeface="Calibri" pitchFamily="34" charset="-122"/>
                <a:cs typeface="Calibri" pitchFamily="34" charset="-120"/>
              </a:rPr>
              <a:t>0</a:t>
            </a:r>
            <a:endParaRPr lang="en-US" sz="4600" dirty="0"/>
          </a:p>
        </p:txBody>
      </p:sp>
      <p:sp>
        <p:nvSpPr>
          <p:cNvPr id="17" name="Text 15"/>
          <p:cNvSpPr txBox="1"/>
          <p:nvPr/>
        </p:nvSpPr>
        <p:spPr>
          <a:xfrm>
            <a:off x="9144000" y="3511296"/>
            <a:ext cx="2304288" cy="411480"/>
          </a:xfrm>
          <a:prstGeom prst="rect">
            <a:avLst/>
          </a:prstGeom>
          <a:noFill/>
          <a:ln/>
        </p:spPr>
        <p:txBody>
          <a:bodyPr wrap="square" lIns="0" tIns="0" rIns="0" bIns="0" rtlCol="0" anchor="ctr"/>
          <a:lstStyle/>
          <a:p>
            <a:pPr algn="ctr" indent="0" marL="0">
              <a:buNone/>
            </a:pPr>
            <a:r>
              <a:rPr lang="en-US" sz="1350" dirty="0">
                <a:solidFill>
                  <a:srgbClr val="5B7080"/>
                </a:solidFill>
                <a:latin typeface="Calibri" pitchFamily="34" charset="0"/>
                <a:ea typeface="Calibri" pitchFamily="34" charset="-122"/>
                <a:cs typeface="Calibri" pitchFamily="34" charset="-120"/>
              </a:rPr>
              <a:t>failures</a:t>
            </a:r>
            <a:endParaRPr lang="en-US" sz="1350" dirty="0"/>
          </a:p>
        </p:txBody>
      </p:sp>
      <p:sp>
        <p:nvSpPr>
          <p:cNvPr id="18" name="Text 16"/>
          <p:cNvSpPr txBox="1"/>
          <p:nvPr/>
        </p:nvSpPr>
        <p:spPr>
          <a:xfrm>
            <a:off x="621792" y="4425696"/>
            <a:ext cx="10972800" cy="548640"/>
          </a:xfrm>
          <a:prstGeom prst="rect">
            <a:avLst/>
          </a:prstGeom>
          <a:noFill/>
          <a:ln/>
        </p:spPr>
        <p:txBody>
          <a:bodyPr wrap="square" lIns="0" tIns="0" rIns="0" bIns="0" rtlCol="0" anchor="ctr"/>
          <a:lstStyle/>
          <a:p>
            <a:pPr algn="l" indent="0" marL="0">
              <a:lnSpc>
                <a:spcPts val="2100"/>
              </a:lnSpc>
              <a:buNone/>
            </a:pPr>
            <a:r>
              <a:rPr lang="en-US" sz="1400" dirty="0">
                <a:solidFill>
                  <a:srgbClr val="5B7080"/>
                </a:solidFill>
                <a:latin typeface="Calibri" pitchFamily="34" charset="0"/>
                <a:ea typeface="Calibri" pitchFamily="34" charset="-122"/>
                <a:cs typeface="Calibri" pitchFamily="34" charset="-120"/>
              </a:rPr>
              <a:t>Four browser-driven suites cover the surfaces themselves — seller, admin, buyer and the single-file build — all green.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1A37"/>
        </a:solidFill>
      </p:bgPr>
    </p:bg>
    <p:spTree>
      <p:nvGrpSpPr>
        <p:cNvPr id="1" name=""/>
        <p:cNvGrpSpPr/>
        <p:nvPr/>
      </p:nvGrpSpPr>
      <p:grpSpPr>
        <a:xfrm>
          <a:off x="0" y="0"/>
          <a:ext cx="0" cy="0"/>
          <a:chOff x="0" y="0"/>
          <a:chExt cx="0" cy="0"/>
        </a:xfrm>
      </p:grpSpPr>
      <p:sp>
        <p:nvSpPr>
          <p:cNvPr id="2" name="Text 0"/>
          <p:cNvSpPr txBox="1"/>
          <p:nvPr/>
        </p:nvSpPr>
        <p:spPr>
          <a:xfrm>
            <a:off x="822960" y="658368"/>
            <a:ext cx="10515600" cy="73152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What we need from you</a:t>
            </a:r>
            <a:endParaRPr lang="en-US" sz="3800" dirty="0"/>
          </a:p>
        </p:txBody>
      </p:sp>
      <p:sp>
        <p:nvSpPr>
          <p:cNvPr id="3" name="Shape 1"/>
          <p:cNvSpPr/>
          <p:nvPr/>
        </p:nvSpPr>
        <p:spPr>
          <a:xfrm>
            <a:off x="566928" y="1810512"/>
            <a:ext cx="11064240" cy="1243584"/>
          </a:xfrm>
          <a:prstGeom prst="roundRect">
            <a:avLst>
              <a:gd name="adj" fmla="val 6618"/>
            </a:avLst>
          </a:prstGeom>
          <a:solidFill>
            <a:srgbClr val="102641"/>
          </a:solidFill>
          <a:ln w="12700">
            <a:solidFill>
              <a:srgbClr val="1D3A59"/>
            </a:solidFill>
            <a:prstDash val="solid"/>
          </a:ln>
        </p:spPr>
      </p:sp>
      <p:sp>
        <p:nvSpPr>
          <p:cNvPr id="4" name="Text 2"/>
          <p:cNvSpPr txBox="1"/>
          <p:nvPr/>
        </p:nvSpPr>
        <p:spPr>
          <a:xfrm>
            <a:off x="914400" y="2148840"/>
            <a:ext cx="566928" cy="566928"/>
          </a:xfrm>
          <a:prstGeom prst="rect">
            <a:avLst/>
          </a:prstGeom>
          <a:noFill/>
          <a:ln/>
        </p:spPr>
        <p:txBody>
          <a:bodyPr wrap="square" lIns="0" tIns="0" rIns="0" bIns="0" rtlCol="0" anchor="ctr"/>
          <a:lstStyle/>
          <a:p>
            <a:pPr algn="ctr" indent="0" marL="0">
              <a:buNone/>
            </a:pPr>
            <a:r>
              <a:rPr lang="en-US" sz="2000" b="1" dirty="0">
                <a:solidFill>
                  <a:srgbClr val="FE8E00"/>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700784" y="1975104"/>
            <a:ext cx="9601200" cy="384048"/>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Decide the risk model</a:t>
            </a:r>
            <a:endParaRPr lang="en-US" sz="1900" dirty="0"/>
          </a:p>
        </p:txBody>
      </p:sp>
      <p:sp>
        <p:nvSpPr>
          <p:cNvPr id="6" name="Text 4"/>
          <p:cNvSpPr txBox="1"/>
          <p:nvPr/>
        </p:nvSpPr>
        <p:spPr>
          <a:xfrm>
            <a:off x="1700784" y="2359152"/>
            <a:ext cx="9601200" cy="566928"/>
          </a:xfrm>
          <a:prstGeom prst="rect">
            <a:avLst/>
          </a:prstGeom>
          <a:noFill/>
          <a:ln/>
        </p:spPr>
        <p:txBody>
          <a:bodyPr wrap="square" lIns="0" tIns="0" rIns="0" bIns="0" rtlCol="0" anchor="ctr"/>
          <a:lstStyle/>
          <a:p>
            <a:pPr algn="l" indent="0" marL="0">
              <a:lnSpc>
                <a:spcPts val="1900"/>
              </a:lnSpc>
              <a:buNone/>
            </a:pPr>
            <a:r>
              <a:rPr lang="en-US" sz="1350" dirty="0">
                <a:solidFill>
                  <a:srgbClr val="A9C3DA"/>
                </a:solidFill>
                <a:latin typeface="Calibri" pitchFamily="34" charset="0"/>
                <a:ea typeface="Calibri" pitchFamily="34" charset="-122"/>
                <a:cs typeface="Calibri" pitchFamily="34" charset="-120"/>
              </a:rPr>
              <a:t>Agent or guarantor. Payouts, exposure and half the copy wait on this one answer.</a:t>
            </a:r>
            <a:endParaRPr lang="en-US" sz="1350" dirty="0"/>
          </a:p>
        </p:txBody>
      </p:sp>
      <p:sp>
        <p:nvSpPr>
          <p:cNvPr id="7" name="Shape 5"/>
          <p:cNvSpPr/>
          <p:nvPr/>
        </p:nvSpPr>
        <p:spPr>
          <a:xfrm>
            <a:off x="566928" y="3273552"/>
            <a:ext cx="11064240" cy="1243584"/>
          </a:xfrm>
          <a:prstGeom prst="roundRect">
            <a:avLst>
              <a:gd name="adj" fmla="val 6618"/>
            </a:avLst>
          </a:prstGeom>
          <a:solidFill>
            <a:srgbClr val="102641"/>
          </a:solidFill>
          <a:ln w="12700">
            <a:solidFill>
              <a:srgbClr val="1D3A59"/>
            </a:solidFill>
            <a:prstDash val="solid"/>
          </a:ln>
        </p:spPr>
      </p:sp>
      <p:sp>
        <p:nvSpPr>
          <p:cNvPr id="8" name="Text 6"/>
          <p:cNvSpPr txBox="1"/>
          <p:nvPr/>
        </p:nvSpPr>
        <p:spPr>
          <a:xfrm>
            <a:off x="914400" y="3611880"/>
            <a:ext cx="566928" cy="566928"/>
          </a:xfrm>
          <a:prstGeom prst="rect">
            <a:avLst/>
          </a:prstGeom>
          <a:noFill/>
          <a:ln/>
        </p:spPr>
        <p:txBody>
          <a:bodyPr wrap="square" lIns="0" tIns="0" rIns="0" bIns="0" rtlCol="0" anchor="ctr"/>
          <a:lstStyle/>
          <a:p>
            <a:pPr algn="ctr" indent="0" marL="0">
              <a:buNone/>
            </a:pPr>
            <a:r>
              <a:rPr lang="en-US" sz="2000" b="1" dirty="0">
                <a:solidFill>
                  <a:srgbClr val="FE8E00"/>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700784" y="3438144"/>
            <a:ext cx="9601200" cy="384048"/>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Make the control a gate</a:t>
            </a:r>
            <a:endParaRPr lang="en-US" sz="1900" dirty="0"/>
          </a:p>
        </p:txBody>
      </p:sp>
      <p:sp>
        <p:nvSpPr>
          <p:cNvPr id="10" name="Text 8"/>
          <p:cNvSpPr txBox="1"/>
          <p:nvPr/>
        </p:nvSpPr>
        <p:spPr>
          <a:xfrm>
            <a:off x="1700784" y="3822192"/>
            <a:ext cx="9601200" cy="566928"/>
          </a:xfrm>
          <a:prstGeom prst="rect">
            <a:avLst/>
          </a:prstGeom>
          <a:noFill/>
          <a:ln/>
        </p:spPr>
        <p:txBody>
          <a:bodyPr wrap="square" lIns="0" tIns="0" rIns="0" bIns="0" rtlCol="0" anchor="ctr"/>
          <a:lstStyle/>
          <a:p>
            <a:pPr algn="l" indent="0" marL="0">
              <a:lnSpc>
                <a:spcPts val="1900"/>
              </a:lnSpc>
              <a:buNone/>
            </a:pPr>
            <a:r>
              <a:rPr lang="en-US" sz="1350" dirty="0">
                <a:solidFill>
                  <a:srgbClr val="A9C3DA"/>
                </a:solidFill>
                <a:latin typeface="Calibri" pitchFamily="34" charset="0"/>
                <a:ea typeface="Calibri" pitchFamily="34" charset="-122"/>
                <a:cs typeface="Calibri" pitchFamily="34" charset="-120"/>
              </a:rPr>
              <a:t>Reconciliation runs before every settlement cycle and can refuse it — not a report read afterwards.</a:t>
            </a:r>
            <a:endParaRPr lang="en-US" sz="1350" dirty="0"/>
          </a:p>
        </p:txBody>
      </p:sp>
      <p:sp>
        <p:nvSpPr>
          <p:cNvPr id="11" name="Shape 9"/>
          <p:cNvSpPr/>
          <p:nvPr/>
        </p:nvSpPr>
        <p:spPr>
          <a:xfrm>
            <a:off x="566928" y="4736592"/>
            <a:ext cx="11064240" cy="1243584"/>
          </a:xfrm>
          <a:prstGeom prst="roundRect">
            <a:avLst>
              <a:gd name="adj" fmla="val 6618"/>
            </a:avLst>
          </a:prstGeom>
          <a:solidFill>
            <a:srgbClr val="102641"/>
          </a:solidFill>
          <a:ln w="12700">
            <a:solidFill>
              <a:srgbClr val="1D3A59"/>
            </a:solidFill>
            <a:prstDash val="solid"/>
          </a:ln>
        </p:spPr>
      </p:sp>
      <p:sp>
        <p:nvSpPr>
          <p:cNvPr id="12" name="Text 10"/>
          <p:cNvSpPr txBox="1"/>
          <p:nvPr/>
        </p:nvSpPr>
        <p:spPr>
          <a:xfrm>
            <a:off x="914400" y="5074920"/>
            <a:ext cx="566928" cy="566928"/>
          </a:xfrm>
          <a:prstGeom prst="rect">
            <a:avLst/>
          </a:prstGeom>
          <a:noFill/>
          <a:ln/>
        </p:spPr>
        <p:txBody>
          <a:bodyPr wrap="square" lIns="0" tIns="0" rIns="0" bIns="0" rtlCol="0" anchor="ctr"/>
          <a:lstStyle/>
          <a:p>
            <a:pPr algn="ctr" indent="0" marL="0">
              <a:buNone/>
            </a:pPr>
            <a:r>
              <a:rPr lang="en-US" sz="2000" b="1" dirty="0">
                <a:solidFill>
                  <a:srgbClr val="FE8E00"/>
                </a:solidFill>
                <a:latin typeface="Calibri" pitchFamily="34" charset="0"/>
                <a:ea typeface="Calibri" pitchFamily="34" charset="-122"/>
                <a:cs typeface="Calibri" pitchFamily="34" charset="-120"/>
              </a:rPr>
              <a:t>3</a:t>
            </a:r>
            <a:endParaRPr lang="en-US" sz="2000" dirty="0"/>
          </a:p>
        </p:txBody>
      </p:sp>
      <p:sp>
        <p:nvSpPr>
          <p:cNvPr id="13" name="Text 11"/>
          <p:cNvSpPr txBox="1"/>
          <p:nvPr/>
        </p:nvSpPr>
        <p:spPr>
          <a:xfrm>
            <a:off x="1700784" y="4901184"/>
            <a:ext cx="9601200" cy="384048"/>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Correct Subscription Settings</a:t>
            </a:r>
            <a:endParaRPr lang="en-US" sz="1900" dirty="0"/>
          </a:p>
        </p:txBody>
      </p:sp>
      <p:sp>
        <p:nvSpPr>
          <p:cNvPr id="14" name="Text 12"/>
          <p:cNvSpPr txBox="1"/>
          <p:nvPr/>
        </p:nvSpPr>
        <p:spPr>
          <a:xfrm>
            <a:off x="1700784" y="5285232"/>
            <a:ext cx="9601200" cy="566928"/>
          </a:xfrm>
          <a:prstGeom prst="rect">
            <a:avLst/>
          </a:prstGeom>
          <a:noFill/>
          <a:ln/>
        </p:spPr>
        <p:txBody>
          <a:bodyPr wrap="square" lIns="0" tIns="0" rIns="0" bIns="0" rtlCol="0" anchor="ctr"/>
          <a:lstStyle/>
          <a:p>
            <a:pPr algn="l" indent="0" marL="0">
              <a:lnSpc>
                <a:spcPts val="1900"/>
              </a:lnSpc>
              <a:buNone/>
            </a:pPr>
            <a:r>
              <a:rPr lang="en-US" sz="1350" dirty="0">
                <a:solidFill>
                  <a:srgbClr val="A9C3DA"/>
                </a:solidFill>
                <a:latin typeface="Calibri" pitchFamily="34" charset="0"/>
                <a:ea typeface="Calibri" pitchFamily="34" charset="-122"/>
                <a:cs typeface="Calibri" pitchFamily="34" charset="-120"/>
              </a:rPr>
              <a:t>And size the claim from sellers who signed up on terms the ledger never applied.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Highbase Billing Module</dc:title>
  <dc:subject>Billing module concept review</dc:subject>
  <dc:creator>Highbase</dc:creator>
  <cp:lastModifiedBy>Highbase</cp:lastModifiedBy>
  <cp:revision>1</cp:revision>
  <dcterms:created xsi:type="dcterms:W3CDTF">2026-09-09T18:48:12Z</dcterms:created>
  <dcterms:modified xsi:type="dcterms:W3CDTF">2026-09-09T18:48:12Z</dcterms:modified>
</cp:coreProperties>
</file>