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Breaches</c:v>
                </c:pt>
              </c:strCache>
            </c:strRef>
          </c:tx>
          <c:spPr>
            <a:solidFill>
              <a:srgbClr val="0A2540"/>
            </a:solidFill>
            <a:effectLst/>
          </c:spPr>
          <c:invertIfNegative val="0"/>
          <c:dLbls>
            <c:numFmt formatCode="#,##0" sourceLinked="0"/>
            <c:txPr>
              <a:bodyPr/>
              <a:lstStyle/>
              <a:p>
                <a:pPr>
                  <a:defRPr b="1" i="0" strike="noStrike" sz="1200" u="none">
                    <a:solidFill>
                      <a:srgbClr val="0F1C2B"/>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9 · Recover from errors</c:v>
                  </c:pt>
                  <c:pt idx="1">
                    <c:v>5 · Error prevention</c:v>
                  </c:pt>
                  <c:pt idx="2">
                    <c:v>6 · Recognition over recall</c:v>
                  </c:pt>
                  <c:pt idx="3">
                    <c:v>3 · User control and freedom</c:v>
                  </c:pt>
                  <c:pt idx="4">
                    <c:v>8 · Aesthetic and minimalist</c:v>
                  </c:pt>
                  <c:pt idx="5">
                    <c:v>10 · Help and documentation</c:v>
                  </c:pt>
                  <c:pt idx="6">
                    <c:v>4 · Consistency and standards</c:v>
                  </c:pt>
                  <c:pt idx="7">
                    <c:v>2 · Match the real world</c:v>
                  </c:pt>
                  <c:pt idx="8">
                    <c:v>7 · Flexibility and efficiency</c:v>
                  </c:pt>
                  <c:pt idx="9">
                    <c:v>1 · Visibility of system status</c:v>
                  </c:pt>
                </c:lvl>
              </c:multiLvlStrCache>
            </c:multiLvlStrRef>
          </c:cat>
          <c:val>
            <c:numRef>
              <c:f>Sheet1!$B$2:$B$11</c:f>
              <c:numCache>
                <c:formatCode>General</c:formatCode>
                <c:ptCount val="10"/>
                <c:pt idx="0">
                  <c:v>1</c:v>
                </c:pt>
                <c:pt idx="1">
                  <c:v>1</c:v>
                </c:pt>
                <c:pt idx="2">
                  <c:v>2</c:v>
                </c:pt>
                <c:pt idx="3">
                  <c:v>2</c:v>
                </c:pt>
                <c:pt idx="4">
                  <c:v>3</c:v>
                </c:pt>
                <c:pt idx="5">
                  <c:v>4</c:v>
                </c:pt>
                <c:pt idx="6">
                  <c:v>4</c:v>
                </c:pt>
                <c:pt idx="7">
                  <c:v>4</c:v>
                </c:pt>
                <c:pt idx="8">
                  <c:v>5</c:v>
                </c:pt>
                <c:pt idx="9">
                  <c:v>12</c:v>
                </c:pt>
              </c:numCache>
            </c:numRef>
          </c:val>
        </c:ser>
        <c:dLbls>
          <c:numFmt formatCode="#,##0" sourceLinked="0"/>
          <c:txPr>
            <a:bodyPr/>
            <a:lstStyle/>
            <a:p>
              <a:pPr>
                <a:defRPr b="1" i="0" strike="noStrike" sz="1200" u="none">
                  <a:solidFill>
                    <a:srgbClr val="0F1C2B"/>
                  </a:solidFill>
                  <a:latin typeface="Calibri"/>
                </a:defRPr>
              </a:pPr>
            </a:p>
          </c:txPr>
          <c:showLegendKey val="0"/>
          <c:showVal val="1"/>
          <c:showCatName val="0"/>
          <c:showSerName val="0"/>
          <c:showPercent val="0"/>
          <c:showBubbleSize val="0"/>
          <c:showLeaderLines val="0"/>
        </c:dLbls>
        <c:gapWidth val="44"/>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A5B6E"/>
                </a:solidFill>
                <a:latin typeface="Calibri"/>
              </a:defRPr>
            </a:pPr>
            <a:endParaRPr lang="en-US"/>
          </a:p>
        </c:txPr>
        <c:crossAx val="2094734552"/>
        <c:crosses val="autoZero"/>
        <c:auto val="1"/>
        <c:lblAlgn val="ctr"/>
        <c:noMultiLvlLbl val="1"/>
      </c:catAx>
      <c:valAx>
        <c:axId val="2094734552"/>
        <c:scaling>
          <c:orientation val="minMax"/>
          <c:max val="14"/>
        </c:scaling>
        <c:delete val="0"/>
        <c:axPos val="b"/>
        <c:majorGridlines>
          <c:spPr>
            <a:ln w="12700" cap="flat">
              <a:solidFill>
                <a:srgbClr val="E4EBF2"/>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7C8DA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material: a recorded walkthrough of qa.highbasemarket.com from cart to order placed, plus two confirmation screenshots. Every finding in this deck is traceable to something visible in that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this is an expert inspection, not a usability test. It predicts where buyers struggle; it does not measure that they do. The limits slide near the end says what that means for how much weight to put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only remembers one slide, this is it. The individual findings are symptoms; the disease is that the flow does not tell the buyer where they stand until it is too late to change their mind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argument for prioritising. Findings inside one cluster share a root cause, so fixing them together is cheaper than working down a severity list one row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5 · Error prevention; 9 · Recover from errors. Evidence: Cart — Nadec Vanilla Flavored Milk 125ml.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1 · Visibility of system status. Evidence: Cart summary vs. review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2 · Match the real world; 6 · Recognition over recall. Evidence: Five items, no supplier boundary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8 · Aesthetic and minimalist design. Evidence: Four identical blocks in one viewport.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6 · Recognition over recall; 7 · Flexibility and efficiency. Evidence: Nadec Long Life Low Fat UHT Milk 200ml 18pcs.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3 · User control and freedom. Evidence: Cart total falls from BHD 11.000 to BHD 4.000 as items are removed to get under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1 · Visibility of system status. Evidence: “Select All” and per-card checkboxes.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7 · Flexibility and efficiency. Evidence: Observed across the full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4 · Consistency and standards; 1 · Visibility of system status. Evidence: Subtotal BHD 11.000, delivery BHD 10.000, three stacked discounts, then “Seller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2 · Match the real world. Evidence: Review page, discount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7 · Flexibility and efficiency. Evidence: Review page, below “Seller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1 · Visibility of system status. Evidence: Full page: verification header, branch details, address, documents,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7 · Flexibility and efficiency; 3 · User control and freedom. Evidence: Business Documents section, above “Place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8 · Aesthetic and minimalist design; 1 · Visibility of system status. Evidence: Screenshot 1 — the image fills the viewport and continues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4 · Consistency and standards. Evidence: Two competing step markers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4 · Consistency and standards. Evidence: Screenshots 1 and 2, Delivery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Evidence: Screenshot 3, Business Documents footer.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2 · Match the real world. Evidence: Address confirmation, full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2 · Match the real world. Evidence: Branch Details and Delivery Address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8 · Aesthetic and minimalist design; 10 · Help and documentation. Evidence: Screenshot 1, Business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1 · Visibility of system status. Evidence: Select Address Location, address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4. Heuristic breached: 7 · Flexibility and efficiency; 10 · Help and documentation. Evidence: Screenshot 4, beneath the bank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4 · Consistency and standards. Evidence: Screenshot 4, page header vs. payment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Evidence: Screenshot 4, HIGHBASE Payment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3. Heuristic breached: 1 · Visibility of system status; 10 · Help and documentation. Evidence: Screenshot 4, full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2. Heuristic breached: 10 · Help and documentation. Evidence: Screenshot 4, Bank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breaches across 26 findings, because several findings break more than one heuristic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 1 is deliberately the cheap half of the catastrophic list — presentation changes that need no new backend. Wave 2 is where the real product decisions are, and it needs compliance and finance at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these two here is deliberate. They are the highest-value findings in the deck and the two most likely to have a reason behind them that we cannot see. Better to ask than to ship a fix that breaks a compliance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suggestion: open the cart with annotations on, then jump to the confirmation screen. Those two carry ten of the findings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600200"/>
            <a:ext cx="11091672" cy="274320"/>
          </a:xfrm>
          <a:prstGeom prst="rect">
            <a:avLst/>
          </a:prstGeom>
          <a:noFill/>
          <a:ln/>
        </p:spPr>
        <p:txBody>
          <a:bodyPr wrap="square" lIns="0" tIns="0" rIns="0" bIns="0" rtlCol="0" anchor="ctr"/>
          <a:lstStyle/>
          <a:p>
            <a:pPr indent="0" marL="0">
              <a:buNone/>
            </a:pPr>
            <a:r>
              <a:rPr lang="en-US" sz="1200" b="1" spc="240" kern="0" dirty="0">
                <a:solidFill>
                  <a:srgbClr val="C7DCF0"/>
                </a:solidFill>
                <a:latin typeface="Calibri" pitchFamily="34" charset="0"/>
                <a:ea typeface="Calibri" pitchFamily="34" charset="-122"/>
                <a:cs typeface="Calibri" pitchFamily="34" charset="-120"/>
              </a:rPr>
              <a:t>HIGHBASE  ·  B2B MARKETPLACE  ·  BAHRAIN</a:t>
            </a:r>
            <a:endParaRPr lang="en-US" sz="1200" dirty="0"/>
          </a:p>
        </p:txBody>
      </p:sp>
      <p:sp>
        <p:nvSpPr>
          <p:cNvPr id="3" name="Text 1"/>
          <p:cNvSpPr txBox="1"/>
          <p:nvPr/>
        </p:nvSpPr>
        <p:spPr>
          <a:xfrm>
            <a:off x="548640" y="1956816"/>
            <a:ext cx="10881360" cy="11430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Where the checkout loses orders</a:t>
            </a:r>
            <a:endParaRPr lang="en-US" sz="4200" dirty="0"/>
          </a:p>
        </p:txBody>
      </p:sp>
      <p:sp>
        <p:nvSpPr>
          <p:cNvPr id="4" name="Text 2"/>
          <p:cNvSpPr txBox="1"/>
          <p:nvPr/>
        </p:nvSpPr>
        <p:spPr>
          <a:xfrm>
            <a:off x="548640" y="3108960"/>
            <a:ext cx="8595360" cy="822960"/>
          </a:xfrm>
          <a:prstGeom prst="rect">
            <a:avLst/>
          </a:prstGeom>
          <a:noFill/>
          <a:ln/>
        </p:spPr>
        <p:txBody>
          <a:bodyPr wrap="square" lIns="0" tIns="0" rIns="0" bIns="0" rtlCol="0" anchor="ctr"/>
          <a:lstStyle/>
          <a:p>
            <a:pPr indent="0" marL="0">
              <a:lnSpc>
                <a:spcPts val="2600"/>
              </a:lnSpc>
              <a:buNone/>
            </a:pPr>
            <a:r>
              <a:rPr lang="en-US" sz="1800" dirty="0">
                <a:solidFill>
                  <a:srgbClr val="C7DCF0"/>
                </a:solidFill>
                <a:latin typeface="Calibri" pitchFamily="34" charset="0"/>
                <a:ea typeface="Calibri" pitchFamily="34" charset="-122"/>
                <a:cs typeface="Calibri" pitchFamily="34" charset="-120"/>
              </a:rPr>
              <a:t>A heuristic evaluation of the live buyer flow — 26 findings, and the fix built for each one.</a:t>
            </a:r>
            <a:endParaRPr lang="en-US" sz="1800" dirty="0"/>
          </a:p>
        </p:txBody>
      </p:sp>
      <p:sp>
        <p:nvSpPr>
          <p:cNvPr id="5" name="Shape 3"/>
          <p:cNvSpPr/>
          <p:nvPr/>
        </p:nvSpPr>
        <p:spPr>
          <a:xfrm>
            <a:off x="548640" y="4224528"/>
            <a:ext cx="2743200" cy="457200"/>
          </a:xfrm>
          <a:prstGeom prst="roundRect">
            <a:avLst>
              <a:gd name="adj" fmla="val 16000"/>
            </a:avLst>
          </a:prstGeom>
          <a:solidFill>
            <a:srgbClr val="16456F"/>
          </a:solidFill>
          <a:ln w="12700">
            <a:solidFill>
              <a:srgbClr val="16456F"/>
            </a:solidFill>
            <a:prstDash val="solid"/>
          </a:ln>
        </p:spPr>
      </p:sp>
      <p:sp>
        <p:nvSpPr>
          <p:cNvPr id="6" name="Text 4"/>
          <p:cNvSpPr txBox="1"/>
          <p:nvPr/>
        </p:nvSpPr>
        <p:spPr>
          <a:xfrm>
            <a:off x="548640" y="4224528"/>
            <a:ext cx="2743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Prototype included</a:t>
            </a:r>
            <a:endParaRPr lang="en-US" sz="1300" dirty="0"/>
          </a:p>
        </p:txBody>
      </p:sp>
      <p:sp>
        <p:nvSpPr>
          <p:cNvPr id="7" name="Text 5"/>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100" dirty="0">
                <a:solidFill>
                  <a:srgbClr val="8FA9C4"/>
                </a:solidFill>
                <a:latin typeface="Calibri" pitchFamily="34" charset="0"/>
                <a:ea typeface="Calibri" pitchFamily="34" charset="-122"/>
                <a:cs typeface="Calibri" pitchFamily="34" charset="-120"/>
              </a:rPr>
              <a:t>Evaluated against Nielsen's ten usability heuristics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02920"/>
            <a:ext cx="7315200" cy="658368"/>
          </a:xfrm>
          <a:prstGeom prst="rect">
            <a:avLst/>
          </a:prstGeom>
          <a:noFill/>
          <a:ln/>
        </p:spPr>
        <p:txBody>
          <a:bodyPr wrap="square" lIns="0" tIns="0" rIns="0" bIns="0" rtlCol="0" anchor="ctr"/>
          <a:lstStyle/>
          <a:p>
            <a:pPr indent="0" marL="0">
              <a:buNone/>
            </a:pPr>
            <a:r>
              <a:rPr lang="en-US" sz="3800" b="1" dirty="0">
                <a:solidFill>
                  <a:srgbClr val="0F1C2B"/>
                </a:solidFill>
                <a:latin typeface="Cambria" pitchFamily="34" charset="0"/>
                <a:ea typeface="Cambria" pitchFamily="34" charset="-122"/>
                <a:cs typeface="Cambria" pitchFamily="34" charset="-120"/>
              </a:rPr>
              <a:t>What we did</a:t>
            </a:r>
            <a:endParaRPr lang="en-US" sz="3800" dirty="0"/>
          </a:p>
        </p:txBody>
      </p:sp>
      <p:sp>
        <p:nvSpPr>
          <p:cNvPr id="3" name="Text 1"/>
          <p:cNvSpPr txBox="1"/>
          <p:nvPr/>
        </p:nvSpPr>
        <p:spPr>
          <a:xfrm>
            <a:off x="548640" y="1207008"/>
            <a:ext cx="82296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Three steps, in order. Each one depends on the one before it.</a:t>
            </a:r>
            <a:endParaRPr lang="en-US" sz="1500" dirty="0"/>
          </a:p>
        </p:txBody>
      </p:sp>
      <p:sp>
        <p:nvSpPr>
          <p:cNvPr id="4" name="Shape 2"/>
          <p:cNvSpPr/>
          <p:nvPr/>
        </p:nvSpPr>
        <p:spPr>
          <a:xfrm>
            <a:off x="548640" y="1746504"/>
            <a:ext cx="566928" cy="566928"/>
          </a:xfrm>
          <a:prstGeom prst="ellipse">
            <a:avLst/>
          </a:prstGeom>
          <a:solidFill>
            <a:srgbClr val="0A2540"/>
          </a:solidFill>
          <a:ln w="12700">
            <a:solidFill>
              <a:srgbClr val="0A2540"/>
            </a:solidFill>
            <a:prstDash val="solid"/>
          </a:ln>
        </p:spPr>
      </p:sp>
      <p:sp>
        <p:nvSpPr>
          <p:cNvPr id="5" name="Text 3"/>
          <p:cNvSpPr txBox="1"/>
          <p:nvPr/>
        </p:nvSpPr>
        <p:spPr>
          <a:xfrm>
            <a:off x="548640" y="174650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298448" y="1691640"/>
            <a:ext cx="10241280" cy="365760"/>
          </a:xfrm>
          <a:prstGeom prst="rect">
            <a:avLst/>
          </a:prstGeom>
          <a:noFill/>
          <a:ln/>
        </p:spPr>
        <p:txBody>
          <a:bodyPr wrap="square" lIns="0" tIns="0" rIns="0" bIns="0" rtlCol="0" anchor="ctr"/>
          <a:lstStyle/>
          <a:p>
            <a:pPr indent="0" marL="0">
              <a:buNone/>
            </a:pPr>
            <a:r>
              <a:rPr lang="en-US" sz="2000" b="1" dirty="0">
                <a:solidFill>
                  <a:srgbClr val="0F1C2B"/>
                </a:solidFill>
                <a:latin typeface="Cambria" pitchFamily="34" charset="0"/>
                <a:ea typeface="Cambria" pitchFamily="34" charset="-122"/>
                <a:cs typeface="Cambria" pitchFamily="34" charset="-120"/>
              </a:rPr>
              <a:t>Recorded the live flow</a:t>
            </a:r>
            <a:endParaRPr lang="en-US" sz="2000" dirty="0"/>
          </a:p>
        </p:txBody>
      </p:sp>
      <p:sp>
        <p:nvSpPr>
          <p:cNvPr id="7" name="Text 5"/>
          <p:cNvSpPr txBox="1"/>
          <p:nvPr/>
        </p:nvSpPr>
        <p:spPr>
          <a:xfrm>
            <a:off x="1298448" y="2093976"/>
            <a:ext cx="9966960" cy="822960"/>
          </a:xfrm>
          <a:prstGeom prst="rect">
            <a:avLst/>
          </a:prstGeom>
          <a:noFill/>
          <a:ln/>
        </p:spPr>
        <p:txBody>
          <a:bodyPr wrap="square" lIns="0" tIns="0" rIns="0" bIns="0" rtlCol="0" anchor="t"/>
          <a:lstStyle/>
          <a:p>
            <a:pPr indent="0" marL="0">
              <a:lnSpc>
                <a:spcPts val="2000"/>
              </a:lnSpc>
              <a:buNone/>
            </a:pPr>
            <a:r>
              <a:rPr lang="en-US" sz="1400" dirty="0">
                <a:solidFill>
                  <a:srgbClr val="4A5B6E"/>
                </a:solidFill>
                <a:latin typeface="Calibri" pitchFamily="34" charset="0"/>
                <a:ea typeface="Calibri" pitchFamily="34" charset="-122"/>
                <a:cs typeface="Calibri" pitchFamily="34" charset="-120"/>
              </a:rPr>
              <a:t>A full buyer journey on qa.highbasemarket.com — cart, review, address and documents, order placed — plus the two confirmation screenshots.</a:t>
            </a:r>
            <a:endParaRPr lang="en-US" sz="1400" dirty="0"/>
          </a:p>
        </p:txBody>
      </p:sp>
      <p:sp>
        <p:nvSpPr>
          <p:cNvPr id="8" name="Shape 6"/>
          <p:cNvSpPr/>
          <p:nvPr/>
        </p:nvSpPr>
        <p:spPr>
          <a:xfrm>
            <a:off x="548640" y="3227832"/>
            <a:ext cx="566928" cy="566928"/>
          </a:xfrm>
          <a:prstGeom prst="ellipse">
            <a:avLst/>
          </a:prstGeom>
          <a:solidFill>
            <a:srgbClr val="0A2540"/>
          </a:solidFill>
          <a:ln w="12700">
            <a:solidFill>
              <a:srgbClr val="0A2540"/>
            </a:solidFill>
            <a:prstDash val="solid"/>
          </a:ln>
        </p:spPr>
      </p:sp>
      <p:sp>
        <p:nvSpPr>
          <p:cNvPr id="9" name="Text 7"/>
          <p:cNvSpPr txBox="1"/>
          <p:nvPr/>
        </p:nvSpPr>
        <p:spPr>
          <a:xfrm>
            <a:off x="548640" y="32278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298448" y="3172968"/>
            <a:ext cx="10241280" cy="365760"/>
          </a:xfrm>
          <a:prstGeom prst="rect">
            <a:avLst/>
          </a:prstGeom>
          <a:noFill/>
          <a:ln/>
        </p:spPr>
        <p:txBody>
          <a:bodyPr wrap="square" lIns="0" tIns="0" rIns="0" bIns="0" rtlCol="0" anchor="ctr"/>
          <a:lstStyle/>
          <a:p>
            <a:pPr indent="0" marL="0">
              <a:buNone/>
            </a:pPr>
            <a:r>
              <a:rPr lang="en-US" sz="2000" b="1" dirty="0">
                <a:solidFill>
                  <a:srgbClr val="0F1C2B"/>
                </a:solidFill>
                <a:latin typeface="Cambria" pitchFamily="34" charset="0"/>
                <a:ea typeface="Cambria" pitchFamily="34" charset="-122"/>
                <a:cs typeface="Cambria" pitchFamily="34" charset="-120"/>
              </a:rPr>
              <a:t>Inspected it against a standard</a:t>
            </a:r>
            <a:endParaRPr lang="en-US" sz="2000" dirty="0"/>
          </a:p>
        </p:txBody>
      </p:sp>
      <p:sp>
        <p:nvSpPr>
          <p:cNvPr id="11" name="Text 9"/>
          <p:cNvSpPr txBox="1"/>
          <p:nvPr/>
        </p:nvSpPr>
        <p:spPr>
          <a:xfrm>
            <a:off x="1298448" y="3575304"/>
            <a:ext cx="9966960" cy="822960"/>
          </a:xfrm>
          <a:prstGeom prst="rect">
            <a:avLst/>
          </a:prstGeom>
          <a:noFill/>
          <a:ln/>
        </p:spPr>
        <p:txBody>
          <a:bodyPr wrap="square" lIns="0" tIns="0" rIns="0" bIns="0" rtlCol="0" anchor="t"/>
          <a:lstStyle/>
          <a:p>
            <a:pPr indent="0" marL="0">
              <a:lnSpc>
                <a:spcPts val="2000"/>
              </a:lnSpc>
              <a:buNone/>
            </a:pPr>
            <a:r>
              <a:rPr lang="en-US" sz="1400" dirty="0">
                <a:solidFill>
                  <a:srgbClr val="4A5B6E"/>
                </a:solidFill>
                <a:latin typeface="Calibri" pitchFamily="34" charset="0"/>
                <a:ea typeface="Calibri" pitchFamily="34" charset="-122"/>
                <a:cs typeface="Calibri" pitchFamily="34" charset="-120"/>
              </a:rPr>
              <a:t>Nielsen's ten usability heuristics, the industry-standard inspection method. Each finding names the heuristic it breaks and carries a severity rating.</a:t>
            </a:r>
            <a:endParaRPr lang="en-US" sz="1400" dirty="0"/>
          </a:p>
        </p:txBody>
      </p:sp>
      <p:sp>
        <p:nvSpPr>
          <p:cNvPr id="12" name="Shape 10"/>
          <p:cNvSpPr/>
          <p:nvPr/>
        </p:nvSpPr>
        <p:spPr>
          <a:xfrm>
            <a:off x="548640" y="4709160"/>
            <a:ext cx="566928" cy="566928"/>
          </a:xfrm>
          <a:prstGeom prst="ellipse">
            <a:avLst/>
          </a:prstGeom>
          <a:solidFill>
            <a:srgbClr val="0A2540"/>
          </a:solidFill>
          <a:ln w="12700">
            <a:solidFill>
              <a:srgbClr val="0A2540"/>
            </a:solidFill>
            <a:prstDash val="solid"/>
          </a:ln>
        </p:spPr>
      </p:sp>
      <p:sp>
        <p:nvSpPr>
          <p:cNvPr id="13" name="Text 11"/>
          <p:cNvSpPr txBox="1"/>
          <p:nvPr/>
        </p:nvSpPr>
        <p:spPr>
          <a:xfrm>
            <a:off x="548640" y="47091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298448" y="4654296"/>
            <a:ext cx="10241280" cy="365760"/>
          </a:xfrm>
          <a:prstGeom prst="rect">
            <a:avLst/>
          </a:prstGeom>
          <a:noFill/>
          <a:ln/>
        </p:spPr>
        <p:txBody>
          <a:bodyPr wrap="square" lIns="0" tIns="0" rIns="0" bIns="0" rtlCol="0" anchor="ctr"/>
          <a:lstStyle/>
          <a:p>
            <a:pPr indent="0" marL="0">
              <a:buNone/>
            </a:pPr>
            <a:r>
              <a:rPr lang="en-US" sz="2000" b="1" dirty="0">
                <a:solidFill>
                  <a:srgbClr val="0F1C2B"/>
                </a:solidFill>
                <a:latin typeface="Cambria" pitchFamily="34" charset="0"/>
                <a:ea typeface="Cambria" pitchFamily="34" charset="-122"/>
                <a:cs typeface="Cambria" pitchFamily="34" charset="-120"/>
              </a:rPr>
              <a:t>Built the fix, not just the critique</a:t>
            </a:r>
            <a:endParaRPr lang="en-US" sz="2000" dirty="0"/>
          </a:p>
        </p:txBody>
      </p:sp>
      <p:sp>
        <p:nvSpPr>
          <p:cNvPr id="15" name="Text 13"/>
          <p:cNvSpPr txBox="1"/>
          <p:nvPr/>
        </p:nvSpPr>
        <p:spPr>
          <a:xfrm>
            <a:off x="1298448" y="5056632"/>
            <a:ext cx="9966960" cy="822960"/>
          </a:xfrm>
          <a:prstGeom prst="rect">
            <a:avLst/>
          </a:prstGeom>
          <a:noFill/>
          <a:ln/>
        </p:spPr>
        <p:txBody>
          <a:bodyPr wrap="square" lIns="0" tIns="0" rIns="0" bIns="0" rtlCol="0" anchor="t"/>
          <a:lstStyle/>
          <a:p>
            <a:pPr indent="0" marL="0">
              <a:lnSpc>
                <a:spcPts val="2000"/>
              </a:lnSpc>
              <a:buNone/>
            </a:pPr>
            <a:r>
              <a:rPr lang="en-US" sz="1400" dirty="0">
                <a:solidFill>
                  <a:srgbClr val="4A5B6E"/>
                </a:solidFill>
                <a:latin typeface="Calibri" pitchFamily="34" charset="0"/>
                <a:ea typeface="Calibri" pitchFamily="34" charset="-122"/>
                <a:cs typeface="Calibri" pitchFamily="34" charset="-120"/>
              </a:rPr>
              <a:t>A working prototype of all three screens. Every one of the 26 findings has a corresponding change you can click through.</a:t>
            </a:r>
            <a:endParaRPr lang="en-US" sz="1400" dirty="0"/>
          </a:p>
        </p:txBody>
      </p:sp>
      <p:sp>
        <p:nvSpPr>
          <p:cNvPr id="16" name="Text 14"/>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17" name="Text 15"/>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502920"/>
            <a:ext cx="7315200" cy="658368"/>
          </a:xfrm>
          <a:prstGeom prst="rect">
            <a:avLst/>
          </a:prstGeom>
          <a:noFill/>
          <a:ln/>
        </p:spPr>
        <p:txBody>
          <a:bodyPr wrap="square" lIns="0" tIns="0" rIns="0" bIns="0" rtlCol="0" anchor="ctr"/>
          <a:lstStyle/>
          <a:p>
            <a:pPr indent="0" marL="0">
              <a:buNone/>
            </a:pPr>
            <a:r>
              <a:rPr lang="en-US" sz="3800" b="1" dirty="0">
                <a:solidFill>
                  <a:srgbClr val="0F1C2B"/>
                </a:solidFill>
                <a:latin typeface="Cambria" pitchFamily="34" charset="0"/>
                <a:ea typeface="Cambria" pitchFamily="34" charset="-122"/>
                <a:cs typeface="Cambria" pitchFamily="34" charset="-120"/>
              </a:rPr>
              <a:t>The headline</a:t>
            </a:r>
            <a:endParaRPr lang="en-US" sz="3800" dirty="0"/>
          </a:p>
        </p:txBody>
      </p:sp>
      <p:sp>
        <p:nvSpPr>
          <p:cNvPr id="3" name="Text 1"/>
          <p:cNvSpPr txBox="1"/>
          <p:nvPr/>
        </p:nvSpPr>
        <p:spPr>
          <a:xfrm>
            <a:off x="548640" y="1115568"/>
            <a:ext cx="10515600" cy="457200"/>
          </a:xfrm>
          <a:prstGeom prst="rect">
            <a:avLst/>
          </a:prstGeom>
          <a:noFill/>
          <a:ln/>
        </p:spPr>
        <p:txBody>
          <a:bodyPr wrap="square" lIns="0" tIns="0" rIns="0" bIns="0" rtlCol="0" anchor="ctr"/>
          <a:lstStyle/>
          <a:p>
            <a:pPr indent="0" marL="0">
              <a:buNone/>
            </a:pPr>
            <a:r>
              <a:rPr lang="en-US" sz="1900" dirty="0">
                <a:solidFill>
                  <a:srgbClr val="4A5B6E"/>
                </a:solidFill>
                <a:latin typeface="Calibri" pitchFamily="34" charset="0"/>
                <a:ea typeface="Calibri" pitchFamily="34" charset="-122"/>
                <a:cs typeface="Calibri" pitchFamily="34" charset="-120"/>
              </a:rPr>
              <a:t>26 findings. Six of them are costing you orders today.</a:t>
            </a:r>
            <a:endParaRPr lang="en-US" sz="1900" dirty="0"/>
          </a:p>
        </p:txBody>
      </p:sp>
      <p:sp>
        <p:nvSpPr>
          <p:cNvPr id="4" name="Shape 2"/>
          <p:cNvSpPr/>
          <p:nvPr/>
        </p:nvSpPr>
        <p:spPr>
          <a:xfrm>
            <a:off x="548640" y="1828800"/>
            <a:ext cx="2526030"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5" name="Text 3"/>
          <p:cNvSpPr txBox="1"/>
          <p:nvPr/>
        </p:nvSpPr>
        <p:spPr>
          <a:xfrm>
            <a:off x="804672" y="1975104"/>
            <a:ext cx="2013966" cy="859536"/>
          </a:xfrm>
          <a:prstGeom prst="rect">
            <a:avLst/>
          </a:prstGeom>
          <a:noFill/>
          <a:ln/>
        </p:spPr>
        <p:txBody>
          <a:bodyPr wrap="square" lIns="0" tIns="0" rIns="0" bIns="0" rtlCol="0" anchor="ctr"/>
          <a:lstStyle/>
          <a:p>
            <a:pPr indent="0" marL="0">
              <a:buNone/>
            </a:pPr>
            <a:r>
              <a:rPr lang="en-US" sz="5000" b="1" dirty="0">
                <a:solidFill>
                  <a:srgbClr val="0A2540"/>
                </a:solidFill>
                <a:latin typeface="Cambria" pitchFamily="34" charset="0"/>
                <a:ea typeface="Cambria" pitchFamily="34" charset="-122"/>
                <a:cs typeface="Cambria" pitchFamily="34" charset="-120"/>
              </a:rPr>
              <a:t>26</a:t>
            </a:r>
            <a:endParaRPr lang="en-US" sz="5000" dirty="0"/>
          </a:p>
        </p:txBody>
      </p:sp>
      <p:sp>
        <p:nvSpPr>
          <p:cNvPr id="6" name="Text 4"/>
          <p:cNvSpPr txBox="1"/>
          <p:nvPr/>
        </p:nvSpPr>
        <p:spPr>
          <a:xfrm>
            <a:off x="804672" y="2862072"/>
            <a:ext cx="2013966" cy="987552"/>
          </a:xfrm>
          <a:prstGeom prst="rect">
            <a:avLst/>
          </a:prstGeom>
          <a:noFill/>
          <a:ln/>
        </p:spPr>
        <p:txBody>
          <a:bodyPr wrap="square" lIns="0" tIns="0" rIns="0" bIns="0" rtlCol="0" anchor="t"/>
          <a:lstStyle/>
          <a:p>
            <a:pPr indent="0" marL="0">
              <a:lnSpc>
                <a:spcPts val="1700"/>
              </a:lnSpc>
              <a:buNone/>
            </a:pPr>
            <a:r>
              <a:rPr lang="en-US" sz="1300" dirty="0">
                <a:solidFill>
                  <a:srgbClr val="4A5B6E"/>
                </a:solidFill>
                <a:latin typeface="Calibri" pitchFamily="34" charset="0"/>
                <a:ea typeface="Calibri" pitchFamily="34" charset="-122"/>
                <a:cs typeface="Calibri" pitchFamily="34" charset="-120"/>
              </a:rPr>
              <a:t>findings across four screens</a:t>
            </a:r>
            <a:endParaRPr lang="en-US" sz="1300" dirty="0"/>
          </a:p>
        </p:txBody>
      </p:sp>
      <p:sp>
        <p:nvSpPr>
          <p:cNvPr id="7" name="Shape 5"/>
          <p:cNvSpPr/>
          <p:nvPr/>
        </p:nvSpPr>
        <p:spPr>
          <a:xfrm>
            <a:off x="3403854" y="1828800"/>
            <a:ext cx="2526030"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8" name="Text 6"/>
          <p:cNvSpPr txBox="1"/>
          <p:nvPr/>
        </p:nvSpPr>
        <p:spPr>
          <a:xfrm>
            <a:off x="3659886" y="1975104"/>
            <a:ext cx="2013966" cy="859536"/>
          </a:xfrm>
          <a:prstGeom prst="rect">
            <a:avLst/>
          </a:prstGeom>
          <a:noFill/>
          <a:ln/>
        </p:spPr>
        <p:txBody>
          <a:bodyPr wrap="square" lIns="0" tIns="0" rIns="0" bIns="0" rtlCol="0" anchor="ctr"/>
          <a:lstStyle/>
          <a:p>
            <a:pPr indent="0" marL="0">
              <a:buNone/>
            </a:pPr>
            <a:r>
              <a:rPr lang="en-US" sz="5000" b="1" dirty="0">
                <a:solidFill>
                  <a:srgbClr val="A81E17"/>
                </a:solidFill>
                <a:latin typeface="Cambria" pitchFamily="34" charset="0"/>
                <a:ea typeface="Cambria" pitchFamily="34" charset="-122"/>
                <a:cs typeface="Cambria" pitchFamily="34" charset="-120"/>
              </a:rPr>
              <a:t>6</a:t>
            </a:r>
            <a:endParaRPr lang="en-US" sz="5000" dirty="0"/>
          </a:p>
        </p:txBody>
      </p:sp>
      <p:sp>
        <p:nvSpPr>
          <p:cNvPr id="9" name="Text 7"/>
          <p:cNvSpPr txBox="1"/>
          <p:nvPr/>
        </p:nvSpPr>
        <p:spPr>
          <a:xfrm>
            <a:off x="3659886" y="2862072"/>
            <a:ext cx="2013966" cy="987552"/>
          </a:xfrm>
          <a:prstGeom prst="rect">
            <a:avLst/>
          </a:prstGeom>
          <a:noFill/>
          <a:ln/>
        </p:spPr>
        <p:txBody>
          <a:bodyPr wrap="square" lIns="0" tIns="0" rIns="0" bIns="0" rtlCol="0" anchor="t"/>
          <a:lstStyle/>
          <a:p>
            <a:pPr indent="0" marL="0">
              <a:lnSpc>
                <a:spcPts val="1700"/>
              </a:lnSpc>
              <a:buNone/>
            </a:pPr>
            <a:r>
              <a:rPr lang="en-US" sz="1300" dirty="0">
                <a:solidFill>
                  <a:srgbClr val="4A5B6E"/>
                </a:solidFill>
                <a:latin typeface="Calibri" pitchFamily="34" charset="0"/>
                <a:ea typeface="Calibri" pitchFamily="34" charset="-122"/>
                <a:cs typeface="Calibri" pitchFamily="34" charset="-120"/>
              </a:rPr>
              <a:t>rated catastrophic — they block or mislead on the path to purchase</a:t>
            </a:r>
            <a:endParaRPr lang="en-US" sz="1300" dirty="0"/>
          </a:p>
        </p:txBody>
      </p:sp>
      <p:sp>
        <p:nvSpPr>
          <p:cNvPr id="10" name="Shape 8"/>
          <p:cNvSpPr/>
          <p:nvPr/>
        </p:nvSpPr>
        <p:spPr>
          <a:xfrm>
            <a:off x="6259068" y="1828800"/>
            <a:ext cx="2526030"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1" name="Text 9"/>
          <p:cNvSpPr txBox="1"/>
          <p:nvPr/>
        </p:nvSpPr>
        <p:spPr>
          <a:xfrm>
            <a:off x="6515100" y="1975104"/>
            <a:ext cx="2013966" cy="859536"/>
          </a:xfrm>
          <a:prstGeom prst="rect">
            <a:avLst/>
          </a:prstGeom>
          <a:noFill/>
          <a:ln/>
        </p:spPr>
        <p:txBody>
          <a:bodyPr wrap="square" lIns="0" tIns="0" rIns="0" bIns="0" rtlCol="0" anchor="ctr"/>
          <a:lstStyle/>
          <a:p>
            <a:pPr indent="0" marL="0">
              <a:buNone/>
            </a:pPr>
            <a:r>
              <a:rPr lang="en-US" sz="5000" b="1" dirty="0">
                <a:solidFill>
                  <a:srgbClr val="16456F"/>
                </a:solidFill>
                <a:latin typeface="Cambria" pitchFamily="34" charset="0"/>
                <a:ea typeface="Cambria" pitchFamily="34" charset="-122"/>
                <a:cs typeface="Cambria" pitchFamily="34" charset="-120"/>
              </a:rPr>
              <a:t>10/10</a:t>
            </a:r>
            <a:endParaRPr lang="en-US" sz="5000" dirty="0"/>
          </a:p>
        </p:txBody>
      </p:sp>
      <p:sp>
        <p:nvSpPr>
          <p:cNvPr id="12" name="Text 10"/>
          <p:cNvSpPr txBox="1"/>
          <p:nvPr/>
        </p:nvSpPr>
        <p:spPr>
          <a:xfrm>
            <a:off x="6515100" y="2862072"/>
            <a:ext cx="2013966" cy="987552"/>
          </a:xfrm>
          <a:prstGeom prst="rect">
            <a:avLst/>
          </a:prstGeom>
          <a:noFill/>
          <a:ln/>
        </p:spPr>
        <p:txBody>
          <a:bodyPr wrap="square" lIns="0" tIns="0" rIns="0" bIns="0" rtlCol="0" anchor="t"/>
          <a:lstStyle/>
          <a:p>
            <a:pPr indent="0" marL="0">
              <a:lnSpc>
                <a:spcPts val="1700"/>
              </a:lnSpc>
              <a:buNone/>
            </a:pPr>
            <a:r>
              <a:rPr lang="en-US" sz="1300" dirty="0">
                <a:solidFill>
                  <a:srgbClr val="4A5B6E"/>
                </a:solidFill>
                <a:latin typeface="Calibri" pitchFamily="34" charset="0"/>
                <a:ea typeface="Calibri" pitchFamily="34" charset="-122"/>
                <a:cs typeface="Calibri" pitchFamily="34" charset="-120"/>
              </a:rPr>
              <a:t>heuristics breached at least once</a:t>
            </a:r>
            <a:endParaRPr lang="en-US" sz="1300" dirty="0"/>
          </a:p>
        </p:txBody>
      </p:sp>
      <p:sp>
        <p:nvSpPr>
          <p:cNvPr id="13" name="Shape 11"/>
          <p:cNvSpPr/>
          <p:nvPr/>
        </p:nvSpPr>
        <p:spPr>
          <a:xfrm>
            <a:off x="9114282" y="1828800"/>
            <a:ext cx="2526030"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4" name="Text 12"/>
          <p:cNvSpPr txBox="1"/>
          <p:nvPr/>
        </p:nvSpPr>
        <p:spPr>
          <a:xfrm>
            <a:off x="9370314" y="1975104"/>
            <a:ext cx="2013966" cy="859536"/>
          </a:xfrm>
          <a:prstGeom prst="rect">
            <a:avLst/>
          </a:prstGeom>
          <a:noFill/>
          <a:ln/>
        </p:spPr>
        <p:txBody>
          <a:bodyPr wrap="square" lIns="0" tIns="0" rIns="0" bIns="0" rtlCol="0" anchor="ctr"/>
          <a:lstStyle/>
          <a:p>
            <a:pPr indent="0" marL="0">
              <a:buNone/>
            </a:pPr>
            <a:r>
              <a:rPr lang="en-US" sz="5000" b="1" dirty="0">
                <a:solidFill>
                  <a:srgbClr val="1470BD"/>
                </a:solidFill>
                <a:latin typeface="Cambria" pitchFamily="34" charset="0"/>
                <a:ea typeface="Cambria" pitchFamily="34" charset="-122"/>
                <a:cs typeface="Cambria" pitchFamily="34" charset="-120"/>
              </a:rPr>
              <a:t>12</a:t>
            </a:r>
            <a:endParaRPr lang="en-US" sz="5000" dirty="0"/>
          </a:p>
        </p:txBody>
      </p:sp>
      <p:sp>
        <p:nvSpPr>
          <p:cNvPr id="15" name="Text 13"/>
          <p:cNvSpPr txBox="1"/>
          <p:nvPr/>
        </p:nvSpPr>
        <p:spPr>
          <a:xfrm>
            <a:off x="9370314" y="2862072"/>
            <a:ext cx="2013966" cy="987552"/>
          </a:xfrm>
          <a:prstGeom prst="rect">
            <a:avLst/>
          </a:prstGeom>
          <a:noFill/>
          <a:ln/>
        </p:spPr>
        <p:txBody>
          <a:bodyPr wrap="square" lIns="0" tIns="0" rIns="0" bIns="0" rtlCol="0" anchor="t"/>
          <a:lstStyle/>
          <a:p>
            <a:pPr indent="0" marL="0">
              <a:lnSpc>
                <a:spcPts val="1700"/>
              </a:lnSpc>
              <a:buNone/>
            </a:pPr>
            <a:r>
              <a:rPr lang="en-US" sz="1300" dirty="0">
                <a:solidFill>
                  <a:srgbClr val="4A5B6E"/>
                </a:solidFill>
                <a:latin typeface="Calibri" pitchFamily="34" charset="0"/>
                <a:ea typeface="Calibri" pitchFamily="34" charset="-122"/>
                <a:cs typeface="Calibri" pitchFamily="34" charset="-120"/>
              </a:rPr>
              <a:t>of the 38 breaches are one heuristic: the flow hides its own state</a:t>
            </a:r>
            <a:endParaRPr lang="en-US" sz="1300" dirty="0"/>
          </a:p>
        </p:txBody>
      </p:sp>
      <p:sp>
        <p:nvSpPr>
          <p:cNvPr id="16" name="Shape 14"/>
          <p:cNvSpPr/>
          <p:nvPr/>
        </p:nvSpPr>
        <p:spPr>
          <a:xfrm>
            <a:off x="548640" y="4133088"/>
            <a:ext cx="11091672" cy="1664208"/>
          </a:xfrm>
          <a:prstGeom prst="roundRect">
            <a:avLst>
              <a:gd name="adj" fmla="val 4396"/>
            </a:avLst>
          </a:prstGeom>
          <a:solidFill>
            <a:srgbClr val="0A2540"/>
          </a:solidFill>
          <a:ln w="12700">
            <a:solidFill>
              <a:srgbClr val="0A2540"/>
            </a:solidFill>
            <a:prstDash val="solid"/>
          </a:ln>
          <a:effectLst>
            <a:outerShdw sx="100000" sy="100000" kx="0" ky="0" algn="bl" rotWithShape="0" blurRad="127000" dist="12700" dir="5400000">
              <a:srgbClr val="0A2540">
                <a:alpha val="9000"/>
              </a:srgbClr>
            </a:outerShdw>
          </a:effectLst>
        </p:spPr>
      </p:sp>
      <p:sp>
        <p:nvSpPr>
          <p:cNvPr id="17" name="Text 15"/>
          <p:cNvSpPr txBox="1"/>
          <p:nvPr/>
        </p:nvSpPr>
        <p:spPr>
          <a:xfrm>
            <a:off x="932688" y="4334256"/>
            <a:ext cx="107899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The pattern behind the numbers</a:t>
            </a:r>
            <a:endParaRPr lang="en-US" sz="1900" dirty="0"/>
          </a:p>
        </p:txBody>
      </p:sp>
      <p:sp>
        <p:nvSpPr>
          <p:cNvPr id="18" name="Text 16"/>
          <p:cNvSpPr txBox="1"/>
          <p:nvPr/>
        </p:nvSpPr>
        <p:spPr>
          <a:xfrm>
            <a:off x="932688" y="4754880"/>
            <a:ext cx="10607040" cy="914400"/>
          </a:xfrm>
          <a:prstGeom prst="rect">
            <a:avLst/>
          </a:prstGeom>
          <a:noFill/>
          <a:ln/>
        </p:spPr>
        <p:txBody>
          <a:bodyPr wrap="square" lIns="0" tIns="0" rIns="0" bIns="0" rtlCol="0" anchor="ctr"/>
          <a:lstStyle/>
          <a:p>
            <a:pPr indent="0" marL="0">
              <a:lnSpc>
                <a:spcPts val="2100"/>
              </a:lnSpc>
              <a:buNone/>
            </a:pPr>
            <a:r>
              <a:rPr lang="en-US" sz="1450" dirty="0">
                <a:solidFill>
                  <a:srgbClr val="C7DCF0"/>
                </a:solidFill>
                <a:latin typeface="Calibri" pitchFamily="34" charset="0"/>
                <a:ea typeface="Calibri" pitchFamily="34" charset="-122"/>
                <a:cs typeface="Calibri" pitchFamily="34" charset="-120"/>
              </a:rPr>
              <a:t>The checkout consistently withholds cost, progress and state until after the buyer has committed. The delivery fee arrives a page late, the order total is absent from the screen that asks for the order, and the confirmation announces success while the money is still outstanding.</a:t>
            </a:r>
            <a:endParaRPr lang="en-US" sz="1450" dirty="0"/>
          </a:p>
        </p:txBody>
      </p:sp>
      <p:sp>
        <p:nvSpPr>
          <p:cNvPr id="19" name="Text 17"/>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20" name="Text 18"/>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502920"/>
            <a:ext cx="8229600" cy="658368"/>
          </a:xfrm>
          <a:prstGeom prst="rect">
            <a:avLst/>
          </a:prstGeom>
          <a:noFill/>
          <a:ln/>
        </p:spPr>
        <p:txBody>
          <a:bodyPr wrap="square" lIns="0" tIns="0" rIns="0" bIns="0" rtlCol="0" anchor="ctr"/>
          <a:lstStyle/>
          <a:p>
            <a:pPr indent="0" marL="0">
              <a:buNone/>
            </a:pPr>
            <a:r>
              <a:rPr lang="en-US" sz="3800" b="1" dirty="0">
                <a:solidFill>
                  <a:srgbClr val="0F1C2B"/>
                </a:solidFill>
                <a:latin typeface="Cambria" pitchFamily="34" charset="0"/>
                <a:ea typeface="Cambria" pitchFamily="34" charset="-122"/>
                <a:cs typeface="Cambria" pitchFamily="34" charset="-120"/>
              </a:rPr>
              <a:t>Where it costs money</a:t>
            </a:r>
            <a:endParaRPr lang="en-US" sz="3800" dirty="0"/>
          </a:p>
        </p:txBody>
      </p:sp>
      <p:sp>
        <p:nvSpPr>
          <p:cNvPr id="3" name="Text 1"/>
          <p:cNvSpPr txBox="1"/>
          <p:nvPr/>
        </p:nvSpPr>
        <p:spPr>
          <a:xfrm>
            <a:off x="548640" y="1207008"/>
            <a:ext cx="91440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The 26 findings cluster into four commercial problems.</a:t>
            </a:r>
            <a:endParaRPr lang="en-US" sz="1500" dirty="0"/>
          </a:p>
        </p:txBody>
      </p:sp>
      <p:sp>
        <p:nvSpPr>
          <p:cNvPr id="4" name="Shape 2"/>
          <p:cNvSpPr/>
          <p:nvPr/>
        </p:nvSpPr>
        <p:spPr>
          <a:xfrm>
            <a:off x="548640" y="1627632"/>
            <a:ext cx="5362956"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5" name="Text 3"/>
          <p:cNvSpPr txBox="1"/>
          <p:nvPr/>
        </p:nvSpPr>
        <p:spPr>
          <a:xfrm>
            <a:off x="859536" y="1865376"/>
            <a:ext cx="4741164" cy="384048"/>
          </a:xfrm>
          <a:prstGeom prst="rect">
            <a:avLst/>
          </a:prstGeom>
          <a:noFill/>
          <a:ln/>
        </p:spPr>
        <p:txBody>
          <a:bodyPr wrap="square" lIns="0" tIns="0" rIns="0" bIns="0" rtlCol="0" anchor="ctr"/>
          <a:lstStyle/>
          <a:p>
            <a:pPr indent="0" marL="0">
              <a:buNone/>
            </a:pPr>
            <a:r>
              <a:rPr lang="en-US" sz="2000" b="1" dirty="0">
                <a:solidFill>
                  <a:srgbClr val="0A2540"/>
                </a:solidFill>
                <a:latin typeface="Cambria" pitchFamily="34" charset="0"/>
                <a:ea typeface="Cambria" pitchFamily="34" charset="-122"/>
                <a:cs typeface="Cambria" pitchFamily="34" charset="-120"/>
              </a:rPr>
              <a:t>Cost arrives too late</a:t>
            </a:r>
            <a:endParaRPr lang="en-US" sz="2000" dirty="0"/>
          </a:p>
        </p:txBody>
      </p:sp>
      <p:sp>
        <p:nvSpPr>
          <p:cNvPr id="6" name="Text 4"/>
          <p:cNvSpPr txBox="1"/>
          <p:nvPr/>
        </p:nvSpPr>
        <p:spPr>
          <a:xfrm>
            <a:off x="859536" y="2304288"/>
            <a:ext cx="4741164" cy="960120"/>
          </a:xfrm>
          <a:prstGeom prst="rect">
            <a:avLst/>
          </a:prstGeom>
          <a:noFill/>
          <a:ln/>
        </p:spPr>
        <p:txBody>
          <a:bodyPr wrap="square" lIns="0" tIns="0" rIns="0" bIns="0" rtlCol="0" anchor="t"/>
          <a:lstStyle/>
          <a:p>
            <a:pPr indent="0" marL="0">
              <a:lnSpc>
                <a:spcPts val="1900"/>
              </a:lnSpc>
              <a:buNone/>
            </a:pPr>
            <a:r>
              <a:rPr lang="en-US" sz="1350" dirty="0">
                <a:solidFill>
                  <a:srgbClr val="4A5B6E"/>
                </a:solidFill>
                <a:latin typeface="Calibri" pitchFamily="34" charset="0"/>
                <a:ea typeface="Calibri" pitchFamily="34" charset="-122"/>
                <a:cs typeface="Calibri" pitchFamily="34" charset="-120"/>
              </a:rPr>
              <a:t>A BHD 10 delivery fee lands a page after the basket, and the screen that asks for the order shows no total at all. Buyers abandon at exactly the point they discover the real number.</a:t>
            </a:r>
            <a:endParaRPr lang="en-US" sz="1350" dirty="0"/>
          </a:p>
        </p:txBody>
      </p:sp>
      <p:sp>
        <p:nvSpPr>
          <p:cNvPr id="7" name="Text 5"/>
          <p:cNvSpPr txBox="1"/>
          <p:nvPr/>
        </p:nvSpPr>
        <p:spPr>
          <a:xfrm>
            <a:off x="859536" y="3291840"/>
            <a:ext cx="4741164" cy="274320"/>
          </a:xfrm>
          <a:prstGeom prst="rect">
            <a:avLst/>
          </a:prstGeom>
          <a:noFill/>
          <a:ln/>
        </p:spPr>
        <p:txBody>
          <a:bodyPr wrap="square" lIns="0" tIns="0" rIns="0" bIns="0" rtlCol="0" anchor="ctr"/>
          <a:lstStyle/>
          <a:p>
            <a:pPr indent="0" marL="0">
              <a:buNone/>
            </a:pPr>
            <a:r>
              <a:rPr lang="en-US" sz="1150" b="1" dirty="0">
                <a:solidFill>
                  <a:srgbClr val="1470BD"/>
                </a:solidFill>
                <a:latin typeface="Calibri" pitchFamily="34" charset="0"/>
                <a:ea typeface="Calibri" pitchFamily="34" charset="-122"/>
                <a:cs typeface="Calibri" pitchFamily="34" charset="-120"/>
              </a:rPr>
              <a:t>C2 · R1 · A1 · A6</a:t>
            </a:r>
            <a:endParaRPr lang="en-US" sz="1150" dirty="0"/>
          </a:p>
        </p:txBody>
      </p:sp>
      <p:sp>
        <p:nvSpPr>
          <p:cNvPr id="8" name="Shape 6"/>
          <p:cNvSpPr/>
          <p:nvPr/>
        </p:nvSpPr>
        <p:spPr>
          <a:xfrm>
            <a:off x="6277356" y="1627632"/>
            <a:ext cx="5362956" cy="2084832"/>
          </a:xfrm>
          <a:prstGeom prst="roundRect">
            <a:avLst>
              <a:gd name="adj" fmla="val 3509"/>
            </a:avLst>
          </a:prstGeom>
          <a:solidFill>
            <a:srgbClr val="F7FAFC"/>
          </a:solidFill>
          <a:ln w="12700">
            <a:solidFill>
              <a:srgbClr val="F7FAFC"/>
            </a:solidFill>
            <a:prstDash val="solid"/>
          </a:ln>
          <a:effectLst>
            <a:outerShdw sx="100000" sy="100000" kx="0" ky="0" algn="bl" rotWithShape="0" blurRad="127000" dist="12700" dir="5400000">
              <a:srgbClr val="0A2540">
                <a:alpha val="9000"/>
              </a:srgbClr>
            </a:outerShdw>
          </a:effectLst>
        </p:spPr>
      </p:sp>
      <p:sp>
        <p:nvSpPr>
          <p:cNvPr id="9" name="Text 7"/>
          <p:cNvSpPr txBox="1"/>
          <p:nvPr/>
        </p:nvSpPr>
        <p:spPr>
          <a:xfrm>
            <a:off x="6588252" y="1865376"/>
            <a:ext cx="4741164" cy="384048"/>
          </a:xfrm>
          <a:prstGeom prst="rect">
            <a:avLst/>
          </a:prstGeom>
          <a:noFill/>
          <a:ln/>
        </p:spPr>
        <p:txBody>
          <a:bodyPr wrap="square" lIns="0" tIns="0" rIns="0" bIns="0" rtlCol="0" anchor="ctr"/>
          <a:lstStyle/>
          <a:p>
            <a:pPr indent="0" marL="0">
              <a:buNone/>
            </a:pPr>
            <a:r>
              <a:rPr lang="en-US" sz="2000" b="1" dirty="0">
                <a:solidFill>
                  <a:srgbClr val="0A2540"/>
                </a:solidFill>
                <a:latin typeface="Cambria" pitchFamily="34" charset="0"/>
                <a:ea typeface="Cambria" pitchFamily="34" charset="-122"/>
                <a:cs typeface="Cambria" pitchFamily="34" charset="-120"/>
              </a:rPr>
              <a:t>Paperwork on every order</a:t>
            </a:r>
            <a:endParaRPr lang="en-US" sz="2000" dirty="0"/>
          </a:p>
        </p:txBody>
      </p:sp>
      <p:sp>
        <p:nvSpPr>
          <p:cNvPr id="10" name="Text 8"/>
          <p:cNvSpPr txBox="1"/>
          <p:nvPr/>
        </p:nvSpPr>
        <p:spPr>
          <a:xfrm>
            <a:off x="6588252" y="2304288"/>
            <a:ext cx="4741164" cy="960120"/>
          </a:xfrm>
          <a:prstGeom prst="rect">
            <a:avLst/>
          </a:prstGeom>
          <a:noFill/>
          <a:ln/>
        </p:spPr>
        <p:txBody>
          <a:bodyPr wrap="square" lIns="0" tIns="0" rIns="0" bIns="0" rtlCol="0" anchor="t"/>
          <a:lstStyle/>
          <a:p>
            <a:pPr indent="0" marL="0">
              <a:lnSpc>
                <a:spcPts val="1900"/>
              </a:lnSpc>
              <a:buNone/>
            </a:pPr>
            <a:r>
              <a:rPr lang="en-US" sz="1350" dirty="0">
                <a:solidFill>
                  <a:srgbClr val="4A5B6E"/>
                </a:solidFill>
                <a:latin typeface="Calibri" pitchFamily="34" charset="0"/>
                <a:ea typeface="Calibri" pitchFamily="34" charset="-122"/>
                <a:cs typeface="Calibri" pitchFamily="34" charset="-120"/>
              </a:rPr>
              <a:t>Trade documents are demanded inside each purchase rather than once per account — the tax falls hardest on the buyers who order most often.</a:t>
            </a:r>
            <a:endParaRPr lang="en-US" sz="1350" dirty="0"/>
          </a:p>
        </p:txBody>
      </p:sp>
      <p:sp>
        <p:nvSpPr>
          <p:cNvPr id="11" name="Text 9"/>
          <p:cNvSpPr txBox="1"/>
          <p:nvPr/>
        </p:nvSpPr>
        <p:spPr>
          <a:xfrm>
            <a:off x="6588252" y="3291840"/>
            <a:ext cx="4741164" cy="274320"/>
          </a:xfrm>
          <a:prstGeom prst="rect">
            <a:avLst/>
          </a:prstGeom>
          <a:noFill/>
          <a:ln/>
        </p:spPr>
        <p:txBody>
          <a:bodyPr wrap="square" lIns="0" tIns="0" rIns="0" bIns="0" rtlCol="0" anchor="ctr"/>
          <a:lstStyle/>
          <a:p>
            <a:pPr indent="0" marL="0">
              <a:buNone/>
            </a:pPr>
            <a:r>
              <a:rPr lang="en-US" sz="1150" b="1" dirty="0">
                <a:solidFill>
                  <a:srgbClr val="1470BD"/>
                </a:solidFill>
                <a:latin typeface="Calibri" pitchFamily="34" charset="0"/>
                <a:ea typeface="Calibri" pitchFamily="34" charset="-122"/>
                <a:cs typeface="Calibri" pitchFamily="34" charset="-120"/>
              </a:rPr>
              <a:t>A2 · A3 · A9</a:t>
            </a:r>
            <a:endParaRPr lang="en-US" sz="1150" dirty="0"/>
          </a:p>
        </p:txBody>
      </p:sp>
      <p:sp>
        <p:nvSpPr>
          <p:cNvPr id="12" name="Shape 10"/>
          <p:cNvSpPr/>
          <p:nvPr/>
        </p:nvSpPr>
        <p:spPr>
          <a:xfrm>
            <a:off x="548640" y="4023360"/>
            <a:ext cx="5362956" cy="2084832"/>
          </a:xfrm>
          <a:prstGeom prst="roundRect">
            <a:avLst>
              <a:gd name="adj" fmla="val 3509"/>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3" name="Text 11"/>
          <p:cNvSpPr txBox="1"/>
          <p:nvPr/>
        </p:nvSpPr>
        <p:spPr>
          <a:xfrm>
            <a:off x="859536" y="4261104"/>
            <a:ext cx="4741164" cy="384048"/>
          </a:xfrm>
          <a:prstGeom prst="rect">
            <a:avLst/>
          </a:prstGeom>
          <a:noFill/>
          <a:ln/>
        </p:spPr>
        <p:txBody>
          <a:bodyPr wrap="square" lIns="0" tIns="0" rIns="0" bIns="0" rtlCol="0" anchor="ctr"/>
          <a:lstStyle/>
          <a:p>
            <a:pPr indent="0" marL="0">
              <a:buNone/>
            </a:pPr>
            <a:r>
              <a:rPr lang="en-US" sz="2000" b="1" dirty="0">
                <a:solidFill>
                  <a:srgbClr val="0A2540"/>
                </a:solidFill>
                <a:latin typeface="Cambria" pitchFamily="34" charset="0"/>
                <a:ea typeface="Cambria" pitchFamily="34" charset="-122"/>
                <a:cs typeface="Cambria" pitchFamily="34" charset="-120"/>
              </a:rPr>
              <a:t>Payment left unfinished</a:t>
            </a:r>
            <a:endParaRPr lang="en-US" sz="2000" dirty="0"/>
          </a:p>
        </p:txBody>
      </p:sp>
      <p:sp>
        <p:nvSpPr>
          <p:cNvPr id="14" name="Text 12"/>
          <p:cNvSpPr txBox="1"/>
          <p:nvPr/>
        </p:nvSpPr>
        <p:spPr>
          <a:xfrm>
            <a:off x="859536" y="4700016"/>
            <a:ext cx="4741164" cy="960120"/>
          </a:xfrm>
          <a:prstGeom prst="rect">
            <a:avLst/>
          </a:prstGeom>
          <a:noFill/>
          <a:ln/>
        </p:spPr>
        <p:txBody>
          <a:bodyPr wrap="square" lIns="0" tIns="0" rIns="0" bIns="0" rtlCol="0" anchor="t"/>
          <a:lstStyle/>
          <a:p>
            <a:pPr indent="0" marL="0">
              <a:lnSpc>
                <a:spcPts val="1900"/>
              </a:lnSpc>
              <a:buNone/>
            </a:pPr>
            <a:r>
              <a:rPr lang="en-US" sz="1350" dirty="0">
                <a:solidFill>
                  <a:srgbClr val="4A5B6E"/>
                </a:solidFill>
                <a:latin typeface="Calibri" pitchFamily="34" charset="0"/>
                <a:ea typeface="Calibri" pitchFamily="34" charset="-122"/>
                <a:cs typeface="Calibri" pitchFamily="34" charset="-120"/>
              </a:rPr>
              <a:t>The order is declared successful while unpaid, with no deadline, no reference and the receipt upload on a different page entirely.</a:t>
            </a:r>
            <a:endParaRPr lang="en-US" sz="1350" dirty="0"/>
          </a:p>
        </p:txBody>
      </p:sp>
      <p:sp>
        <p:nvSpPr>
          <p:cNvPr id="15" name="Text 13"/>
          <p:cNvSpPr txBox="1"/>
          <p:nvPr/>
        </p:nvSpPr>
        <p:spPr>
          <a:xfrm>
            <a:off x="859536" y="5687568"/>
            <a:ext cx="4741164" cy="274320"/>
          </a:xfrm>
          <a:prstGeom prst="rect">
            <a:avLst/>
          </a:prstGeom>
          <a:noFill/>
          <a:ln/>
        </p:spPr>
        <p:txBody>
          <a:bodyPr wrap="square" lIns="0" tIns="0" rIns="0" bIns="0" rtlCol="0" anchor="ctr"/>
          <a:lstStyle/>
          <a:p>
            <a:pPr indent="0" marL="0">
              <a:buNone/>
            </a:pPr>
            <a:r>
              <a:rPr lang="en-US" sz="1150" b="1" dirty="0">
                <a:solidFill>
                  <a:srgbClr val="1470BD"/>
                </a:solidFill>
                <a:latin typeface="Calibri" pitchFamily="34" charset="0"/>
                <a:ea typeface="Calibri" pitchFamily="34" charset="-122"/>
                <a:cs typeface="Calibri" pitchFamily="34" charset="-120"/>
              </a:rPr>
              <a:t>P1 · P2 · P3 · P5</a:t>
            </a:r>
            <a:endParaRPr lang="en-US" sz="1150" dirty="0"/>
          </a:p>
        </p:txBody>
      </p:sp>
      <p:sp>
        <p:nvSpPr>
          <p:cNvPr id="16" name="Shape 14"/>
          <p:cNvSpPr/>
          <p:nvPr/>
        </p:nvSpPr>
        <p:spPr>
          <a:xfrm>
            <a:off x="6277356" y="4023360"/>
            <a:ext cx="5362956" cy="2084832"/>
          </a:xfrm>
          <a:prstGeom prst="roundRect">
            <a:avLst>
              <a:gd name="adj" fmla="val 3509"/>
            </a:avLst>
          </a:prstGeom>
          <a:solidFill>
            <a:srgbClr val="F7FAFC"/>
          </a:solidFill>
          <a:ln w="12700">
            <a:solidFill>
              <a:srgbClr val="F7FAFC"/>
            </a:solidFill>
            <a:prstDash val="solid"/>
          </a:ln>
          <a:effectLst>
            <a:outerShdw sx="100000" sy="100000" kx="0" ky="0" algn="bl" rotWithShape="0" blurRad="127000" dist="12700" dir="5400000">
              <a:srgbClr val="0A2540">
                <a:alpha val="9000"/>
              </a:srgbClr>
            </a:outerShdw>
          </a:effectLst>
        </p:spPr>
      </p:sp>
      <p:sp>
        <p:nvSpPr>
          <p:cNvPr id="17" name="Text 15"/>
          <p:cNvSpPr txBox="1"/>
          <p:nvPr/>
        </p:nvSpPr>
        <p:spPr>
          <a:xfrm>
            <a:off x="6588252" y="4261104"/>
            <a:ext cx="4741164" cy="384048"/>
          </a:xfrm>
          <a:prstGeom prst="rect">
            <a:avLst/>
          </a:prstGeom>
          <a:noFill/>
          <a:ln/>
        </p:spPr>
        <p:txBody>
          <a:bodyPr wrap="square" lIns="0" tIns="0" rIns="0" bIns="0" rtlCol="0" anchor="ctr"/>
          <a:lstStyle/>
          <a:p>
            <a:pPr indent="0" marL="0">
              <a:buNone/>
            </a:pPr>
            <a:r>
              <a:rPr lang="en-US" sz="2000" b="1" dirty="0">
                <a:solidFill>
                  <a:srgbClr val="0A2540"/>
                </a:solidFill>
                <a:latin typeface="Cambria" pitchFamily="34" charset="0"/>
                <a:ea typeface="Cambria" pitchFamily="34" charset="-122"/>
                <a:cs typeface="Cambria" pitchFamily="34" charset="-120"/>
              </a:rPr>
              <a:t>Nothing built for repeat buying</a:t>
            </a:r>
            <a:endParaRPr lang="en-US" sz="2000" dirty="0"/>
          </a:p>
        </p:txBody>
      </p:sp>
      <p:sp>
        <p:nvSpPr>
          <p:cNvPr id="18" name="Text 16"/>
          <p:cNvSpPr txBox="1"/>
          <p:nvPr/>
        </p:nvSpPr>
        <p:spPr>
          <a:xfrm>
            <a:off x="6588252" y="4700016"/>
            <a:ext cx="4741164" cy="960120"/>
          </a:xfrm>
          <a:prstGeom prst="rect">
            <a:avLst/>
          </a:prstGeom>
          <a:noFill/>
          <a:ln/>
        </p:spPr>
        <p:txBody>
          <a:bodyPr wrap="square" lIns="0" tIns="0" rIns="0" bIns="0" rtlCol="0" anchor="t"/>
          <a:lstStyle/>
          <a:p>
            <a:pPr indent="0" marL="0">
              <a:lnSpc>
                <a:spcPts val="1900"/>
              </a:lnSpc>
              <a:buNone/>
            </a:pPr>
            <a:r>
              <a:rPr lang="en-US" sz="1350" dirty="0">
                <a:solidFill>
                  <a:srgbClr val="4A5B6E"/>
                </a:solidFill>
                <a:latin typeface="Calibri" pitchFamily="34" charset="0"/>
                <a:ea typeface="Calibri" pitchFamily="34" charset="-122"/>
                <a:cs typeface="Calibri" pitchFamily="34" charset="-120"/>
              </a:rPr>
              <a:t>No reorder, no saved lists, no per-unit pricing, none of the fields a procurement team reconciles against.</a:t>
            </a:r>
            <a:endParaRPr lang="en-US" sz="1350" dirty="0"/>
          </a:p>
        </p:txBody>
      </p:sp>
      <p:sp>
        <p:nvSpPr>
          <p:cNvPr id="19" name="Text 17"/>
          <p:cNvSpPr txBox="1"/>
          <p:nvPr/>
        </p:nvSpPr>
        <p:spPr>
          <a:xfrm>
            <a:off x="6588252" y="5687568"/>
            <a:ext cx="4741164" cy="274320"/>
          </a:xfrm>
          <a:prstGeom prst="rect">
            <a:avLst/>
          </a:prstGeom>
          <a:noFill/>
          <a:ln/>
        </p:spPr>
        <p:txBody>
          <a:bodyPr wrap="square" lIns="0" tIns="0" rIns="0" bIns="0" rtlCol="0" anchor="ctr"/>
          <a:lstStyle/>
          <a:p>
            <a:pPr indent="0" marL="0">
              <a:buNone/>
            </a:pPr>
            <a:r>
              <a:rPr lang="en-US" sz="1150" b="1" dirty="0">
                <a:solidFill>
                  <a:srgbClr val="1470BD"/>
                </a:solidFill>
                <a:latin typeface="Calibri" pitchFamily="34" charset="0"/>
                <a:ea typeface="Calibri" pitchFamily="34" charset="-122"/>
                <a:cs typeface="Calibri" pitchFamily="34" charset="-120"/>
              </a:rPr>
              <a:t>C5 · C8 · A8</a:t>
            </a:r>
            <a:endParaRPr lang="en-US" sz="1150" dirty="0"/>
          </a:p>
        </p:txBody>
      </p:sp>
      <p:sp>
        <p:nvSpPr>
          <p:cNvPr id="20" name="Text 18"/>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21" name="Text 19"/>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502920"/>
            <a:ext cx="10058400" cy="658368"/>
          </a:xfrm>
          <a:prstGeom prst="rect">
            <a:avLst/>
          </a:prstGeom>
          <a:noFill/>
          <a:ln/>
        </p:spPr>
        <p:txBody>
          <a:bodyPr wrap="square" lIns="0" tIns="0" rIns="0" bIns="0" rtlCol="0" anchor="ctr"/>
          <a:lstStyle/>
          <a:p>
            <a:pPr indent="0" marL="0">
              <a:buNone/>
            </a:pPr>
            <a:r>
              <a:rPr lang="en-US" sz="3600" b="1" dirty="0">
                <a:solidFill>
                  <a:srgbClr val="0F1C2B"/>
                </a:solidFill>
                <a:latin typeface="Cambria" pitchFamily="34" charset="0"/>
                <a:ea typeface="Cambria" pitchFamily="34" charset="-122"/>
                <a:cs typeface="Cambria" pitchFamily="34" charset="-120"/>
              </a:rPr>
              <a:t>How to read the next 26 slides</a:t>
            </a:r>
            <a:endParaRPr lang="en-US" sz="3600" dirty="0"/>
          </a:p>
        </p:txBody>
      </p:sp>
      <p:sp>
        <p:nvSpPr>
          <p:cNvPr id="3" name="Text 1"/>
          <p:cNvSpPr txBox="1"/>
          <p:nvPr/>
        </p:nvSpPr>
        <p:spPr>
          <a:xfrm>
            <a:off x="548640" y="1170432"/>
            <a:ext cx="10881360" cy="548640"/>
          </a:xfrm>
          <a:prstGeom prst="rect">
            <a:avLst/>
          </a:prstGeom>
          <a:noFill/>
          <a:ln/>
        </p:spPr>
        <p:txBody>
          <a:bodyPr wrap="square" lIns="0" tIns="0" rIns="0" bIns="0" rtlCol="0" anchor="ctr"/>
          <a:lstStyle/>
          <a:p>
            <a:pPr indent="0" marL="0">
              <a:lnSpc>
                <a:spcPts val="2100"/>
              </a:lnSpc>
              <a:buNone/>
            </a:pPr>
            <a:r>
              <a:rPr lang="en-US" sz="1500" dirty="0">
                <a:solidFill>
                  <a:srgbClr val="4A5B6E"/>
                </a:solidFill>
                <a:latin typeface="Calibri" pitchFamily="34" charset="0"/>
                <a:ea typeface="Calibri" pitchFamily="34" charset="-122"/>
                <a:cs typeface="Calibri" pitchFamily="34" charset="-120"/>
              </a:rPr>
              <a:t>One finding per slide, in the same shape every time: what happens today, what we changed, and what it costs you.</a:t>
            </a:r>
            <a:endParaRPr lang="en-US" sz="1500" dirty="0"/>
          </a:p>
        </p:txBody>
      </p:sp>
      <p:sp>
        <p:nvSpPr>
          <p:cNvPr id="4" name="Shape 2"/>
          <p:cNvSpPr/>
          <p:nvPr/>
        </p:nvSpPr>
        <p:spPr>
          <a:xfrm>
            <a:off x="548640" y="1783080"/>
            <a:ext cx="1965960" cy="512064"/>
          </a:xfrm>
          <a:prstGeom prst="roundRect">
            <a:avLst>
              <a:gd name="adj" fmla="val 14286"/>
            </a:avLst>
          </a:prstGeom>
          <a:solidFill>
            <a:srgbClr val="FAEAE9"/>
          </a:solidFill>
          <a:ln w="12700">
            <a:solidFill>
              <a:srgbClr val="FAEAE9"/>
            </a:solidFill>
            <a:prstDash val="solid"/>
          </a:ln>
        </p:spPr>
      </p:sp>
      <p:sp>
        <p:nvSpPr>
          <p:cNvPr id="5" name="Text 3"/>
          <p:cNvSpPr txBox="1"/>
          <p:nvPr/>
        </p:nvSpPr>
        <p:spPr>
          <a:xfrm>
            <a:off x="548640" y="1783080"/>
            <a:ext cx="1965960" cy="512064"/>
          </a:xfrm>
          <a:prstGeom prst="rect">
            <a:avLst/>
          </a:prstGeom>
          <a:noFill/>
          <a:ln/>
        </p:spPr>
        <p:txBody>
          <a:bodyPr wrap="square" lIns="0" tIns="0" rIns="0" bIns="0" rtlCol="0" anchor="ctr"/>
          <a:lstStyle/>
          <a:p>
            <a:pPr algn="ctr" indent="0" marL="0">
              <a:buNone/>
            </a:pPr>
            <a:r>
              <a:rPr lang="en-US" sz="1300" b="1" dirty="0">
                <a:solidFill>
                  <a:srgbClr val="A81E17"/>
                </a:solidFill>
                <a:latin typeface="Calibri" pitchFamily="34" charset="0"/>
                <a:ea typeface="Calibri" pitchFamily="34" charset="-122"/>
                <a:cs typeface="Calibri" pitchFamily="34" charset="-120"/>
              </a:rPr>
              <a:t>4 · Catastrophic</a:t>
            </a:r>
            <a:endParaRPr lang="en-US" sz="1300" dirty="0"/>
          </a:p>
        </p:txBody>
      </p:sp>
      <p:sp>
        <p:nvSpPr>
          <p:cNvPr id="6" name="Text 4"/>
          <p:cNvSpPr txBox="1"/>
          <p:nvPr/>
        </p:nvSpPr>
        <p:spPr>
          <a:xfrm>
            <a:off x="2788920" y="1783080"/>
            <a:ext cx="8778240" cy="512064"/>
          </a:xfrm>
          <a:prstGeom prst="rect">
            <a:avLst/>
          </a:prstGeom>
          <a:noFill/>
          <a:ln/>
        </p:spPr>
        <p:txBody>
          <a:bodyPr wrap="square" lIns="0" tIns="0" rIns="0" bIns="0" rtlCol="0" anchor="ctr"/>
          <a:lstStyle/>
          <a:p>
            <a:pPr indent="0" marL="0">
              <a:buNone/>
            </a:pPr>
            <a:r>
              <a:rPr lang="en-US" sz="1450" dirty="0">
                <a:solidFill>
                  <a:srgbClr val="4A5B6E"/>
                </a:solidFill>
                <a:latin typeface="Calibri" pitchFamily="34" charset="0"/>
                <a:ea typeface="Calibri" pitchFamily="34" charset="-122"/>
                <a:cs typeface="Calibri" pitchFamily="34" charset="-120"/>
              </a:rPr>
              <a:t>Blocks or misleads on the path to purchase. Fix before anything else. 6 findings.</a:t>
            </a:r>
            <a:endParaRPr lang="en-US" sz="1450" dirty="0"/>
          </a:p>
        </p:txBody>
      </p:sp>
      <p:sp>
        <p:nvSpPr>
          <p:cNvPr id="7" name="Shape 5"/>
          <p:cNvSpPr/>
          <p:nvPr/>
        </p:nvSpPr>
        <p:spPr>
          <a:xfrm>
            <a:off x="548640" y="2743200"/>
            <a:ext cx="1965960" cy="512064"/>
          </a:xfrm>
          <a:prstGeom prst="roundRect">
            <a:avLst>
              <a:gd name="adj" fmla="val 14286"/>
            </a:avLst>
          </a:prstGeom>
          <a:solidFill>
            <a:srgbClr val="FDF3E3"/>
          </a:solidFill>
          <a:ln w="12700">
            <a:solidFill>
              <a:srgbClr val="FDF3E3"/>
            </a:solidFill>
            <a:prstDash val="solid"/>
          </a:ln>
        </p:spPr>
      </p:sp>
      <p:sp>
        <p:nvSpPr>
          <p:cNvPr id="8" name="Text 6"/>
          <p:cNvSpPr txBox="1"/>
          <p:nvPr/>
        </p:nvSpPr>
        <p:spPr>
          <a:xfrm>
            <a:off x="548640" y="2743200"/>
            <a:ext cx="1965960" cy="512064"/>
          </a:xfrm>
          <a:prstGeom prst="rect">
            <a:avLst/>
          </a:prstGeom>
          <a:noFill/>
          <a:ln/>
        </p:spPr>
        <p:txBody>
          <a:bodyPr wrap="square" lIns="0" tIns="0" rIns="0" bIns="0" rtlCol="0" anchor="ctr"/>
          <a:lstStyle/>
          <a:p>
            <a:pPr algn="ctr" indent="0" marL="0">
              <a:buNone/>
            </a:pPr>
            <a:r>
              <a:rPr lang="en-US" sz="1300" b="1" dirty="0">
                <a:solidFill>
                  <a:srgbClr val="9C5C00"/>
                </a:solidFill>
                <a:latin typeface="Calibri" pitchFamily="34" charset="0"/>
                <a:ea typeface="Calibri" pitchFamily="34" charset="-122"/>
                <a:cs typeface="Calibri" pitchFamily="34" charset="-120"/>
              </a:rPr>
              <a:t>3 · Major</a:t>
            </a:r>
            <a:endParaRPr lang="en-US" sz="1300" dirty="0"/>
          </a:p>
        </p:txBody>
      </p:sp>
      <p:sp>
        <p:nvSpPr>
          <p:cNvPr id="9" name="Text 7"/>
          <p:cNvSpPr txBox="1"/>
          <p:nvPr/>
        </p:nvSpPr>
        <p:spPr>
          <a:xfrm>
            <a:off x="2788920" y="2743200"/>
            <a:ext cx="8778240" cy="512064"/>
          </a:xfrm>
          <a:prstGeom prst="rect">
            <a:avLst/>
          </a:prstGeom>
          <a:noFill/>
          <a:ln/>
        </p:spPr>
        <p:txBody>
          <a:bodyPr wrap="square" lIns="0" tIns="0" rIns="0" bIns="0" rtlCol="0" anchor="ctr"/>
          <a:lstStyle/>
          <a:p>
            <a:pPr indent="0" marL="0">
              <a:buNone/>
            </a:pPr>
            <a:r>
              <a:rPr lang="en-US" sz="1450" dirty="0">
                <a:solidFill>
                  <a:srgbClr val="4A5B6E"/>
                </a:solidFill>
                <a:latin typeface="Calibri" pitchFamily="34" charset="0"/>
                <a:ea typeface="Calibri" pitchFamily="34" charset="-122"/>
                <a:cs typeface="Calibri" pitchFamily="34" charset="-120"/>
              </a:rPr>
              <a:t>Causes real friction, rework or support load. High priority. 13 findings.</a:t>
            </a:r>
            <a:endParaRPr lang="en-US" sz="1450" dirty="0"/>
          </a:p>
        </p:txBody>
      </p:sp>
      <p:sp>
        <p:nvSpPr>
          <p:cNvPr id="10" name="Shape 8"/>
          <p:cNvSpPr/>
          <p:nvPr/>
        </p:nvSpPr>
        <p:spPr>
          <a:xfrm>
            <a:off x="548640" y="3703320"/>
            <a:ext cx="1965960" cy="512064"/>
          </a:xfrm>
          <a:prstGeom prst="roundRect">
            <a:avLst>
              <a:gd name="adj" fmla="val 14286"/>
            </a:avLst>
          </a:prstGeom>
          <a:solidFill>
            <a:srgbClr val="E9F2FB"/>
          </a:solidFill>
          <a:ln w="12700">
            <a:solidFill>
              <a:srgbClr val="E9F2FB"/>
            </a:solidFill>
            <a:prstDash val="solid"/>
          </a:ln>
        </p:spPr>
      </p:sp>
      <p:sp>
        <p:nvSpPr>
          <p:cNvPr id="11" name="Text 9"/>
          <p:cNvSpPr txBox="1"/>
          <p:nvPr/>
        </p:nvSpPr>
        <p:spPr>
          <a:xfrm>
            <a:off x="548640" y="3703320"/>
            <a:ext cx="1965960" cy="512064"/>
          </a:xfrm>
          <a:prstGeom prst="rect">
            <a:avLst/>
          </a:prstGeom>
          <a:noFill/>
          <a:ln/>
        </p:spPr>
        <p:txBody>
          <a:bodyPr wrap="square" lIns="0" tIns="0" rIns="0" bIns="0" rtlCol="0" anchor="ctr"/>
          <a:lstStyle/>
          <a:p>
            <a:pPr algn="ctr" indent="0" marL="0">
              <a:buNone/>
            </a:pPr>
            <a:r>
              <a:rPr lang="en-US" sz="1300" b="1" dirty="0">
                <a:solidFill>
                  <a:srgbClr val="1470BD"/>
                </a:solidFill>
                <a:latin typeface="Calibri" pitchFamily="34" charset="0"/>
                <a:ea typeface="Calibri" pitchFamily="34" charset="-122"/>
                <a:cs typeface="Calibri" pitchFamily="34" charset="-120"/>
              </a:rPr>
              <a:t>2 · Minor</a:t>
            </a:r>
            <a:endParaRPr lang="en-US" sz="1300" dirty="0"/>
          </a:p>
        </p:txBody>
      </p:sp>
      <p:sp>
        <p:nvSpPr>
          <p:cNvPr id="12" name="Text 10"/>
          <p:cNvSpPr txBox="1"/>
          <p:nvPr/>
        </p:nvSpPr>
        <p:spPr>
          <a:xfrm>
            <a:off x="2788920" y="3703320"/>
            <a:ext cx="8778240" cy="512064"/>
          </a:xfrm>
          <a:prstGeom prst="rect">
            <a:avLst/>
          </a:prstGeom>
          <a:noFill/>
          <a:ln/>
        </p:spPr>
        <p:txBody>
          <a:bodyPr wrap="square" lIns="0" tIns="0" rIns="0" bIns="0" rtlCol="0" anchor="ctr"/>
          <a:lstStyle/>
          <a:p>
            <a:pPr indent="0" marL="0">
              <a:buNone/>
            </a:pPr>
            <a:r>
              <a:rPr lang="en-US" sz="1450" dirty="0">
                <a:solidFill>
                  <a:srgbClr val="4A5B6E"/>
                </a:solidFill>
                <a:latin typeface="Calibri" pitchFamily="34" charset="0"/>
                <a:ea typeface="Calibri" pitchFamily="34" charset="-122"/>
                <a:cs typeface="Calibri" pitchFamily="34" charset="-120"/>
              </a:rPr>
              <a:t>Costs time or clarity. Worth doing, not urgent. 7 findings.</a:t>
            </a:r>
            <a:endParaRPr lang="en-US" sz="1450" dirty="0"/>
          </a:p>
        </p:txBody>
      </p:sp>
      <p:sp>
        <p:nvSpPr>
          <p:cNvPr id="13" name="Shape 11"/>
          <p:cNvSpPr/>
          <p:nvPr/>
        </p:nvSpPr>
        <p:spPr>
          <a:xfrm>
            <a:off x="548640" y="4800600"/>
            <a:ext cx="11091672" cy="1005840"/>
          </a:xfrm>
          <a:prstGeom prst="roundRect">
            <a:avLst>
              <a:gd name="adj" fmla="val 727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4" name="Text 12"/>
          <p:cNvSpPr txBox="1"/>
          <p:nvPr/>
        </p:nvSpPr>
        <p:spPr>
          <a:xfrm>
            <a:off x="932688" y="4800600"/>
            <a:ext cx="10323576" cy="1005840"/>
          </a:xfrm>
          <a:prstGeom prst="rect">
            <a:avLst/>
          </a:prstGeom>
          <a:noFill/>
          <a:ln/>
        </p:spPr>
        <p:txBody>
          <a:bodyPr wrap="square" lIns="0" tIns="0" rIns="0" bIns="0" rtlCol="0" anchor="ctr"/>
          <a:lstStyle/>
          <a:p>
            <a:pPr indent="0" marL="0">
              <a:lnSpc>
                <a:spcPts val="2000"/>
              </a:lnSpc>
              <a:buNone/>
            </a:pPr>
            <a:r>
              <a:rPr lang="en-US" sz="1350" dirty="0">
                <a:solidFill>
                  <a:srgbClr val="4A5B6E"/>
                </a:solidFill>
                <a:latin typeface="Calibri" pitchFamily="34" charset="0"/>
                <a:ea typeface="Calibri" pitchFamily="34" charset="-122"/>
                <a:cs typeface="Calibri" pitchFamily="34" charset="-120"/>
              </a:rPr>
              <a:t>Severity weighs how often buyers hit it, how badly it hurts when they do, and whether it gets easier the second time. Ratings are one evaluator's considered judgement, not a measurement.</a:t>
            </a:r>
            <a:endParaRPr lang="en-US" sz="1350" dirty="0"/>
          </a:p>
        </p:txBody>
      </p:sp>
      <p:sp>
        <p:nvSpPr>
          <p:cNvPr id="15" name="Text 13"/>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16" name="Text 14"/>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1280160"/>
          </a:xfrm>
          <a:prstGeom prst="rect">
            <a:avLst/>
          </a:prstGeom>
          <a:noFill/>
          <a:ln/>
        </p:spPr>
        <p:txBody>
          <a:bodyPr wrap="square" lIns="0" tIns="0" rIns="0" bIns="0" rtlCol="0" anchor="ctr"/>
          <a:lstStyle/>
          <a:p>
            <a:pPr indent="0" marL="0">
              <a:buNone/>
            </a:pPr>
            <a:r>
              <a:rPr lang="en-US" sz="8000" b="1" dirty="0">
                <a:solidFill>
                  <a:srgbClr val="16456F"/>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Cart</a:t>
            </a:r>
            <a:endParaRPr lang="en-US" sz="4000" dirty="0"/>
          </a:p>
        </p:txBody>
      </p:sp>
      <p:sp>
        <p:nvSpPr>
          <p:cNvPr id="4" name="Text 2"/>
          <p:cNvSpPr txBox="1"/>
          <p:nvPr/>
        </p:nvSpPr>
        <p:spPr>
          <a:xfrm>
            <a:off x="548640" y="3913632"/>
            <a:ext cx="10058400" cy="320040"/>
          </a:xfrm>
          <a:prstGeom prst="rect">
            <a:avLst/>
          </a:prstGeom>
          <a:noFill/>
          <a:ln/>
        </p:spPr>
        <p:txBody>
          <a:bodyPr wrap="square" lIns="0" tIns="0" rIns="0" bIns="0" rtlCol="0" anchor="ctr"/>
          <a:lstStyle/>
          <a:p>
            <a:pPr indent="0" marL="0">
              <a:buNone/>
            </a:pPr>
            <a:r>
              <a:rPr lang="en-US" sz="1400" dirty="0">
                <a:solidFill>
                  <a:srgbClr val="8FA9C4"/>
                </a:solidFill>
                <a:latin typeface="Calibri" pitchFamily="34" charset="0"/>
                <a:ea typeface="Calibri" pitchFamily="34" charset="-122"/>
                <a:cs typeface="Calibri" pitchFamily="34" charset="-120"/>
              </a:rPr>
              <a:t>/storefront/cart</a:t>
            </a:r>
            <a:endParaRPr lang="en-US" sz="1400" dirty="0"/>
          </a:p>
        </p:txBody>
      </p:sp>
      <p:sp>
        <p:nvSpPr>
          <p:cNvPr id="5" name="Text 3"/>
          <p:cNvSpPr txBox="1"/>
          <p:nvPr/>
        </p:nvSpPr>
        <p:spPr>
          <a:xfrm>
            <a:off x="548640" y="4370832"/>
            <a:ext cx="8778240" cy="640080"/>
          </a:xfrm>
          <a:prstGeom prst="rect">
            <a:avLst/>
          </a:prstGeom>
          <a:noFill/>
          <a:ln/>
        </p:spPr>
        <p:txBody>
          <a:bodyPr wrap="square" lIns="0" tIns="0" rIns="0" bIns="0" rtlCol="0" anchor="ctr"/>
          <a:lstStyle/>
          <a:p>
            <a:pPr indent="0" marL="0">
              <a:lnSpc>
                <a:spcPts val="2300"/>
              </a:lnSpc>
              <a:buNone/>
            </a:pPr>
            <a:r>
              <a:rPr lang="en-US" sz="1600" dirty="0">
                <a:solidFill>
                  <a:srgbClr val="C7DCF0"/>
                </a:solidFill>
                <a:latin typeface="Calibri" pitchFamily="34" charset="0"/>
                <a:ea typeface="Calibri" pitchFamily="34" charset="-122"/>
                <a:cs typeface="Calibri" pitchFamily="34" charset="-120"/>
              </a:rPr>
              <a:t>Eight findings. The basket hides what the order will cost and sells stock it does not have.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C1</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cart sells stock that isn't there</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5 · Error prevention      ·      9 · Recover from errors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An item flagged “Only 1 item in stock” keeps a quantity of 7, and the line still totals BHD 7.000. Nothing reconciles the two.</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Cart — Nadec Vanilla Flavored Milk 125ml.</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line states the conflict, suppresses its total, and offers a one-tap “Reduce to 1” alongside a restock alert.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The shortfall surfaces after payment. Every occurrence becomes a refund, a substitution call, or a cancelled line.</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C1</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C2</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A BHD 10 delivery fee appears one page too late</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Order Summary shows Subtotal BHD 11.000 and Total BHD 11.000. The delivery fee — 91% of the basket value — only appears on the review page.</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Cart summary vs. review page.</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Delivery, coupons and VAT are itemised in the cart. No figure changes between screens.</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Unexpected shipping cost is the most-cited reason buyers abandon a basket. Here it nearly doubles the bill without warning.</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C2</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C3</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cart ignores supplier boundaries</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2 · Match the real world      ·      6 · Recognition over recall</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flat product grid, though minimum order, delivery fee, coupons and dispatch all belong to a supplier. The review page then splits the order anyway.</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Five items, no supplier boundary shown.</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Items sit in supplier groups carrying that supplier's terms, subtotal, delivery and readiness to order.</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cannot predict what they will pay or when it arrives, so they call the team to find out.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C3</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C4</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same warning, repeated four times</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8 · Aesthetic and minimalist design</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“Minimum order for this product supplier: BHD 10.000. Add BHD 6.000 more or other items to proceed.” is repeated verbatim on every card in the group.</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Four identical blocks in one viewport.</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One progress bar per supplier: amount reached, target, the exact gap, and a link that closes it.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Repetition trains buyers to ignore the message, so the minimum blocks them at checkout instead of guiding them to a bigger basket.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C4</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C5</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price per piece</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6 · Recognition over recall      ·      7 · Flexibility and efficiency</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“18pcs” sits beside “BHD 1.000” with no per-piece figure. Comparing pack sizes is manual arithmetic, on every line.</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Nadec Long Life Low Fat UHT Milk 200ml 18pcs.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Every line shows price per case, price per piece, and the total piece count.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Cost per unit is how trade buyers decide. Making them compute it sends them to a competitor's catalogue to compare.</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C5</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C6</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One short supplier stalls the whole basket</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3 · User control and freedom</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supplier under its minimum blocks everything. The only routes out are buying more or deleting items.</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Cart total falls from BHD 11.000 to BHD 4.000 as items are removed to get under way.</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Suppliers that are ready check out now. The rest stays in the cart, named beneath the button.</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A blocked basket defers all of the revenue instead of banking the part that was already ready to ship.</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C6</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C7</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Partial selection changes the total silently</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Deselecting items changes the header total silently. Nothing states which lines the order actually covers.</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“Select All” and per-card checkboxes.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summary counts the lines it covers, and each supplier group reads “Ready to order” or “Excluded from this order”.</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place an order missing lines, then place a second one — doubling the handling for a single restock.</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C7</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C8</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way to reorder</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7 · Flexibility and efficiency</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There is no reorder, no saved list and no SKU entry anywhere in the flow. Every order starts from browsing.</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Observed across the full walkthrough.</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Quick-add by SKU, “Save as list”, and a recurring-basket prompt on the confirmation screen.</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B2B demand is repetitive. Charging a full browse for every repeat order is where regular buyers quietly churn.</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Cart  ·  finding C8</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1280160"/>
          </a:xfrm>
          <a:prstGeom prst="rect">
            <a:avLst/>
          </a:prstGeom>
          <a:noFill/>
          <a:ln/>
        </p:spPr>
        <p:txBody>
          <a:bodyPr wrap="square" lIns="0" tIns="0" rIns="0" bIns="0" rtlCol="0" anchor="ctr"/>
          <a:lstStyle/>
          <a:p>
            <a:pPr indent="0" marL="0">
              <a:buNone/>
            </a:pPr>
            <a:r>
              <a:rPr lang="en-US" sz="8000" b="1" dirty="0">
                <a:solidFill>
                  <a:srgbClr val="16456F"/>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Review</a:t>
            </a:r>
            <a:endParaRPr lang="en-US" sz="4000" dirty="0"/>
          </a:p>
        </p:txBody>
      </p:sp>
      <p:sp>
        <p:nvSpPr>
          <p:cNvPr id="4" name="Text 2"/>
          <p:cNvSpPr txBox="1"/>
          <p:nvPr/>
        </p:nvSpPr>
        <p:spPr>
          <a:xfrm>
            <a:off x="548640" y="3913632"/>
            <a:ext cx="10058400" cy="320040"/>
          </a:xfrm>
          <a:prstGeom prst="rect">
            <a:avLst/>
          </a:prstGeom>
          <a:noFill/>
          <a:ln/>
        </p:spPr>
        <p:txBody>
          <a:bodyPr wrap="square" lIns="0" tIns="0" rIns="0" bIns="0" rtlCol="0" anchor="ctr"/>
          <a:lstStyle/>
          <a:p>
            <a:pPr indent="0" marL="0">
              <a:buNone/>
            </a:pPr>
            <a:r>
              <a:rPr lang="en-US" sz="1400" dirty="0">
                <a:solidFill>
                  <a:srgbClr val="8FA9C4"/>
                </a:solidFill>
                <a:latin typeface="Calibri" pitchFamily="34" charset="0"/>
                <a:ea typeface="Calibri" pitchFamily="34" charset="-122"/>
                <a:cs typeface="Calibri" pitchFamily="34" charset="-120"/>
              </a:rPr>
              <a:t>/storefront/review</a:t>
            </a:r>
            <a:endParaRPr lang="en-US" sz="1400" dirty="0"/>
          </a:p>
        </p:txBody>
      </p:sp>
      <p:sp>
        <p:nvSpPr>
          <p:cNvPr id="5" name="Text 3"/>
          <p:cNvSpPr txBox="1"/>
          <p:nvPr/>
        </p:nvSpPr>
        <p:spPr>
          <a:xfrm>
            <a:off x="548640" y="4370832"/>
            <a:ext cx="8778240" cy="640080"/>
          </a:xfrm>
          <a:prstGeom prst="rect">
            <a:avLst/>
          </a:prstGeom>
          <a:noFill/>
          <a:ln/>
        </p:spPr>
        <p:txBody>
          <a:bodyPr wrap="square" lIns="0" tIns="0" rIns="0" bIns="0" rtlCol="0" anchor="ctr"/>
          <a:lstStyle/>
          <a:p>
            <a:pPr indent="0" marL="0">
              <a:lnSpc>
                <a:spcPts val="2300"/>
              </a:lnSpc>
              <a:buNone/>
            </a:pPr>
            <a:r>
              <a:rPr lang="en-US" sz="1600" dirty="0">
                <a:solidFill>
                  <a:srgbClr val="C7DCF0"/>
                </a:solidFill>
                <a:latin typeface="Calibri" pitchFamily="34" charset="0"/>
                <a:ea typeface="Calibri" pitchFamily="34" charset="-122"/>
                <a:cs typeface="Calibri" pitchFamily="34" charset="-120"/>
              </a:rPr>
              <a:t>Three findings. The totals are stated in language the buyer cannot verify.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R1</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“Seller Total” is not the total</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4 · Consistency and standards      ·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“Seller Total BHD 10.000” appears after three discounts with no order total beside it. It is unclear whether this is what will be charged.</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Subtotal BHD 11.000, delivery BHD 10.000, three stacked discounts, then “Seller Total”.</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One summary with one hierarchy — items, delivery, discounts, VAT, Total — identical on all three screens.</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The buyer cannot verify the bill before paying, so their finance team queries it afterwards.</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Review  ·  finding R1</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R2</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Discounts labelled with internal codes</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2 · Match the real world</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Discounts appear as “Mahmmod_Seller_code”, “jpre” and “10Dinar” — raw internal identifiers that carry no meaning for the buyer.</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Review page, discount rows.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Each discount names its source and its value: “Coupon ALMANAR2 — supplier coupon, −BHD 2.000”.</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A discount the buyer cannot recognise earns no goodwill. The margin is given away invisibly.</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Review  ·  finding R2</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R3</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coupon field comes after the decision</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7 · Flexibility and efficiency</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Coupon entry is at the very bottom of the page, beneath the totals it would change.</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Review page, below “Seller Total”.</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Coupon entry sits at the top of the summary, above the figures it changes.</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leave the page to hunt for a code, or abandon believing none applies to them.</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Review  ·  finding R3</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1280160"/>
          </a:xfrm>
          <a:prstGeom prst="rect">
            <a:avLst/>
          </a:prstGeom>
          <a:noFill/>
          <a:ln/>
        </p:spPr>
        <p:txBody>
          <a:bodyPr wrap="square" lIns="0" tIns="0" rIns="0" bIns="0" rtlCol="0" anchor="ctr"/>
          <a:lstStyle/>
          <a:p>
            <a:pPr indent="0" marL="0">
              <a:buNone/>
            </a:pPr>
            <a:r>
              <a:rPr lang="en-US" sz="8000" b="1" dirty="0">
                <a:solidFill>
                  <a:srgbClr val="16456F"/>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Address &amp; documents</a:t>
            </a:r>
            <a:endParaRPr lang="en-US" sz="4000" dirty="0"/>
          </a:p>
        </p:txBody>
      </p:sp>
      <p:sp>
        <p:nvSpPr>
          <p:cNvPr id="4" name="Text 2"/>
          <p:cNvSpPr txBox="1"/>
          <p:nvPr/>
        </p:nvSpPr>
        <p:spPr>
          <a:xfrm>
            <a:off x="548640" y="3913632"/>
            <a:ext cx="10058400" cy="320040"/>
          </a:xfrm>
          <a:prstGeom prst="rect">
            <a:avLst/>
          </a:prstGeom>
          <a:noFill/>
          <a:ln/>
        </p:spPr>
        <p:txBody>
          <a:bodyPr wrap="square" lIns="0" tIns="0" rIns="0" bIns="0" rtlCol="0" anchor="ctr"/>
          <a:lstStyle/>
          <a:p>
            <a:pPr indent="0" marL="0">
              <a:buNone/>
            </a:pPr>
            <a:r>
              <a:rPr lang="en-US" sz="1400" dirty="0">
                <a:solidFill>
                  <a:srgbClr val="8FA9C4"/>
                </a:solidFill>
                <a:latin typeface="Calibri" pitchFamily="34" charset="0"/>
                <a:ea typeface="Calibri" pitchFamily="34" charset="-122"/>
                <a:cs typeface="Calibri" pitchFamily="34" charset="-120"/>
              </a:rPr>
              <a:t>/storefront/address-confirmation</a:t>
            </a:r>
            <a:endParaRPr lang="en-US" sz="1400" dirty="0"/>
          </a:p>
        </p:txBody>
      </p:sp>
      <p:sp>
        <p:nvSpPr>
          <p:cNvPr id="5" name="Text 3"/>
          <p:cNvSpPr txBox="1"/>
          <p:nvPr/>
        </p:nvSpPr>
        <p:spPr>
          <a:xfrm>
            <a:off x="548640" y="4370832"/>
            <a:ext cx="8778240" cy="640080"/>
          </a:xfrm>
          <a:prstGeom prst="rect">
            <a:avLst/>
          </a:prstGeom>
          <a:noFill/>
          <a:ln/>
        </p:spPr>
        <p:txBody>
          <a:bodyPr wrap="square" lIns="0" tIns="0" rIns="0" bIns="0" rtlCol="0" anchor="ctr"/>
          <a:lstStyle/>
          <a:p>
            <a:pPr indent="0" marL="0">
              <a:lnSpc>
                <a:spcPts val="2300"/>
              </a:lnSpc>
              <a:buNone/>
            </a:pPr>
            <a:r>
              <a:rPr lang="en-US" sz="1600" dirty="0">
                <a:solidFill>
                  <a:srgbClr val="C7DCF0"/>
                </a:solidFill>
                <a:latin typeface="Calibri" pitchFamily="34" charset="0"/>
                <a:ea typeface="Calibri" pitchFamily="34" charset="-122"/>
                <a:cs typeface="Calibri" pitchFamily="34" charset="-120"/>
              </a:rPr>
              <a:t>Ten findings — the densest section. Paperwork stands between the buyer and the order.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A1</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order summary at the moment of commitment</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page carries no order summary and no total. The buyer presses “Place Order” with nothing on screen saying what is being bought, or for how much.</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Full page: verification header, branch details, address, documents, button.</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sticky summary with the full breakdown, present on every checkout screen and beside the button itself.</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This is the riskiest moment in the flow. Buyers hesitate, navigate back to re-check, and lose the basket doing it.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A1</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A2</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Trade documents are demanded on every order</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7 · Flexibility and efficiency      ·      3 · User control and freedom</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CR number, commercial licence and personal ID are uploaded inside the order — on every purchase, including routine repeat ones.</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Business Documents section, above “Place Order”.</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Verification moves to the account. Checkout shows a verified chip with CR, VAT and expiry. Unverified buyers still order — dispatch waits, not the order.</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This taxes precisely the customers who buy most often. A document wall between a repeat buyer and a routine restock is the most expensive friction in the product.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A2</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A3</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uploaded ID takes over the page</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8 · Aesthetic and minimalist design      ·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uploaded ID renders full-bleed at its natural size, pushing “Place Order” thousands of pixels below the fold. A larger file pushes it further still.</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1 — the image fills the viewport and continues past it.</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Attachments render as fixed-height rows: thumbnail, name, size, preview, remove. User content never sets page height.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The buy button becomes unreachable without a long scroll past the buyer's own ID photo.</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A3</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A4</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real progress indicator</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      ·      4 · Consistency and standards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panel labelled “Step / Address &amp; Documents” sits above the fold; a separate “Step 2” chip sits further down. Neither says how many steps exist.</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Two competing step markers on one page.</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One indicator with three counted steps: Cart → Delivery &amp; purchase details → Payment.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who cannot see the end of a process assume it is longer than it is, and stop before reaching it.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A4</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A5</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Settled values are styled as warnings</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4 · Consistency and standards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Field values are set in orange on white — Bahrain, Manama, 18, 11111 — at a measured contrast of 2.03:1. Orange elsewhere in the interface means “warning”.</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Screenshots 1 and 2, Delivery Address.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Values in near-black at 17.2:1. Amber is reserved for genuine attention states; the palette is audited to 4.5:1 minimum.</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Below the WCAG AA threshold for body text — an accessibility and procurement-compliance exposure, and buyers click values that are not links.</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A5</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A6</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“Place Order” carries no amount</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commit button states no amount, and no amount is visible anywhere else on the page.</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3, Business Documents footer.</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button reads “Place order · BHD 11.000”.</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The cheapest reassurance available in any checkout, currently unspent.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A6</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A7</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delivery date or window</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      ·      2 · Match the real world</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No delivery date, time window or shipment count is offered or shown, even though the order will split by supplier.</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Address confirmation, full page.</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Day and time-slot pickers per shipment, with capacity shown and the shipment count stated up front.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Businesses staff their goods-in bay. An unscheduled delivery fails, and a failed delivery is paid for twice.</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A7</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A8</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None of the fields procurement runs on</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2 · Match the real world</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No purchase order number, no cost centre, no invoice recipient — the fields a buyer's finance team reconciles against.</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Branch Details and Delivery Address sections.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Optional PO number, cost centre and invoice email, stated as printed on the tax invoice.</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Without them the buyer re-keys every order into their own system. That is the fastest way to lose a corporate account.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A8</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A9</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An empty VAT panel</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8 · Aesthetic and minimalist design      ·      10 · Help and documentation</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“Have VAT certificate” is an unchecked box beside a large empty panel — roughly a third of the section is blank, with no explanation of what checking it does.</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1, Business Documents.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VAT status is part of the account verification line, stated as a value rather than an empty container.</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skip it, and VAT-reclaim data never reaches the invoice that needs it.</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A9</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A10</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A map pin that confirms nothing</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pin is required but never resolved back to anything. There is no confirmation of the address it corresponds to, and no way to tell a correct pin from a default one.</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Select Address Location, address confirmation.</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pin shows its saved coordinates, is labelled as what drivers actually use, and is adjustable in place.</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Wrong pins mean wrong drops, and that cost lands on the delivery team rather than the buyer.</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Address &amp; documents  ·  finding A10</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1280160"/>
          </a:xfrm>
          <a:prstGeom prst="rect">
            <a:avLst/>
          </a:prstGeom>
          <a:noFill/>
          <a:ln/>
        </p:spPr>
        <p:txBody>
          <a:bodyPr wrap="square" lIns="0" tIns="0" rIns="0" bIns="0" rtlCol="0" anchor="ctr"/>
          <a:lstStyle/>
          <a:p>
            <a:pPr indent="0" marL="0">
              <a:buNone/>
            </a:pPr>
            <a:r>
              <a:rPr lang="en-US" sz="8000" b="1" dirty="0">
                <a:solidFill>
                  <a:srgbClr val="16456F"/>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548640" y="3154680"/>
            <a:ext cx="100584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Order placed</a:t>
            </a:r>
            <a:endParaRPr lang="en-US" sz="4000" dirty="0"/>
          </a:p>
        </p:txBody>
      </p:sp>
      <p:sp>
        <p:nvSpPr>
          <p:cNvPr id="4" name="Text 2"/>
          <p:cNvSpPr txBox="1"/>
          <p:nvPr/>
        </p:nvSpPr>
        <p:spPr>
          <a:xfrm>
            <a:off x="548640" y="3913632"/>
            <a:ext cx="10058400" cy="320040"/>
          </a:xfrm>
          <a:prstGeom prst="rect">
            <a:avLst/>
          </a:prstGeom>
          <a:noFill/>
          <a:ln/>
        </p:spPr>
        <p:txBody>
          <a:bodyPr wrap="square" lIns="0" tIns="0" rIns="0" bIns="0" rtlCol="0" anchor="ctr"/>
          <a:lstStyle/>
          <a:p>
            <a:pPr indent="0" marL="0">
              <a:buNone/>
            </a:pPr>
            <a:r>
              <a:rPr lang="en-US" sz="1400" dirty="0">
                <a:solidFill>
                  <a:srgbClr val="8FA9C4"/>
                </a:solidFill>
                <a:latin typeface="Calibri" pitchFamily="34" charset="0"/>
                <a:ea typeface="Calibri" pitchFamily="34" charset="-122"/>
                <a:cs typeface="Calibri" pitchFamily="34" charset="-120"/>
              </a:rPr>
              <a:t>confirmation &amp; payment</a:t>
            </a:r>
            <a:endParaRPr lang="en-US" sz="1400" dirty="0"/>
          </a:p>
        </p:txBody>
      </p:sp>
      <p:sp>
        <p:nvSpPr>
          <p:cNvPr id="5" name="Text 3"/>
          <p:cNvSpPr txBox="1"/>
          <p:nvPr/>
        </p:nvSpPr>
        <p:spPr>
          <a:xfrm>
            <a:off x="548640" y="4370832"/>
            <a:ext cx="8778240" cy="640080"/>
          </a:xfrm>
          <a:prstGeom prst="rect">
            <a:avLst/>
          </a:prstGeom>
          <a:noFill/>
          <a:ln/>
        </p:spPr>
        <p:txBody>
          <a:bodyPr wrap="square" lIns="0" tIns="0" rIns="0" bIns="0" rtlCol="0" anchor="ctr"/>
          <a:lstStyle/>
          <a:p>
            <a:pPr indent="0" marL="0">
              <a:lnSpc>
                <a:spcPts val="2300"/>
              </a:lnSpc>
              <a:buNone/>
            </a:pPr>
            <a:r>
              <a:rPr lang="en-US" sz="1600" dirty="0">
                <a:solidFill>
                  <a:srgbClr val="C7DCF0"/>
                </a:solidFill>
                <a:latin typeface="Calibri" pitchFamily="34" charset="0"/>
                <a:ea typeface="Calibri" pitchFamily="34" charset="-122"/>
                <a:cs typeface="Calibri" pitchFamily="34" charset="-120"/>
              </a:rPr>
              <a:t>Five findings. The order is declared complete while the money is still outstanding.</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Payment has to be finished on another page</a:t>
            </a:r>
            <a:endParaRPr lang="en-US" sz="2200" dirty="0"/>
          </a:p>
        </p:txBody>
      </p:sp>
      <p:sp>
        <p:nvSpPr>
          <p:cNvPr id="5" name="Shape 3"/>
          <p:cNvSpPr/>
          <p:nvPr/>
        </p:nvSpPr>
        <p:spPr>
          <a:xfrm>
            <a:off x="9811512" y="438912"/>
            <a:ext cx="1828800" cy="420624"/>
          </a:xfrm>
          <a:prstGeom prst="roundRect">
            <a:avLst>
              <a:gd name="adj" fmla="val 17391"/>
            </a:avLst>
          </a:prstGeom>
          <a:solidFill>
            <a:srgbClr val="FAEAE9"/>
          </a:solidFill>
          <a:ln w="12700">
            <a:solidFill>
              <a:srgbClr val="FAEAE9"/>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4 · Catastrophic</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7 · Flexibility and efficiency      ·      10 · Help and documentation</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“Click on Track Your Order to upload the transaction receipt” — the page that creates the payment task sends the buyer elsewhere to complete it.</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4, beneath the bank details.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receipt dropzone sits directly under the bank details, with “I'll pay later” as the explicit alternative.</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Every hop between a task and its completion loses people — and this hop sits between the order and the money.</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Order placed  ·  finding P1</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P2</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“Placed successfully” while still unpaid</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      ·      4 · Consistency and standards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“Your order has been placed successfully” appears while payment is outstanding — two contradictory states on one screen.</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4, page header vs. payment panel.</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“Order received”, with the outstanding payment as the most prominent card and the current stage marked on a status timeline.</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Buyers believe they are done and never transfer. The order ages in the queue until somebody chases it by hand.</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Order placed  ·  finding P2</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P3</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payment deadline</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No deadline, no reservation window, and no stated consequence of not transferring the amount.</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4, HIGHBASE Payment panel.</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named expiry with a live countdown, and the stock-reservation rule stated in the first sentence.</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A manual transfer with no deadline becomes “later”. Stock sits reserved against orders that will never pay.</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Order placed  ·  finding P3</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P4</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The page ends at the bank details</a:t>
            </a:r>
            <a:endParaRPr lang="en-US" sz="2200" dirty="0"/>
          </a:p>
        </p:txBody>
      </p:sp>
      <p:sp>
        <p:nvSpPr>
          <p:cNvPr id="5" name="Shape 3"/>
          <p:cNvSpPr/>
          <p:nvPr/>
        </p:nvSpPr>
        <p:spPr>
          <a:xfrm>
            <a:off x="9811512" y="438912"/>
            <a:ext cx="1828800" cy="420624"/>
          </a:xfrm>
          <a:prstGeom prst="roundRect">
            <a:avLst>
              <a:gd name="adj" fmla="val 17391"/>
            </a:avLst>
          </a:prstGeom>
          <a:solidFill>
            <a:srgbClr val="FDF3E3"/>
          </a:solidFill>
          <a:ln w="12700">
            <a:solidFill>
              <a:srgbClr val="FDF3E3"/>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3 · Major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 · Visibility of system status      ·      10 · Help and documentation</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No delivery date, no next steps, and no route to the supplier. The confirmation stops once the IBAN is on screen.</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4, full page.</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A dated timeline through to invoicing, plus track, proforma download and message-supplier actions.</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“When does my stock arrive?” becomes a support ticket on essentially every order.</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Order placed  ·  finding P4</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548640" y="438912"/>
            <a:ext cx="749808" cy="420624"/>
          </a:xfrm>
          <a:prstGeom prst="roundRect">
            <a:avLst>
              <a:gd name="adj" fmla="val 17391"/>
            </a:avLst>
          </a:prstGeom>
          <a:solidFill>
            <a:srgbClr val="0A2540"/>
          </a:solidFill>
          <a:ln w="12700">
            <a:solidFill>
              <a:srgbClr val="0A2540"/>
            </a:solidFill>
            <a:prstDash val="solid"/>
          </a:ln>
        </p:spPr>
      </p:sp>
      <p:sp>
        <p:nvSpPr>
          <p:cNvPr id="3" name="Text 1"/>
          <p:cNvSpPr txBox="1"/>
          <p:nvPr/>
        </p:nvSpPr>
        <p:spPr>
          <a:xfrm>
            <a:off x="548640" y="43891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P5</a:t>
            </a:r>
            <a:endParaRPr lang="en-US" sz="1600" dirty="0"/>
          </a:p>
        </p:txBody>
      </p:sp>
      <p:sp>
        <p:nvSpPr>
          <p:cNvPr id="4" name="Text 2"/>
          <p:cNvSpPr txBox="1"/>
          <p:nvPr/>
        </p:nvSpPr>
        <p:spPr>
          <a:xfrm>
            <a:off x="1444752" y="365760"/>
            <a:ext cx="8183880" cy="530352"/>
          </a:xfrm>
          <a:prstGeom prst="rect">
            <a:avLst/>
          </a:prstGeom>
          <a:noFill/>
          <a:ln/>
        </p:spPr>
        <p:txBody>
          <a:bodyPr wrap="square" lIns="0" tIns="0" rIns="0" bIns="0" rtlCol="0" anchor="ctr"/>
          <a:lstStyle/>
          <a:p>
            <a:pPr indent="0" marL="0">
              <a:buNone/>
            </a:pPr>
            <a:r>
              <a:rPr lang="en-US" sz="2200" b="1" dirty="0">
                <a:solidFill>
                  <a:srgbClr val="0F1C2B"/>
                </a:solidFill>
                <a:latin typeface="Cambria" pitchFamily="34" charset="0"/>
                <a:ea typeface="Cambria" pitchFamily="34" charset="-122"/>
                <a:cs typeface="Cambria" pitchFamily="34" charset="-120"/>
              </a:rPr>
              <a:t>No transfer reference given</a:t>
            </a:r>
            <a:endParaRPr lang="en-US" sz="2200" dirty="0"/>
          </a:p>
        </p:txBody>
      </p:sp>
      <p:sp>
        <p:nvSpPr>
          <p:cNvPr id="5" name="Shape 3"/>
          <p:cNvSpPr/>
          <p:nvPr/>
        </p:nvSpPr>
        <p:spPr>
          <a:xfrm>
            <a:off x="9811512" y="438912"/>
            <a:ext cx="1828800" cy="420624"/>
          </a:xfrm>
          <a:prstGeom prst="roundRect">
            <a:avLst>
              <a:gd name="adj" fmla="val 17391"/>
            </a:avLst>
          </a:prstGeom>
          <a:solidFill>
            <a:srgbClr val="E9F2FB"/>
          </a:solidFill>
          <a:ln w="12700">
            <a:solidFill>
              <a:srgbClr val="E9F2FB"/>
            </a:solidFill>
            <a:prstDash val="solid"/>
          </a:ln>
        </p:spPr>
      </p:sp>
      <p:sp>
        <p:nvSpPr>
          <p:cNvPr id="6" name="Text 4"/>
          <p:cNvSpPr txBox="1"/>
          <p:nvPr/>
        </p:nvSpPr>
        <p:spPr>
          <a:xfrm>
            <a:off x="9811512" y="438912"/>
            <a:ext cx="1828800" cy="420624"/>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2 · Minor</a:t>
            </a:r>
            <a:endParaRPr lang="en-US" sz="1200" dirty="0"/>
          </a:p>
        </p:txBody>
      </p:sp>
      <p:sp>
        <p:nvSpPr>
          <p:cNvPr id="7" name="Text 5"/>
          <p:cNvSpPr txBox="1"/>
          <p:nvPr/>
        </p:nvSpPr>
        <p:spPr>
          <a:xfrm>
            <a:off x="1444752" y="914400"/>
            <a:ext cx="8229600" cy="274320"/>
          </a:xfrm>
          <a:prstGeom prst="rect">
            <a:avLst/>
          </a:prstGeom>
          <a:noFill/>
          <a:ln/>
        </p:spPr>
        <p:txBody>
          <a:bodyPr wrap="square" lIns="0" tIns="0" rIns="0" bIns="0" rtlCol="0" anchor="ctr"/>
          <a:lstStyle/>
          <a:p>
            <a:pPr indent="0" marL="0">
              <a:buNone/>
            </a:pPr>
            <a:r>
              <a:rPr lang="en-US" sz="1100" dirty="0">
                <a:solidFill>
                  <a:srgbClr val="7C8DA0"/>
                </a:solidFill>
                <a:latin typeface="Calibri" pitchFamily="34" charset="0"/>
                <a:ea typeface="Calibri" pitchFamily="34" charset="-122"/>
                <a:cs typeface="Calibri" pitchFamily="34" charset="-120"/>
              </a:rPr>
              <a:t>Heuristic breached:  10 · Help and documentation</a:t>
            </a:r>
            <a:endParaRPr lang="en-US" sz="1100" dirty="0"/>
          </a:p>
        </p:txBody>
      </p:sp>
      <p:sp>
        <p:nvSpPr>
          <p:cNvPr id="8" name="Shape 6"/>
          <p:cNvSpPr/>
          <p:nvPr/>
        </p:nvSpPr>
        <p:spPr>
          <a:xfrm>
            <a:off x="548640" y="1371600"/>
            <a:ext cx="5440680" cy="3246120"/>
          </a:xfrm>
          <a:prstGeom prst="roundRect">
            <a:avLst>
              <a:gd name="adj" fmla="val 2254"/>
            </a:avLst>
          </a:prstGeom>
          <a:solidFill>
            <a:srgbClr val="FDF3E3"/>
          </a:solidFill>
          <a:ln w="12700">
            <a:solidFill>
              <a:srgbClr val="FDF3E3"/>
            </a:solidFill>
            <a:prstDash val="solid"/>
          </a:ln>
          <a:effectLst>
            <a:outerShdw sx="100000" sy="100000" kx="0" ky="0" algn="bl" rotWithShape="0" blurRad="127000" dist="12700" dir="5400000">
              <a:srgbClr val="0A2540">
                <a:alpha val="9000"/>
              </a:srgbClr>
            </a:outerShdw>
          </a:effectLst>
        </p:spPr>
      </p:sp>
      <p:sp>
        <p:nvSpPr>
          <p:cNvPr id="9" name="Shape 7"/>
          <p:cNvSpPr/>
          <p:nvPr/>
        </p:nvSpPr>
        <p:spPr>
          <a:xfrm>
            <a:off x="841248" y="1664208"/>
            <a:ext cx="137160" cy="137160"/>
          </a:xfrm>
          <a:prstGeom prst="ellipse">
            <a:avLst/>
          </a:prstGeom>
          <a:solidFill>
            <a:srgbClr val="9C5C00"/>
          </a:solidFill>
          <a:ln w="12700">
            <a:solidFill>
              <a:srgbClr val="9C5C00"/>
            </a:solidFill>
            <a:prstDash val="solid"/>
          </a:ln>
        </p:spPr>
      </p:sp>
      <p:sp>
        <p:nvSpPr>
          <p:cNvPr id="10" name="Text 8"/>
          <p:cNvSpPr txBox="1"/>
          <p:nvPr/>
        </p:nvSpPr>
        <p:spPr>
          <a:xfrm>
            <a:off x="1097280" y="1572768"/>
            <a:ext cx="4617720" cy="310896"/>
          </a:xfrm>
          <a:prstGeom prst="rect">
            <a:avLst/>
          </a:prstGeom>
          <a:noFill/>
          <a:ln/>
        </p:spPr>
        <p:txBody>
          <a:bodyPr wrap="square" lIns="0" tIns="0" rIns="0" bIns="0" rtlCol="0" anchor="ctr"/>
          <a:lstStyle/>
          <a:p>
            <a:pPr indent="0" marL="0">
              <a:buNone/>
            </a:pPr>
            <a:r>
              <a:rPr lang="en-US" sz="1100" b="1" spc="140" kern="0" dirty="0">
                <a:solidFill>
                  <a:srgbClr val="9C5C00"/>
                </a:solidFill>
                <a:latin typeface="Calibri" pitchFamily="34" charset="0"/>
                <a:ea typeface="Calibri" pitchFamily="34" charset="-122"/>
                <a:cs typeface="Calibri" pitchFamily="34" charset="-120"/>
              </a:rPr>
              <a:t>WHAT HAPPENS TODAY</a:t>
            </a:r>
            <a:endParaRPr lang="en-US" sz="1100" dirty="0"/>
          </a:p>
        </p:txBody>
      </p:sp>
      <p:sp>
        <p:nvSpPr>
          <p:cNvPr id="11" name="Text 9"/>
          <p:cNvSpPr txBox="1"/>
          <p:nvPr/>
        </p:nvSpPr>
        <p:spPr>
          <a:xfrm>
            <a:off x="841248"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transfer reference is never stated, so a buyer paying from their banking app has no instruction on how the payment will be matched to the order.</a:t>
            </a:r>
            <a:endParaRPr lang="en-US" sz="1400" dirty="0"/>
          </a:p>
        </p:txBody>
      </p:sp>
      <p:sp>
        <p:nvSpPr>
          <p:cNvPr id="12" name="Text 10"/>
          <p:cNvSpPr txBox="1"/>
          <p:nvPr/>
        </p:nvSpPr>
        <p:spPr>
          <a:xfrm>
            <a:off x="841248" y="3803904"/>
            <a:ext cx="4855464" cy="621792"/>
          </a:xfrm>
          <a:prstGeom prst="rect">
            <a:avLst/>
          </a:prstGeom>
          <a:noFill/>
          <a:ln/>
        </p:spPr>
        <p:txBody>
          <a:bodyPr wrap="square" lIns="0" tIns="0" rIns="0" bIns="0" rtlCol="0" anchor="b"/>
          <a:lstStyle/>
          <a:p>
            <a:pPr indent="0" marL="0">
              <a:lnSpc>
                <a:spcPts val="1500"/>
              </a:lnSpc>
              <a:buNone/>
            </a:pPr>
            <a:r>
              <a:rPr lang="en-US" sz="1050" i="1" dirty="0">
                <a:solidFill>
                  <a:srgbClr val="9C5C00"/>
                </a:solidFill>
                <a:latin typeface="Calibri" pitchFamily="34" charset="0"/>
                <a:ea typeface="Calibri" pitchFamily="34" charset="-122"/>
                <a:cs typeface="Calibri" pitchFamily="34" charset="-120"/>
              </a:rPr>
              <a:t>Screenshot 4, Bank Details.</a:t>
            </a:r>
            <a:endParaRPr lang="en-US" sz="1050" dirty="0"/>
          </a:p>
        </p:txBody>
      </p:sp>
      <p:sp>
        <p:nvSpPr>
          <p:cNvPr id="13" name="Shape 11"/>
          <p:cNvSpPr/>
          <p:nvPr/>
        </p:nvSpPr>
        <p:spPr>
          <a:xfrm>
            <a:off x="6199632" y="1371600"/>
            <a:ext cx="5440680" cy="3246120"/>
          </a:xfrm>
          <a:prstGeom prst="roundRect">
            <a:avLst>
              <a:gd name="adj" fmla="val 2254"/>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14" name="Shape 12"/>
          <p:cNvSpPr/>
          <p:nvPr/>
        </p:nvSpPr>
        <p:spPr>
          <a:xfrm>
            <a:off x="6492240" y="1664208"/>
            <a:ext cx="137160" cy="137160"/>
          </a:xfrm>
          <a:prstGeom prst="ellipse">
            <a:avLst/>
          </a:prstGeom>
          <a:solidFill>
            <a:srgbClr val="15693D"/>
          </a:solidFill>
          <a:ln w="12700">
            <a:solidFill>
              <a:srgbClr val="15693D"/>
            </a:solidFill>
            <a:prstDash val="solid"/>
          </a:ln>
        </p:spPr>
      </p:sp>
      <p:sp>
        <p:nvSpPr>
          <p:cNvPr id="15" name="Text 13"/>
          <p:cNvSpPr txBox="1"/>
          <p:nvPr/>
        </p:nvSpPr>
        <p:spPr>
          <a:xfrm>
            <a:off x="6748272" y="1572768"/>
            <a:ext cx="4617720" cy="310896"/>
          </a:xfrm>
          <a:prstGeom prst="rect">
            <a:avLst/>
          </a:prstGeom>
          <a:noFill/>
          <a:ln/>
        </p:spPr>
        <p:txBody>
          <a:bodyPr wrap="square" lIns="0" tIns="0" rIns="0" bIns="0" rtlCol="0" anchor="ctr"/>
          <a:lstStyle/>
          <a:p>
            <a:pPr indent="0" marL="0">
              <a:buNone/>
            </a:pPr>
            <a:r>
              <a:rPr lang="en-US" sz="1100" b="1" spc="140" kern="0" dirty="0">
                <a:solidFill>
                  <a:srgbClr val="15693D"/>
                </a:solidFill>
                <a:latin typeface="Calibri" pitchFamily="34" charset="0"/>
                <a:ea typeface="Calibri" pitchFamily="34" charset="-122"/>
                <a:cs typeface="Calibri" pitchFamily="34" charset="-120"/>
              </a:rPr>
              <a:t>WHAT WE CHANGED</a:t>
            </a:r>
            <a:endParaRPr lang="en-US" sz="1100" dirty="0"/>
          </a:p>
        </p:txBody>
      </p:sp>
      <p:sp>
        <p:nvSpPr>
          <p:cNvPr id="16" name="Text 14"/>
          <p:cNvSpPr txBox="1"/>
          <p:nvPr/>
        </p:nvSpPr>
        <p:spPr>
          <a:xfrm>
            <a:off x="6492240" y="1993392"/>
            <a:ext cx="4855464" cy="1691640"/>
          </a:xfrm>
          <a:prstGeom prst="rect">
            <a:avLst/>
          </a:prstGeom>
          <a:noFill/>
          <a:ln/>
        </p:spPr>
        <p:txBody>
          <a:bodyPr wrap="square" lIns="0" tIns="0" rIns="0" bIns="0" rtlCol="0" anchor="t"/>
          <a:lstStyle/>
          <a:p>
            <a:pPr indent="0" marL="0">
              <a:lnSpc>
                <a:spcPts val="2000"/>
              </a:lnSpc>
              <a:buNone/>
            </a:pPr>
            <a:r>
              <a:rPr lang="en-US" sz="1400" dirty="0">
                <a:solidFill>
                  <a:srgbClr val="0F1C2B"/>
                </a:solidFill>
                <a:latin typeface="Calibri" pitchFamily="34" charset="0"/>
                <a:ea typeface="Calibri" pitchFamily="34" charset="-122"/>
                <a:cs typeface="Calibri" pitchFamily="34" charset="-120"/>
              </a:rPr>
              <a:t>The reference is a copyable field of its own, with the matching rule stated directly beneath it.</a:t>
            </a:r>
            <a:endParaRPr lang="en-US" sz="1400" dirty="0"/>
          </a:p>
        </p:txBody>
      </p:sp>
      <p:sp>
        <p:nvSpPr>
          <p:cNvPr id="17" name="Text 15"/>
          <p:cNvSpPr txBox="1"/>
          <p:nvPr/>
        </p:nvSpPr>
        <p:spPr>
          <a:xfrm>
            <a:off x="6492240" y="3858768"/>
            <a:ext cx="4855464" cy="292608"/>
          </a:xfrm>
          <a:prstGeom prst="rect">
            <a:avLst/>
          </a:prstGeom>
          <a:noFill/>
          <a:ln/>
        </p:spPr>
        <p:txBody>
          <a:bodyPr wrap="square" lIns="0" tIns="0" rIns="0" bIns="0" rtlCol="0" anchor="ctr"/>
          <a:lstStyle/>
          <a:p>
            <a:pPr indent="0" marL="0">
              <a:buNone/>
            </a:pPr>
            <a:r>
              <a:rPr lang="en-US" sz="1050" b="1" dirty="0">
                <a:solidFill>
                  <a:srgbClr val="15693D"/>
                </a:solidFill>
                <a:latin typeface="Calibri" pitchFamily="34" charset="0"/>
                <a:ea typeface="Calibri" pitchFamily="34" charset="-122"/>
                <a:cs typeface="Calibri" pitchFamily="34" charset="-120"/>
              </a:rPr>
              <a:t>Live in the prototype</a:t>
            </a:r>
            <a:endParaRPr lang="en-US" sz="1050" dirty="0"/>
          </a:p>
        </p:txBody>
      </p:sp>
      <p:sp>
        <p:nvSpPr>
          <p:cNvPr id="18" name="Shape 16"/>
          <p:cNvSpPr/>
          <p:nvPr/>
        </p:nvSpPr>
        <p:spPr>
          <a:xfrm>
            <a:off x="548640" y="4828032"/>
            <a:ext cx="11091672" cy="1024128"/>
          </a:xfrm>
          <a:prstGeom prst="roundRect">
            <a:avLst>
              <a:gd name="adj" fmla="val 7143"/>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9" name="Text 17"/>
          <p:cNvSpPr txBox="1"/>
          <p:nvPr/>
        </p:nvSpPr>
        <p:spPr>
          <a:xfrm>
            <a:off x="932688" y="4956048"/>
            <a:ext cx="2286000" cy="256032"/>
          </a:xfrm>
          <a:prstGeom prst="rect">
            <a:avLst/>
          </a:prstGeom>
          <a:noFill/>
          <a:ln/>
        </p:spPr>
        <p:txBody>
          <a:bodyPr wrap="square" lIns="0" tIns="0" rIns="0" bIns="0" rtlCol="0" anchor="ctr"/>
          <a:lstStyle/>
          <a:p>
            <a:pPr indent="0" marL="0">
              <a:buNone/>
            </a:pPr>
            <a:r>
              <a:rPr lang="en-US" sz="1050" b="1" spc="140" kern="0" dirty="0">
                <a:solidFill>
                  <a:srgbClr val="0A2540"/>
                </a:solidFill>
                <a:latin typeface="Calibri" pitchFamily="34" charset="0"/>
                <a:ea typeface="Calibri" pitchFamily="34" charset="-122"/>
                <a:cs typeface="Calibri" pitchFamily="34" charset="-120"/>
              </a:rPr>
              <a:t>WHAT IT COSTS</a:t>
            </a:r>
            <a:endParaRPr lang="en-US" sz="1050" dirty="0"/>
          </a:p>
        </p:txBody>
      </p:sp>
      <p:sp>
        <p:nvSpPr>
          <p:cNvPr id="20" name="Text 18"/>
          <p:cNvSpPr txBox="1"/>
          <p:nvPr/>
        </p:nvSpPr>
        <p:spPr>
          <a:xfrm>
            <a:off x="932688" y="5212080"/>
            <a:ext cx="10323576" cy="54864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Unmatched transfers are reconciled by hand, by finance, one payment at a time.</a:t>
            </a:r>
            <a:endParaRPr lang="en-US" sz="1350" dirty="0"/>
          </a:p>
        </p:txBody>
      </p:sp>
      <p:sp>
        <p:nvSpPr>
          <p:cNvPr id="21" name="Text 19"/>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Order placed  ·  finding P5</a:t>
            </a:r>
            <a:endParaRPr lang="en-US" sz="900" dirty="0"/>
          </a:p>
        </p:txBody>
      </p:sp>
      <p:sp>
        <p:nvSpPr>
          <p:cNvPr id="22" name="Text 20"/>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502920"/>
            <a:ext cx="8229600" cy="658368"/>
          </a:xfrm>
          <a:prstGeom prst="rect">
            <a:avLst/>
          </a:prstGeom>
          <a:noFill/>
          <a:ln/>
        </p:spPr>
        <p:txBody>
          <a:bodyPr wrap="square" lIns="0" tIns="0" rIns="0" bIns="0" rtlCol="0" anchor="ctr"/>
          <a:lstStyle/>
          <a:p>
            <a:pPr indent="0" marL="0">
              <a:buNone/>
            </a:pPr>
            <a:r>
              <a:rPr lang="en-US" sz="3600" b="1" dirty="0">
                <a:solidFill>
                  <a:srgbClr val="0F1C2B"/>
                </a:solidFill>
                <a:latin typeface="Cambria" pitchFamily="34" charset="0"/>
                <a:ea typeface="Cambria" pitchFamily="34" charset="-122"/>
                <a:cs typeface="Cambria" pitchFamily="34" charset="-120"/>
              </a:rPr>
              <a:t>Breaches by heuristic</a:t>
            </a:r>
            <a:endParaRPr lang="en-US" sz="3600" dirty="0"/>
          </a:p>
        </p:txBody>
      </p:sp>
      <p:sp>
        <p:nvSpPr>
          <p:cNvPr id="3" name="Text 1"/>
          <p:cNvSpPr txBox="1"/>
          <p:nvPr/>
        </p:nvSpPr>
        <p:spPr>
          <a:xfrm>
            <a:off x="548640" y="1207008"/>
            <a:ext cx="91440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All ten are breached. One accounts for nearly a third of them.</a:t>
            </a:r>
            <a:endParaRPr lang="en-US" sz="1500" dirty="0"/>
          </a:p>
        </p:txBody>
      </p:sp>
      <p:graphicFrame>
        <p:nvGraphicFramePr>
          <p:cNvPr id="4" name="Chart 0" descr=""/>
          <p:cNvGraphicFramePr/>
          <p:nvPr/>
        </p:nvGraphicFramePr>
        <p:xfrm>
          <a:off x="548640" y="1600200"/>
          <a:ext cx="72237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600200"/>
            <a:ext cx="3639312" cy="4206240"/>
          </a:xfrm>
          <a:prstGeom prst="roundRect">
            <a:avLst>
              <a:gd name="adj" fmla="val 2010"/>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6" name="Text 3"/>
          <p:cNvSpPr txBox="1"/>
          <p:nvPr/>
        </p:nvSpPr>
        <p:spPr>
          <a:xfrm>
            <a:off x="8293608" y="1847088"/>
            <a:ext cx="3054096" cy="365760"/>
          </a:xfrm>
          <a:prstGeom prst="rect">
            <a:avLst/>
          </a:prstGeom>
          <a:noFill/>
          <a:ln/>
        </p:spPr>
        <p:txBody>
          <a:bodyPr wrap="square" lIns="0" tIns="0" rIns="0" bIns="0" rtlCol="0" anchor="ctr"/>
          <a:lstStyle/>
          <a:p>
            <a:pPr indent="0" marL="0">
              <a:buNone/>
            </a:pPr>
            <a:r>
              <a:rPr lang="en-US" sz="1900" b="1" dirty="0">
                <a:solidFill>
                  <a:srgbClr val="0A2540"/>
                </a:solidFill>
                <a:latin typeface="Cambria" pitchFamily="34" charset="0"/>
                <a:ea typeface="Cambria" pitchFamily="34" charset="-122"/>
                <a:cs typeface="Cambria" pitchFamily="34" charset="-120"/>
              </a:rPr>
              <a:t>What this says</a:t>
            </a:r>
            <a:endParaRPr lang="en-US" sz="1900" dirty="0"/>
          </a:p>
        </p:txBody>
      </p:sp>
      <p:sp>
        <p:nvSpPr>
          <p:cNvPr id="7" name="Text 4"/>
          <p:cNvSpPr txBox="1"/>
          <p:nvPr/>
        </p:nvSpPr>
        <p:spPr>
          <a:xfrm>
            <a:off x="8293608" y="2304288"/>
            <a:ext cx="3054096" cy="3291840"/>
          </a:xfrm>
          <a:prstGeom prst="rect">
            <a:avLst/>
          </a:prstGeom>
          <a:noFill/>
          <a:ln/>
        </p:spPr>
        <p:txBody>
          <a:bodyPr wrap="square" lIns="0" tIns="0" rIns="0" bIns="0" rtlCol="0" anchor="t"/>
          <a:lstStyle/>
          <a:p>
            <a:pPr indent="0" marL="0">
              <a:lnSpc>
                <a:spcPts val="1900"/>
              </a:lnSpc>
              <a:spcAft>
                <a:spcPts val="1000"/>
              </a:spcAft>
              <a:buNone/>
            </a:pPr>
            <a:r>
              <a:rPr lang="en-US" sz="1300" b="1" dirty="0">
                <a:solidFill>
                  <a:srgbClr val="4A5B6E"/>
                </a:solidFill>
                <a:latin typeface="Calibri" pitchFamily="34" charset="0"/>
                <a:ea typeface="Calibri" pitchFamily="34" charset="-122"/>
                <a:cs typeface="Calibri" pitchFamily="34" charset="-120"/>
              </a:rPr>
              <a:t>Visibility of system status is not one bug — it is the flow's habit.</a:t>
            </a:r>
            <a:endParaRPr lang="en-US" sz="1300" dirty="0"/>
          </a:p>
          <a:p>
            <a:pPr indent="0" marL="0">
              <a:lnSpc>
                <a:spcPts val="1900"/>
              </a:lnSpc>
              <a:spcAft>
                <a:spcPts val="1000"/>
              </a:spcAft>
              <a:buNone/>
            </a:pPr>
            <a:r>
              <a:rPr lang="en-US" sz="1300" dirty="0">
                <a:solidFill>
                  <a:srgbClr val="4A5B6E"/>
                </a:solidFill>
                <a:latin typeface="Calibri" pitchFamily="34" charset="0"/>
                <a:ea typeface="Calibri" pitchFamily="34" charset="-122"/>
                <a:cs typeface="Calibri" pitchFamily="34" charset="-120"/>
              </a:rPr>
              <a:t>Twelve of the 38 breaches are the interface failing to tell the buyer where they stand: what the order will cost, how many steps remain, whether the payment landed.</a:t>
            </a:r>
            <a:endParaRPr lang="en-US" sz="1300" dirty="0"/>
          </a:p>
          <a:p>
            <a:pPr indent="0" marL="0">
              <a:lnSpc>
                <a:spcPts val="1900"/>
              </a:lnSpc>
              <a:buNone/>
            </a:pPr>
            <a:r>
              <a:rPr lang="en-US" sz="1300" dirty="0">
                <a:solidFill>
                  <a:srgbClr val="4A5B6E"/>
                </a:solidFill>
                <a:latin typeface="Calibri" pitchFamily="34" charset="0"/>
                <a:ea typeface="Calibri" pitchFamily="34" charset="-122"/>
                <a:cs typeface="Calibri" pitchFamily="34" charset="-120"/>
              </a:rPr>
              <a:t>That is good news for sequencing. A single principle — show cost and state before asking for commitment — closes a third of the findings.</a:t>
            </a:r>
            <a:endParaRPr lang="en-US" sz="1300" dirty="0"/>
          </a:p>
        </p:txBody>
      </p:sp>
      <p:sp>
        <p:nvSpPr>
          <p:cNvPr id="8" name="Text 5"/>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9" name="Text 6"/>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502920"/>
            <a:ext cx="9144000" cy="658368"/>
          </a:xfrm>
          <a:prstGeom prst="rect">
            <a:avLst/>
          </a:prstGeom>
          <a:noFill/>
          <a:ln/>
        </p:spPr>
        <p:txBody>
          <a:bodyPr wrap="square" lIns="0" tIns="0" rIns="0" bIns="0" rtlCol="0" anchor="ctr"/>
          <a:lstStyle/>
          <a:p>
            <a:pPr indent="0" marL="0">
              <a:buNone/>
            </a:pPr>
            <a:r>
              <a:rPr lang="en-US" sz="3600" b="1" dirty="0">
                <a:solidFill>
                  <a:srgbClr val="0F1C2B"/>
                </a:solidFill>
                <a:latin typeface="Cambria" pitchFamily="34" charset="0"/>
                <a:ea typeface="Cambria" pitchFamily="34" charset="-122"/>
                <a:cs typeface="Cambria" pitchFamily="34" charset="-120"/>
              </a:rPr>
              <a:t>What the prototype changes</a:t>
            </a:r>
            <a:endParaRPr lang="en-US" sz="3600" dirty="0"/>
          </a:p>
        </p:txBody>
      </p:sp>
      <p:sp>
        <p:nvSpPr>
          <p:cNvPr id="3" name="Text 1"/>
          <p:cNvSpPr txBox="1"/>
          <p:nvPr/>
        </p:nvSpPr>
        <p:spPr>
          <a:xfrm>
            <a:off x="548640" y="1207008"/>
            <a:ext cx="91440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Measured against the flow in the recording.</a:t>
            </a:r>
            <a:endParaRPr lang="en-US" sz="1500" dirty="0"/>
          </a:p>
        </p:txBody>
      </p:sp>
      <p:sp>
        <p:nvSpPr>
          <p:cNvPr id="4" name="Shape 2"/>
          <p:cNvSpPr/>
          <p:nvPr/>
        </p:nvSpPr>
        <p:spPr>
          <a:xfrm>
            <a:off x="548640" y="1691640"/>
            <a:ext cx="2539746" cy="3200400"/>
          </a:xfrm>
          <a:prstGeom prst="roundRect">
            <a:avLst>
              <a:gd name="adj" fmla="val 2880"/>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5" name="Text 3"/>
          <p:cNvSpPr txBox="1"/>
          <p:nvPr/>
        </p:nvSpPr>
        <p:spPr>
          <a:xfrm>
            <a:off x="749808" y="1938528"/>
            <a:ext cx="2137410" cy="822960"/>
          </a:xfrm>
          <a:prstGeom prst="rect">
            <a:avLst/>
          </a:prstGeom>
          <a:noFill/>
          <a:ln/>
        </p:spPr>
        <p:txBody>
          <a:bodyPr wrap="square" lIns="0" tIns="0" rIns="0" bIns="0" rtlCol="0" anchor="ctr"/>
          <a:lstStyle/>
          <a:p>
            <a:pPr indent="0" marL="0">
              <a:buNone/>
            </a:pPr>
            <a:r>
              <a:rPr lang="en-US" sz="2800" b="1" dirty="0">
                <a:solidFill>
                  <a:srgbClr val="0A2540"/>
                </a:solidFill>
                <a:latin typeface="Cambria" pitchFamily="34" charset="0"/>
                <a:ea typeface="Cambria" pitchFamily="34" charset="-122"/>
                <a:cs typeface="Cambria" pitchFamily="34" charset="-120"/>
              </a:rPr>
              <a:t>4 → 3</a:t>
            </a:r>
            <a:endParaRPr lang="en-US" sz="2800" dirty="0"/>
          </a:p>
        </p:txBody>
      </p:sp>
      <p:sp>
        <p:nvSpPr>
          <p:cNvPr id="6" name="Text 4"/>
          <p:cNvSpPr txBox="1"/>
          <p:nvPr/>
        </p:nvSpPr>
        <p:spPr>
          <a:xfrm>
            <a:off x="804672" y="2788920"/>
            <a:ext cx="2027682" cy="685800"/>
          </a:xfrm>
          <a:prstGeom prst="rect">
            <a:avLst/>
          </a:prstGeom>
          <a:noFill/>
          <a:ln/>
        </p:spPr>
        <p:txBody>
          <a:bodyPr wrap="square" lIns="0" tIns="0" rIns="0" bIns="0" rtlCol="0" anchor="t"/>
          <a:lstStyle/>
          <a:p>
            <a:pPr indent="0" marL="0">
              <a:lnSpc>
                <a:spcPts val="1800"/>
              </a:lnSpc>
              <a:buNone/>
            </a:pPr>
            <a:r>
              <a:rPr lang="en-US" sz="1350" b="1" dirty="0">
                <a:solidFill>
                  <a:srgbClr val="0F1C2B"/>
                </a:solidFill>
                <a:latin typeface="Calibri" pitchFamily="34" charset="0"/>
                <a:ea typeface="Calibri" pitchFamily="34" charset="-122"/>
                <a:cs typeface="Calibri" pitchFamily="34" charset="-120"/>
              </a:rPr>
              <a:t>screens between cart and paid</a:t>
            </a:r>
            <a:endParaRPr lang="en-US" sz="1350" dirty="0"/>
          </a:p>
        </p:txBody>
      </p:sp>
      <p:sp>
        <p:nvSpPr>
          <p:cNvPr id="7" name="Text 5"/>
          <p:cNvSpPr txBox="1"/>
          <p:nvPr/>
        </p:nvSpPr>
        <p:spPr>
          <a:xfrm>
            <a:off x="804672" y="3520440"/>
            <a:ext cx="2027682" cy="1097280"/>
          </a:xfrm>
          <a:prstGeom prst="rect">
            <a:avLst/>
          </a:prstGeom>
          <a:noFill/>
          <a:ln/>
        </p:spPr>
        <p:txBody>
          <a:bodyPr wrap="square" lIns="0" tIns="0" rIns="0" bIns="0" rtlCol="0" anchor="t"/>
          <a:lstStyle/>
          <a:p>
            <a:pPr indent="0" marL="0">
              <a:lnSpc>
                <a:spcPts val="1700"/>
              </a:lnSpc>
              <a:buNone/>
            </a:pPr>
            <a:r>
              <a:rPr lang="en-US" sz="1200" dirty="0">
                <a:solidFill>
                  <a:srgbClr val="4A5B6E"/>
                </a:solidFill>
                <a:latin typeface="Calibri" pitchFamily="34" charset="0"/>
                <a:ea typeface="Calibri" pitchFamily="34" charset="-122"/>
                <a:cs typeface="Calibri" pitchFamily="34" charset="-120"/>
              </a:rPr>
              <a:t>One page absorbs delivery, purchase details and payment method.</a:t>
            </a:r>
            <a:endParaRPr lang="en-US" sz="1200" dirty="0"/>
          </a:p>
        </p:txBody>
      </p:sp>
      <p:sp>
        <p:nvSpPr>
          <p:cNvPr id="8" name="Shape 6"/>
          <p:cNvSpPr/>
          <p:nvPr/>
        </p:nvSpPr>
        <p:spPr>
          <a:xfrm>
            <a:off x="3399282" y="1691640"/>
            <a:ext cx="2539746" cy="3200400"/>
          </a:xfrm>
          <a:prstGeom prst="roundRect">
            <a:avLst>
              <a:gd name="adj" fmla="val 2880"/>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9" name="Text 7"/>
          <p:cNvSpPr txBox="1"/>
          <p:nvPr/>
        </p:nvSpPr>
        <p:spPr>
          <a:xfrm>
            <a:off x="3600450" y="1938528"/>
            <a:ext cx="2137410" cy="822960"/>
          </a:xfrm>
          <a:prstGeom prst="rect">
            <a:avLst/>
          </a:prstGeom>
          <a:noFill/>
          <a:ln/>
        </p:spPr>
        <p:txBody>
          <a:bodyPr wrap="square" lIns="0" tIns="0" rIns="0" bIns="0" rtlCol="0" anchor="ctr"/>
          <a:lstStyle/>
          <a:p>
            <a:pPr indent="0" marL="0">
              <a:buNone/>
            </a:pPr>
            <a:r>
              <a:rPr lang="en-US" sz="2800" b="1" dirty="0">
                <a:solidFill>
                  <a:srgbClr val="0A2540"/>
                </a:solidFill>
                <a:latin typeface="Cambria" pitchFamily="34" charset="0"/>
                <a:ea typeface="Cambria" pitchFamily="34" charset="-122"/>
                <a:cs typeface="Cambria" pitchFamily="34" charset="-120"/>
              </a:rPr>
              <a:t>3 → 0</a:t>
            </a:r>
            <a:endParaRPr lang="en-US" sz="2800" dirty="0"/>
          </a:p>
        </p:txBody>
      </p:sp>
      <p:sp>
        <p:nvSpPr>
          <p:cNvPr id="10" name="Text 8"/>
          <p:cNvSpPr txBox="1"/>
          <p:nvPr/>
        </p:nvSpPr>
        <p:spPr>
          <a:xfrm>
            <a:off x="3655314" y="2788920"/>
            <a:ext cx="2027682" cy="685800"/>
          </a:xfrm>
          <a:prstGeom prst="rect">
            <a:avLst/>
          </a:prstGeom>
          <a:noFill/>
          <a:ln/>
        </p:spPr>
        <p:txBody>
          <a:bodyPr wrap="square" lIns="0" tIns="0" rIns="0" bIns="0" rtlCol="0" anchor="t"/>
          <a:lstStyle/>
          <a:p>
            <a:pPr indent="0" marL="0">
              <a:lnSpc>
                <a:spcPts val="1800"/>
              </a:lnSpc>
              <a:buNone/>
            </a:pPr>
            <a:r>
              <a:rPr lang="en-US" sz="1350" b="1" dirty="0">
                <a:solidFill>
                  <a:srgbClr val="0F1C2B"/>
                </a:solidFill>
                <a:latin typeface="Calibri" pitchFamily="34" charset="0"/>
                <a:ea typeface="Calibri" pitchFamily="34" charset="-122"/>
                <a:cs typeface="Calibri" pitchFamily="34" charset="-120"/>
              </a:rPr>
              <a:t>document uploads inside the order</a:t>
            </a:r>
            <a:endParaRPr lang="en-US" sz="1350" dirty="0"/>
          </a:p>
        </p:txBody>
      </p:sp>
      <p:sp>
        <p:nvSpPr>
          <p:cNvPr id="11" name="Text 9"/>
          <p:cNvSpPr txBox="1"/>
          <p:nvPr/>
        </p:nvSpPr>
        <p:spPr>
          <a:xfrm>
            <a:off x="3655314" y="3520440"/>
            <a:ext cx="2027682" cy="1097280"/>
          </a:xfrm>
          <a:prstGeom prst="rect">
            <a:avLst/>
          </a:prstGeom>
          <a:noFill/>
          <a:ln/>
        </p:spPr>
        <p:txBody>
          <a:bodyPr wrap="square" lIns="0" tIns="0" rIns="0" bIns="0" rtlCol="0" anchor="t"/>
          <a:lstStyle/>
          <a:p>
            <a:pPr indent="0" marL="0">
              <a:lnSpc>
                <a:spcPts val="1700"/>
              </a:lnSpc>
              <a:buNone/>
            </a:pPr>
            <a:r>
              <a:rPr lang="en-US" sz="1200" dirty="0">
                <a:solidFill>
                  <a:srgbClr val="4A5B6E"/>
                </a:solidFill>
                <a:latin typeface="Calibri" pitchFamily="34" charset="0"/>
                <a:ea typeface="Calibri" pitchFamily="34" charset="-122"/>
                <a:cs typeface="Calibri" pitchFamily="34" charset="-120"/>
              </a:rPr>
              <a:t>Verification is an account property, collected once and re-checked on expiry.</a:t>
            </a:r>
            <a:endParaRPr lang="en-US" sz="1200" dirty="0"/>
          </a:p>
        </p:txBody>
      </p:sp>
      <p:sp>
        <p:nvSpPr>
          <p:cNvPr id="12" name="Shape 10"/>
          <p:cNvSpPr/>
          <p:nvPr/>
        </p:nvSpPr>
        <p:spPr>
          <a:xfrm>
            <a:off x="6249924" y="1691640"/>
            <a:ext cx="2539746" cy="3200400"/>
          </a:xfrm>
          <a:prstGeom prst="roundRect">
            <a:avLst>
              <a:gd name="adj" fmla="val 2880"/>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3" name="Text 11"/>
          <p:cNvSpPr txBox="1"/>
          <p:nvPr/>
        </p:nvSpPr>
        <p:spPr>
          <a:xfrm>
            <a:off x="6451092" y="1938528"/>
            <a:ext cx="2137410" cy="822960"/>
          </a:xfrm>
          <a:prstGeom prst="rect">
            <a:avLst/>
          </a:prstGeom>
          <a:noFill/>
          <a:ln/>
        </p:spPr>
        <p:txBody>
          <a:bodyPr wrap="square" lIns="0" tIns="0" rIns="0" bIns="0" rtlCol="0" anchor="ctr"/>
          <a:lstStyle/>
          <a:p>
            <a:pPr indent="0" marL="0">
              <a:buNone/>
            </a:pPr>
            <a:r>
              <a:rPr lang="en-US" sz="2800" b="1" dirty="0">
                <a:solidFill>
                  <a:srgbClr val="0A2540"/>
                </a:solidFill>
                <a:latin typeface="Cambria" pitchFamily="34" charset="0"/>
                <a:ea typeface="Cambria" pitchFamily="34" charset="-122"/>
                <a:cs typeface="Cambria" pitchFamily="34" charset="-120"/>
              </a:rPr>
              <a:t>2 → 1</a:t>
            </a:r>
            <a:endParaRPr lang="en-US" sz="2800" dirty="0"/>
          </a:p>
        </p:txBody>
      </p:sp>
      <p:sp>
        <p:nvSpPr>
          <p:cNvPr id="14" name="Text 12"/>
          <p:cNvSpPr txBox="1"/>
          <p:nvPr/>
        </p:nvSpPr>
        <p:spPr>
          <a:xfrm>
            <a:off x="6505956" y="2788920"/>
            <a:ext cx="2027682" cy="685800"/>
          </a:xfrm>
          <a:prstGeom prst="rect">
            <a:avLst/>
          </a:prstGeom>
          <a:noFill/>
          <a:ln/>
        </p:spPr>
        <p:txBody>
          <a:bodyPr wrap="square" lIns="0" tIns="0" rIns="0" bIns="0" rtlCol="0" anchor="t"/>
          <a:lstStyle/>
          <a:p>
            <a:pPr indent="0" marL="0">
              <a:lnSpc>
                <a:spcPts val="1800"/>
              </a:lnSpc>
              <a:buNone/>
            </a:pPr>
            <a:r>
              <a:rPr lang="en-US" sz="1350" b="1" dirty="0">
                <a:solidFill>
                  <a:srgbClr val="0F1C2B"/>
                </a:solidFill>
                <a:latin typeface="Calibri" pitchFamily="34" charset="0"/>
                <a:ea typeface="Calibri" pitchFamily="34" charset="-122"/>
                <a:cs typeface="Calibri" pitchFamily="34" charset="-120"/>
              </a:rPr>
              <a:t>the screen where the delivery fee appears</a:t>
            </a:r>
            <a:endParaRPr lang="en-US" sz="1350" dirty="0"/>
          </a:p>
        </p:txBody>
      </p:sp>
      <p:sp>
        <p:nvSpPr>
          <p:cNvPr id="15" name="Text 13"/>
          <p:cNvSpPr txBox="1"/>
          <p:nvPr/>
        </p:nvSpPr>
        <p:spPr>
          <a:xfrm>
            <a:off x="6505956" y="3520440"/>
            <a:ext cx="2027682" cy="1097280"/>
          </a:xfrm>
          <a:prstGeom prst="rect">
            <a:avLst/>
          </a:prstGeom>
          <a:noFill/>
          <a:ln/>
        </p:spPr>
        <p:txBody>
          <a:bodyPr wrap="square" lIns="0" tIns="0" rIns="0" bIns="0" rtlCol="0" anchor="t"/>
          <a:lstStyle/>
          <a:p>
            <a:pPr indent="0" marL="0">
              <a:lnSpc>
                <a:spcPts val="1700"/>
              </a:lnSpc>
              <a:buNone/>
            </a:pPr>
            <a:r>
              <a:rPr lang="en-US" sz="1200" dirty="0">
                <a:solidFill>
                  <a:srgbClr val="4A5B6E"/>
                </a:solidFill>
                <a:latin typeface="Calibri" pitchFamily="34" charset="0"/>
                <a:ea typeface="Calibri" pitchFamily="34" charset="-122"/>
                <a:cs typeface="Calibri" pitchFamily="34" charset="-120"/>
              </a:rPr>
              <a:t>Full cost breakdown from the basket onward, unchanged through checkout.</a:t>
            </a:r>
            <a:endParaRPr lang="en-US" sz="1200" dirty="0"/>
          </a:p>
        </p:txBody>
      </p:sp>
      <p:sp>
        <p:nvSpPr>
          <p:cNvPr id="16" name="Shape 14"/>
          <p:cNvSpPr/>
          <p:nvPr/>
        </p:nvSpPr>
        <p:spPr>
          <a:xfrm>
            <a:off x="9100566" y="1691640"/>
            <a:ext cx="2539746" cy="3200400"/>
          </a:xfrm>
          <a:prstGeom prst="roundRect">
            <a:avLst>
              <a:gd name="adj" fmla="val 2880"/>
            </a:avLst>
          </a:prstGeom>
          <a:solidFill>
            <a:srgbClr val="0A2540"/>
          </a:solidFill>
          <a:ln w="12700">
            <a:solidFill>
              <a:srgbClr val="0A2540"/>
            </a:solidFill>
            <a:prstDash val="solid"/>
          </a:ln>
          <a:effectLst>
            <a:outerShdw sx="100000" sy="100000" kx="0" ky="0" algn="bl" rotWithShape="0" blurRad="127000" dist="12700" dir="5400000">
              <a:srgbClr val="0A2540">
                <a:alpha val="9000"/>
              </a:srgbClr>
            </a:outerShdw>
          </a:effectLst>
        </p:spPr>
      </p:sp>
      <p:sp>
        <p:nvSpPr>
          <p:cNvPr id="17" name="Text 15"/>
          <p:cNvSpPr txBox="1"/>
          <p:nvPr/>
        </p:nvSpPr>
        <p:spPr>
          <a:xfrm>
            <a:off x="9301734" y="1938528"/>
            <a:ext cx="213741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2.0 → 17.2</a:t>
            </a:r>
            <a:endParaRPr lang="en-US" sz="2800" dirty="0"/>
          </a:p>
        </p:txBody>
      </p:sp>
      <p:sp>
        <p:nvSpPr>
          <p:cNvPr id="18" name="Text 16"/>
          <p:cNvSpPr txBox="1"/>
          <p:nvPr/>
        </p:nvSpPr>
        <p:spPr>
          <a:xfrm>
            <a:off x="9356598" y="2788920"/>
            <a:ext cx="2027682" cy="685800"/>
          </a:xfrm>
          <a:prstGeom prst="rect">
            <a:avLst/>
          </a:prstGeom>
          <a:noFill/>
          <a:ln/>
        </p:spPr>
        <p:txBody>
          <a:bodyPr wrap="square" lIns="0" tIns="0" rIns="0" bIns="0" rtlCol="0" anchor="t"/>
          <a:lstStyle/>
          <a:p>
            <a:pPr indent="0" marL="0">
              <a:lnSpc>
                <a:spcPts val="1800"/>
              </a:lnSpc>
              <a:buNone/>
            </a:pPr>
            <a:r>
              <a:rPr lang="en-US" sz="1350" b="1" dirty="0">
                <a:solidFill>
                  <a:srgbClr val="C7DCF0"/>
                </a:solidFill>
                <a:latin typeface="Calibri" pitchFamily="34" charset="0"/>
                <a:ea typeface="Calibri" pitchFamily="34" charset="-122"/>
                <a:cs typeface="Calibri" pitchFamily="34" charset="-120"/>
              </a:rPr>
              <a:t>contrast ratio on field values</a:t>
            </a:r>
            <a:endParaRPr lang="en-US" sz="1350" dirty="0"/>
          </a:p>
        </p:txBody>
      </p:sp>
      <p:sp>
        <p:nvSpPr>
          <p:cNvPr id="19" name="Text 17"/>
          <p:cNvSpPr txBox="1"/>
          <p:nvPr/>
        </p:nvSpPr>
        <p:spPr>
          <a:xfrm>
            <a:off x="9356598" y="3520440"/>
            <a:ext cx="2027682" cy="1097280"/>
          </a:xfrm>
          <a:prstGeom prst="rect">
            <a:avLst/>
          </a:prstGeom>
          <a:noFill/>
          <a:ln/>
        </p:spPr>
        <p:txBody>
          <a:bodyPr wrap="square" lIns="0" tIns="0" rIns="0" bIns="0" rtlCol="0" anchor="t"/>
          <a:lstStyle/>
          <a:p>
            <a:pPr indent="0" marL="0">
              <a:lnSpc>
                <a:spcPts val="1700"/>
              </a:lnSpc>
              <a:buNone/>
            </a:pPr>
            <a:r>
              <a:rPr lang="en-US" sz="1200" dirty="0">
                <a:solidFill>
                  <a:srgbClr val="C7DCF0"/>
                </a:solidFill>
                <a:latin typeface="Calibri" pitchFamily="34" charset="0"/>
                <a:ea typeface="Calibri" pitchFamily="34" charset="-122"/>
                <a:cs typeface="Calibri" pitchFamily="34" charset="-120"/>
              </a:rPr>
              <a:t>Above the 4.5:1 the accessibility standard requires, up from roughly half of it.</a:t>
            </a:r>
            <a:endParaRPr lang="en-US" sz="1200" dirty="0"/>
          </a:p>
        </p:txBody>
      </p:sp>
      <p:sp>
        <p:nvSpPr>
          <p:cNvPr id="20" name="Shape 18"/>
          <p:cNvSpPr/>
          <p:nvPr/>
        </p:nvSpPr>
        <p:spPr>
          <a:xfrm>
            <a:off x="548640" y="5120640"/>
            <a:ext cx="11091672" cy="713232"/>
          </a:xfrm>
          <a:prstGeom prst="roundRect">
            <a:avLst>
              <a:gd name="adj" fmla="val 10256"/>
            </a:avLst>
          </a:prstGeom>
          <a:solidFill>
            <a:srgbClr val="EAF5EF"/>
          </a:solidFill>
          <a:ln w="12700">
            <a:solidFill>
              <a:srgbClr val="EAF5EF"/>
            </a:solidFill>
            <a:prstDash val="solid"/>
          </a:ln>
          <a:effectLst>
            <a:outerShdw sx="100000" sy="100000" kx="0" ky="0" algn="bl" rotWithShape="0" blurRad="127000" dist="12700" dir="5400000">
              <a:srgbClr val="0A2540">
                <a:alpha val="9000"/>
              </a:srgbClr>
            </a:outerShdw>
          </a:effectLst>
        </p:spPr>
      </p:sp>
      <p:sp>
        <p:nvSpPr>
          <p:cNvPr id="21" name="Text 19"/>
          <p:cNvSpPr txBox="1"/>
          <p:nvPr/>
        </p:nvSpPr>
        <p:spPr>
          <a:xfrm>
            <a:off x="932688" y="5120640"/>
            <a:ext cx="10323576" cy="713232"/>
          </a:xfrm>
          <a:prstGeom prst="rect">
            <a:avLst/>
          </a:prstGeom>
          <a:noFill/>
          <a:ln/>
        </p:spPr>
        <p:txBody>
          <a:bodyPr wrap="square" lIns="0" tIns="0" rIns="0" bIns="0" rtlCol="0" anchor="ctr"/>
          <a:lstStyle/>
          <a:p>
            <a:pPr indent="0" marL="0">
              <a:buNone/>
            </a:pPr>
            <a:r>
              <a:rPr lang="en-US" sz="1400" b="1" dirty="0">
                <a:solidFill>
                  <a:srgbClr val="15693D"/>
                </a:solidFill>
                <a:latin typeface="Calibri" pitchFamily="34" charset="0"/>
                <a:ea typeface="Calibri" pitchFamily="34" charset="-122"/>
                <a:cs typeface="Calibri" pitchFamily="34" charset="-120"/>
              </a:rPr>
              <a:t>All 26 findings have a corresponding change in the prototype. None of them is a mock-up — every screen is clickable.</a:t>
            </a:r>
            <a:endParaRPr lang="en-US" sz="1400" dirty="0"/>
          </a:p>
        </p:txBody>
      </p:sp>
      <p:sp>
        <p:nvSpPr>
          <p:cNvPr id="22" name="Text 20"/>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23" name="Text 21"/>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502920"/>
            <a:ext cx="9144000" cy="658368"/>
          </a:xfrm>
          <a:prstGeom prst="rect">
            <a:avLst/>
          </a:prstGeom>
          <a:noFill/>
          <a:ln/>
        </p:spPr>
        <p:txBody>
          <a:bodyPr wrap="square" lIns="0" tIns="0" rIns="0" bIns="0" rtlCol="0" anchor="ctr"/>
          <a:lstStyle/>
          <a:p>
            <a:pPr indent="0" marL="0">
              <a:buNone/>
            </a:pPr>
            <a:r>
              <a:rPr lang="en-US" sz="3600" b="1" dirty="0">
                <a:solidFill>
                  <a:srgbClr val="0F1C2B"/>
                </a:solidFill>
                <a:latin typeface="Cambria" pitchFamily="34" charset="0"/>
                <a:ea typeface="Cambria" pitchFamily="34" charset="-122"/>
                <a:cs typeface="Cambria" pitchFamily="34" charset="-120"/>
              </a:rPr>
              <a:t>Where we would start</a:t>
            </a:r>
            <a:endParaRPr lang="en-US" sz="3600" dirty="0"/>
          </a:p>
        </p:txBody>
      </p:sp>
      <p:sp>
        <p:nvSpPr>
          <p:cNvPr id="3" name="Text 1"/>
          <p:cNvSpPr txBox="1"/>
          <p:nvPr/>
        </p:nvSpPr>
        <p:spPr>
          <a:xfrm>
            <a:off x="548640" y="1207008"/>
            <a:ext cx="100584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Three waves, ordered by what they cost you rather than by what they cost to build.</a:t>
            </a:r>
            <a:endParaRPr lang="en-US" sz="1500" dirty="0"/>
          </a:p>
        </p:txBody>
      </p:sp>
      <p:sp>
        <p:nvSpPr>
          <p:cNvPr id="4" name="Shape 2"/>
          <p:cNvSpPr/>
          <p:nvPr/>
        </p:nvSpPr>
        <p:spPr>
          <a:xfrm>
            <a:off x="548640" y="1645920"/>
            <a:ext cx="3477768" cy="4069080"/>
          </a:xfrm>
          <a:prstGeom prst="roundRect">
            <a:avLst>
              <a:gd name="adj" fmla="val 2103"/>
            </a:avLst>
          </a:prstGeom>
          <a:solidFill>
            <a:srgbClr val="FBFCFE"/>
          </a:solidFill>
          <a:ln w="12700">
            <a:solidFill>
              <a:srgbClr val="FBFCFE"/>
            </a:solidFill>
            <a:prstDash val="solid"/>
          </a:ln>
          <a:effectLst>
            <a:outerShdw sx="100000" sy="100000" kx="0" ky="0" algn="bl" rotWithShape="0" blurRad="127000" dist="12700" dir="5400000">
              <a:srgbClr val="0A2540">
                <a:alpha val="9000"/>
              </a:srgbClr>
            </a:outerShdw>
          </a:effectLst>
        </p:spPr>
      </p:sp>
      <p:sp>
        <p:nvSpPr>
          <p:cNvPr id="5" name="Shape 3"/>
          <p:cNvSpPr/>
          <p:nvPr/>
        </p:nvSpPr>
        <p:spPr>
          <a:xfrm>
            <a:off x="822960" y="1883664"/>
            <a:ext cx="1207008" cy="384048"/>
          </a:xfrm>
          <a:prstGeom prst="roundRect">
            <a:avLst>
              <a:gd name="adj" fmla="val 19048"/>
            </a:avLst>
          </a:prstGeom>
          <a:solidFill>
            <a:srgbClr val="FAEAE9"/>
          </a:solidFill>
          <a:ln w="12700">
            <a:solidFill>
              <a:srgbClr val="FAEAE9"/>
            </a:solidFill>
            <a:prstDash val="solid"/>
          </a:ln>
        </p:spPr>
      </p:sp>
      <p:sp>
        <p:nvSpPr>
          <p:cNvPr id="6" name="Text 4"/>
          <p:cNvSpPr txBox="1"/>
          <p:nvPr/>
        </p:nvSpPr>
        <p:spPr>
          <a:xfrm>
            <a:off x="822960" y="1883664"/>
            <a:ext cx="1207008" cy="384048"/>
          </a:xfrm>
          <a:prstGeom prst="rect">
            <a:avLst/>
          </a:prstGeom>
          <a:noFill/>
          <a:ln/>
        </p:spPr>
        <p:txBody>
          <a:bodyPr wrap="square" lIns="0" tIns="0" rIns="0" bIns="0" rtlCol="0" anchor="ctr"/>
          <a:lstStyle/>
          <a:p>
            <a:pPr algn="ctr" indent="0" marL="0">
              <a:buNone/>
            </a:pPr>
            <a:r>
              <a:rPr lang="en-US" sz="1200" b="1" dirty="0">
                <a:solidFill>
                  <a:srgbClr val="A81E17"/>
                </a:solidFill>
                <a:latin typeface="Calibri" pitchFamily="34" charset="0"/>
                <a:ea typeface="Calibri" pitchFamily="34" charset="-122"/>
                <a:cs typeface="Calibri" pitchFamily="34" charset="-120"/>
              </a:rPr>
              <a:t>Wave 1</a:t>
            </a:r>
            <a:endParaRPr lang="en-US" sz="1200" dirty="0"/>
          </a:p>
        </p:txBody>
      </p:sp>
      <p:sp>
        <p:nvSpPr>
          <p:cNvPr id="7" name="Text 5"/>
          <p:cNvSpPr txBox="1"/>
          <p:nvPr/>
        </p:nvSpPr>
        <p:spPr>
          <a:xfrm>
            <a:off x="822960" y="2377440"/>
            <a:ext cx="2929128" cy="713232"/>
          </a:xfrm>
          <a:prstGeom prst="rect">
            <a:avLst/>
          </a:prstGeom>
          <a:noFill/>
          <a:ln/>
        </p:spPr>
        <p:txBody>
          <a:bodyPr wrap="square" lIns="0" tIns="0" rIns="0" bIns="0" rtlCol="0" anchor="ctr"/>
          <a:lstStyle/>
          <a:p>
            <a:pPr indent="0" marL="0">
              <a:buNone/>
            </a:pPr>
            <a:r>
              <a:rPr lang="en-US" sz="1900" b="1" dirty="0">
                <a:solidFill>
                  <a:srgbClr val="0A2540"/>
                </a:solidFill>
                <a:latin typeface="Cambria" pitchFamily="34" charset="0"/>
                <a:ea typeface="Cambria" pitchFamily="34" charset="-122"/>
                <a:cs typeface="Cambria" pitchFamily="34" charset="-120"/>
              </a:rPr>
              <a:t>Stop the bleeding</a:t>
            </a:r>
            <a:endParaRPr lang="en-US" sz="1900" dirty="0"/>
          </a:p>
        </p:txBody>
      </p:sp>
      <p:sp>
        <p:nvSpPr>
          <p:cNvPr id="8" name="Text 6"/>
          <p:cNvSpPr txBox="1"/>
          <p:nvPr/>
        </p:nvSpPr>
        <p:spPr>
          <a:xfrm>
            <a:off x="822960" y="3127248"/>
            <a:ext cx="2929128" cy="1783080"/>
          </a:xfrm>
          <a:prstGeom prst="rect">
            <a:avLst/>
          </a:prstGeom>
          <a:noFill/>
          <a:ln/>
        </p:spPr>
        <p:txBody>
          <a:bodyPr wrap="square" lIns="0" tIns="0" rIns="0" bIns="0" rtlCol="0" anchor="t"/>
          <a:lstStyle/>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C2 · A1 · A6 — put the true cost and the running total in front of the buyer, everywhere.</a:t>
            </a:r>
            <a:endParaRPr lang="en-US" sz="1300" dirty="0"/>
          </a:p>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C1 — reconcile quantity against stock before payment, not after.</a:t>
            </a:r>
            <a:endParaRPr lang="en-US" sz="1300" dirty="0"/>
          </a:p>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A3 — cap attachment height so the buy button stays reachable.</a:t>
            </a:r>
            <a:endParaRPr lang="en-US" sz="1300" dirty="0"/>
          </a:p>
        </p:txBody>
      </p:sp>
      <p:sp>
        <p:nvSpPr>
          <p:cNvPr id="9" name="Text 7"/>
          <p:cNvSpPr txBox="1"/>
          <p:nvPr/>
        </p:nvSpPr>
        <p:spPr>
          <a:xfrm>
            <a:off x="822960" y="4983480"/>
            <a:ext cx="2929128" cy="658368"/>
          </a:xfrm>
          <a:prstGeom prst="rect">
            <a:avLst/>
          </a:prstGeom>
          <a:noFill/>
          <a:ln/>
        </p:spPr>
        <p:txBody>
          <a:bodyPr wrap="square" lIns="0" tIns="0" rIns="0" bIns="0" rtlCol="0" anchor="ctr"/>
          <a:lstStyle/>
          <a:p>
            <a:pPr indent="0" marL="0">
              <a:lnSpc>
                <a:spcPts val="1600"/>
              </a:lnSpc>
              <a:buNone/>
            </a:pPr>
            <a:r>
              <a:rPr lang="en-US" sz="1150" i="1" dirty="0">
                <a:solidFill>
                  <a:srgbClr val="4A5B6E"/>
                </a:solidFill>
                <a:latin typeface="Calibri" pitchFamily="34" charset="0"/>
                <a:ea typeface="Calibri" pitchFamily="34" charset="-122"/>
                <a:cs typeface="Calibri" pitchFamily="34" charset="-120"/>
              </a:rPr>
              <a:t>Six catastrophic findings. Mostly presentational, no new services.</a:t>
            </a:r>
            <a:endParaRPr lang="en-US" sz="1150" dirty="0"/>
          </a:p>
        </p:txBody>
      </p:sp>
      <p:sp>
        <p:nvSpPr>
          <p:cNvPr id="10" name="Shape 8"/>
          <p:cNvSpPr/>
          <p:nvPr/>
        </p:nvSpPr>
        <p:spPr>
          <a:xfrm>
            <a:off x="4355592" y="1645920"/>
            <a:ext cx="3477768" cy="4069080"/>
          </a:xfrm>
          <a:prstGeom prst="roundRect">
            <a:avLst>
              <a:gd name="adj" fmla="val 2103"/>
            </a:avLst>
          </a:prstGeom>
          <a:solidFill>
            <a:srgbClr val="FBFCFE"/>
          </a:solidFill>
          <a:ln w="12700">
            <a:solidFill>
              <a:srgbClr val="FBFCFE"/>
            </a:solidFill>
            <a:prstDash val="solid"/>
          </a:ln>
          <a:effectLst>
            <a:outerShdw sx="100000" sy="100000" kx="0" ky="0" algn="bl" rotWithShape="0" blurRad="127000" dist="12700" dir="5400000">
              <a:srgbClr val="0A2540">
                <a:alpha val="9000"/>
              </a:srgbClr>
            </a:outerShdw>
          </a:effectLst>
        </p:spPr>
      </p:sp>
      <p:sp>
        <p:nvSpPr>
          <p:cNvPr id="11" name="Shape 9"/>
          <p:cNvSpPr/>
          <p:nvPr/>
        </p:nvSpPr>
        <p:spPr>
          <a:xfrm>
            <a:off x="4629912" y="1883664"/>
            <a:ext cx="1207008" cy="384048"/>
          </a:xfrm>
          <a:prstGeom prst="roundRect">
            <a:avLst>
              <a:gd name="adj" fmla="val 19048"/>
            </a:avLst>
          </a:prstGeom>
          <a:solidFill>
            <a:srgbClr val="FDF3E3"/>
          </a:solidFill>
          <a:ln w="12700">
            <a:solidFill>
              <a:srgbClr val="FDF3E3"/>
            </a:solidFill>
            <a:prstDash val="solid"/>
          </a:ln>
        </p:spPr>
      </p:sp>
      <p:sp>
        <p:nvSpPr>
          <p:cNvPr id="12" name="Text 10"/>
          <p:cNvSpPr txBox="1"/>
          <p:nvPr/>
        </p:nvSpPr>
        <p:spPr>
          <a:xfrm>
            <a:off x="4629912" y="1883664"/>
            <a:ext cx="1207008" cy="384048"/>
          </a:xfrm>
          <a:prstGeom prst="rect">
            <a:avLst/>
          </a:prstGeom>
          <a:noFill/>
          <a:ln/>
        </p:spPr>
        <p:txBody>
          <a:bodyPr wrap="square" lIns="0" tIns="0" rIns="0" bIns="0" rtlCol="0" anchor="ctr"/>
          <a:lstStyle/>
          <a:p>
            <a:pPr algn="ctr" indent="0" marL="0">
              <a:buNone/>
            </a:pPr>
            <a:r>
              <a:rPr lang="en-US" sz="1200" b="1" dirty="0">
                <a:solidFill>
                  <a:srgbClr val="9C5C00"/>
                </a:solidFill>
                <a:latin typeface="Calibri" pitchFamily="34" charset="0"/>
                <a:ea typeface="Calibri" pitchFamily="34" charset="-122"/>
                <a:cs typeface="Calibri" pitchFamily="34" charset="-120"/>
              </a:rPr>
              <a:t>Wave 2</a:t>
            </a:r>
            <a:endParaRPr lang="en-US" sz="1200" dirty="0"/>
          </a:p>
        </p:txBody>
      </p:sp>
      <p:sp>
        <p:nvSpPr>
          <p:cNvPr id="13" name="Text 11"/>
          <p:cNvSpPr txBox="1"/>
          <p:nvPr/>
        </p:nvSpPr>
        <p:spPr>
          <a:xfrm>
            <a:off x="4629912" y="2377440"/>
            <a:ext cx="2929128" cy="713232"/>
          </a:xfrm>
          <a:prstGeom prst="rect">
            <a:avLst/>
          </a:prstGeom>
          <a:noFill/>
          <a:ln/>
        </p:spPr>
        <p:txBody>
          <a:bodyPr wrap="square" lIns="0" tIns="0" rIns="0" bIns="0" rtlCol="0" anchor="ctr"/>
          <a:lstStyle/>
          <a:p>
            <a:pPr indent="0" marL="0">
              <a:buNone/>
            </a:pPr>
            <a:r>
              <a:rPr lang="en-US" sz="1900" b="1" dirty="0">
                <a:solidFill>
                  <a:srgbClr val="0A2540"/>
                </a:solidFill>
                <a:latin typeface="Cambria" pitchFamily="34" charset="0"/>
                <a:ea typeface="Cambria" pitchFamily="34" charset="-122"/>
                <a:cs typeface="Cambria" pitchFamily="34" charset="-120"/>
              </a:rPr>
              <a:t>Remove the paperwork wall</a:t>
            </a:r>
            <a:endParaRPr lang="en-US" sz="1900" dirty="0"/>
          </a:p>
        </p:txBody>
      </p:sp>
      <p:sp>
        <p:nvSpPr>
          <p:cNvPr id="14" name="Text 12"/>
          <p:cNvSpPr txBox="1"/>
          <p:nvPr/>
        </p:nvSpPr>
        <p:spPr>
          <a:xfrm>
            <a:off x="4629912" y="3127248"/>
            <a:ext cx="2929128" cy="1783080"/>
          </a:xfrm>
          <a:prstGeom prst="rect">
            <a:avLst/>
          </a:prstGeom>
          <a:noFill/>
          <a:ln/>
        </p:spPr>
        <p:txBody>
          <a:bodyPr wrap="square" lIns="0" tIns="0" rIns="0" bIns="0" rtlCol="0" anchor="t"/>
          <a:lstStyle/>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A2 — move CR, VAT and ID verification to the account, collected once.</a:t>
            </a:r>
            <a:endParaRPr lang="en-US" sz="1300" dirty="0"/>
          </a:p>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P1 · P2 · P3 · P5 — finish payment on the page that asks for it, with a deadline and a reference.</a:t>
            </a:r>
            <a:endParaRPr lang="en-US" sz="1300" dirty="0"/>
          </a:p>
        </p:txBody>
      </p:sp>
      <p:sp>
        <p:nvSpPr>
          <p:cNvPr id="15" name="Text 13"/>
          <p:cNvSpPr txBox="1"/>
          <p:nvPr/>
        </p:nvSpPr>
        <p:spPr>
          <a:xfrm>
            <a:off x="4629912" y="4983480"/>
            <a:ext cx="2929128" cy="658368"/>
          </a:xfrm>
          <a:prstGeom prst="rect">
            <a:avLst/>
          </a:prstGeom>
          <a:noFill/>
          <a:ln/>
        </p:spPr>
        <p:txBody>
          <a:bodyPr wrap="square" lIns="0" tIns="0" rIns="0" bIns="0" rtlCol="0" anchor="ctr"/>
          <a:lstStyle/>
          <a:p>
            <a:pPr indent="0" marL="0">
              <a:lnSpc>
                <a:spcPts val="1600"/>
              </a:lnSpc>
              <a:buNone/>
            </a:pPr>
            <a:r>
              <a:rPr lang="en-US" sz="1150" i="1" dirty="0">
                <a:solidFill>
                  <a:srgbClr val="4A5B6E"/>
                </a:solidFill>
                <a:latin typeface="Calibri" pitchFamily="34" charset="0"/>
                <a:ea typeface="Calibri" pitchFamily="34" charset="-122"/>
                <a:cs typeface="Calibri" pitchFamily="34" charset="-120"/>
              </a:rPr>
              <a:t>The two structural changes. Needs compliance and finance in the room.</a:t>
            </a:r>
            <a:endParaRPr lang="en-US" sz="1150" dirty="0"/>
          </a:p>
        </p:txBody>
      </p:sp>
      <p:sp>
        <p:nvSpPr>
          <p:cNvPr id="16" name="Shape 14"/>
          <p:cNvSpPr/>
          <p:nvPr/>
        </p:nvSpPr>
        <p:spPr>
          <a:xfrm>
            <a:off x="8162544" y="1645920"/>
            <a:ext cx="3477768" cy="4069080"/>
          </a:xfrm>
          <a:prstGeom prst="roundRect">
            <a:avLst>
              <a:gd name="adj" fmla="val 2103"/>
            </a:avLst>
          </a:prstGeom>
          <a:solidFill>
            <a:srgbClr val="FBFCFE"/>
          </a:solidFill>
          <a:ln w="12700">
            <a:solidFill>
              <a:srgbClr val="FBFCFE"/>
            </a:solidFill>
            <a:prstDash val="solid"/>
          </a:ln>
          <a:effectLst>
            <a:outerShdw sx="100000" sy="100000" kx="0" ky="0" algn="bl" rotWithShape="0" blurRad="127000" dist="12700" dir="5400000">
              <a:srgbClr val="0A2540">
                <a:alpha val="9000"/>
              </a:srgbClr>
            </a:outerShdw>
          </a:effectLst>
        </p:spPr>
      </p:sp>
      <p:sp>
        <p:nvSpPr>
          <p:cNvPr id="17" name="Shape 15"/>
          <p:cNvSpPr/>
          <p:nvPr/>
        </p:nvSpPr>
        <p:spPr>
          <a:xfrm>
            <a:off x="8436864" y="1883664"/>
            <a:ext cx="1207008" cy="384048"/>
          </a:xfrm>
          <a:prstGeom prst="roundRect">
            <a:avLst>
              <a:gd name="adj" fmla="val 19048"/>
            </a:avLst>
          </a:prstGeom>
          <a:solidFill>
            <a:srgbClr val="E9F2FB"/>
          </a:solidFill>
          <a:ln w="12700">
            <a:solidFill>
              <a:srgbClr val="E9F2FB"/>
            </a:solidFill>
            <a:prstDash val="solid"/>
          </a:ln>
        </p:spPr>
      </p:sp>
      <p:sp>
        <p:nvSpPr>
          <p:cNvPr id="18" name="Text 16"/>
          <p:cNvSpPr txBox="1"/>
          <p:nvPr/>
        </p:nvSpPr>
        <p:spPr>
          <a:xfrm>
            <a:off x="8436864" y="1883664"/>
            <a:ext cx="1207008" cy="384048"/>
          </a:xfrm>
          <a:prstGeom prst="rect">
            <a:avLst/>
          </a:prstGeom>
          <a:noFill/>
          <a:ln/>
        </p:spPr>
        <p:txBody>
          <a:bodyPr wrap="square" lIns="0" tIns="0" rIns="0" bIns="0" rtlCol="0" anchor="ctr"/>
          <a:lstStyle/>
          <a:p>
            <a:pPr algn="ctr" indent="0" marL="0">
              <a:buNone/>
            </a:pPr>
            <a:r>
              <a:rPr lang="en-US" sz="1200" b="1" dirty="0">
                <a:solidFill>
                  <a:srgbClr val="1470BD"/>
                </a:solidFill>
                <a:latin typeface="Calibri" pitchFamily="34" charset="0"/>
                <a:ea typeface="Calibri" pitchFamily="34" charset="-122"/>
                <a:cs typeface="Calibri" pitchFamily="34" charset="-120"/>
              </a:rPr>
              <a:t>Wave 3</a:t>
            </a:r>
            <a:endParaRPr lang="en-US" sz="1200" dirty="0"/>
          </a:p>
        </p:txBody>
      </p:sp>
      <p:sp>
        <p:nvSpPr>
          <p:cNvPr id="19" name="Text 17"/>
          <p:cNvSpPr txBox="1"/>
          <p:nvPr/>
        </p:nvSpPr>
        <p:spPr>
          <a:xfrm>
            <a:off x="8436864" y="2377440"/>
            <a:ext cx="2929128" cy="713232"/>
          </a:xfrm>
          <a:prstGeom prst="rect">
            <a:avLst/>
          </a:prstGeom>
          <a:noFill/>
          <a:ln/>
        </p:spPr>
        <p:txBody>
          <a:bodyPr wrap="square" lIns="0" tIns="0" rIns="0" bIns="0" rtlCol="0" anchor="ctr"/>
          <a:lstStyle/>
          <a:p>
            <a:pPr indent="0" marL="0">
              <a:buNone/>
            </a:pPr>
            <a:r>
              <a:rPr lang="en-US" sz="1900" b="1" dirty="0">
                <a:solidFill>
                  <a:srgbClr val="0A2540"/>
                </a:solidFill>
                <a:latin typeface="Cambria" pitchFamily="34" charset="0"/>
                <a:ea typeface="Cambria" pitchFamily="34" charset="-122"/>
                <a:cs typeface="Cambria" pitchFamily="34" charset="-120"/>
              </a:rPr>
              <a:t>Make it a trade tool</a:t>
            </a:r>
            <a:endParaRPr lang="en-US" sz="1900" dirty="0"/>
          </a:p>
        </p:txBody>
      </p:sp>
      <p:sp>
        <p:nvSpPr>
          <p:cNvPr id="20" name="Text 18"/>
          <p:cNvSpPr txBox="1"/>
          <p:nvPr/>
        </p:nvSpPr>
        <p:spPr>
          <a:xfrm>
            <a:off x="8436864" y="3127248"/>
            <a:ext cx="2929128" cy="1783080"/>
          </a:xfrm>
          <a:prstGeom prst="rect">
            <a:avLst/>
          </a:prstGeom>
          <a:noFill/>
          <a:ln/>
        </p:spPr>
        <p:txBody>
          <a:bodyPr wrap="square" lIns="0" tIns="0" rIns="0" bIns="0" rtlCol="0" anchor="t"/>
          <a:lstStyle/>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C3 · C4 · C6 — supplier grouping, one minimum-order bar, partial checkout.</a:t>
            </a:r>
            <a:endParaRPr lang="en-US" sz="1300" dirty="0"/>
          </a:p>
          <a:p>
            <a:pPr indent="0" marL="0">
              <a:lnSpc>
                <a:spcPts val="1800"/>
              </a:lnSpc>
              <a:buNone/>
            </a:pPr>
            <a:r>
              <a:rPr lang="en-US" sz="1300" dirty="0">
                <a:solidFill>
                  <a:srgbClr val="0F1C2B"/>
                </a:solidFill>
                <a:latin typeface="Calibri" pitchFamily="34" charset="0"/>
                <a:ea typeface="Calibri" pitchFamily="34" charset="-122"/>
                <a:cs typeface="Calibri" pitchFamily="34" charset="-120"/>
              </a:rPr>
              <a:t>C5 · C8 · A7 · A8 — per-unit pricing, reorder, delivery windows, PO and cost centre.</a:t>
            </a:r>
            <a:endParaRPr lang="en-US" sz="1300" dirty="0"/>
          </a:p>
        </p:txBody>
      </p:sp>
      <p:sp>
        <p:nvSpPr>
          <p:cNvPr id="21" name="Text 19"/>
          <p:cNvSpPr txBox="1"/>
          <p:nvPr/>
        </p:nvSpPr>
        <p:spPr>
          <a:xfrm>
            <a:off x="8436864" y="4983480"/>
            <a:ext cx="2929128" cy="658368"/>
          </a:xfrm>
          <a:prstGeom prst="rect">
            <a:avLst/>
          </a:prstGeom>
          <a:noFill/>
          <a:ln/>
        </p:spPr>
        <p:txBody>
          <a:bodyPr wrap="square" lIns="0" tIns="0" rIns="0" bIns="0" rtlCol="0" anchor="ctr"/>
          <a:lstStyle/>
          <a:p>
            <a:pPr indent="0" marL="0">
              <a:lnSpc>
                <a:spcPts val="1600"/>
              </a:lnSpc>
              <a:buNone/>
            </a:pPr>
            <a:r>
              <a:rPr lang="en-US" sz="1150" i="1" dirty="0">
                <a:solidFill>
                  <a:srgbClr val="4A5B6E"/>
                </a:solidFill>
                <a:latin typeface="Calibri" pitchFamily="34" charset="0"/>
                <a:ea typeface="Calibri" pitchFamily="34" charset="-122"/>
                <a:cs typeface="Calibri" pitchFamily="34" charset="-120"/>
              </a:rPr>
              <a:t>Where repeat-purchase growth actually comes from.</a:t>
            </a:r>
            <a:endParaRPr lang="en-US" sz="1150" dirty="0"/>
          </a:p>
        </p:txBody>
      </p:sp>
      <p:sp>
        <p:nvSpPr>
          <p:cNvPr id="22" name="Text 20"/>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23" name="Text 21"/>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502920"/>
            <a:ext cx="10058400" cy="658368"/>
          </a:xfrm>
          <a:prstGeom prst="rect">
            <a:avLst/>
          </a:prstGeom>
          <a:noFill/>
          <a:ln/>
        </p:spPr>
        <p:txBody>
          <a:bodyPr wrap="square" lIns="0" tIns="0" rIns="0" bIns="0" rtlCol="0" anchor="ctr"/>
          <a:lstStyle/>
          <a:p>
            <a:pPr indent="0" marL="0">
              <a:buNone/>
            </a:pPr>
            <a:r>
              <a:rPr lang="en-US" sz="3600" b="1" dirty="0">
                <a:solidFill>
                  <a:srgbClr val="0F1C2B"/>
                </a:solidFill>
                <a:latin typeface="Cambria" pitchFamily="34" charset="0"/>
                <a:ea typeface="Cambria" pitchFamily="34" charset="-122"/>
                <a:cs typeface="Cambria" pitchFamily="34" charset="-120"/>
              </a:rPr>
              <a:t>Two things to check before building</a:t>
            </a:r>
            <a:endParaRPr lang="en-US" sz="3600" dirty="0"/>
          </a:p>
        </p:txBody>
      </p:sp>
      <p:sp>
        <p:nvSpPr>
          <p:cNvPr id="3" name="Text 1"/>
          <p:cNvSpPr txBox="1"/>
          <p:nvPr/>
        </p:nvSpPr>
        <p:spPr>
          <a:xfrm>
            <a:off x="548640" y="1207008"/>
            <a:ext cx="10058400" cy="320040"/>
          </a:xfrm>
          <a:prstGeom prst="rect">
            <a:avLst/>
          </a:prstGeom>
          <a:noFill/>
          <a:ln/>
        </p:spPr>
        <p:txBody>
          <a:bodyPr wrap="square" lIns="0" tIns="0" rIns="0" bIns="0" rtlCol="0" anchor="ctr"/>
          <a:lstStyle/>
          <a:p>
            <a:pPr indent="0" marL="0">
              <a:buNone/>
            </a:pPr>
            <a:r>
              <a:rPr lang="en-US" sz="1500" dirty="0">
                <a:solidFill>
                  <a:srgbClr val="4A5B6E"/>
                </a:solidFill>
                <a:latin typeface="Calibri" pitchFamily="34" charset="0"/>
                <a:ea typeface="Calibri" pitchFamily="34" charset="-122"/>
                <a:cs typeface="Calibri" pitchFamily="34" charset="-120"/>
              </a:rPr>
              <a:t>Both trade against constraints a design inspection cannot see from the outside.</a:t>
            </a:r>
            <a:endParaRPr lang="en-US" sz="1500" dirty="0"/>
          </a:p>
        </p:txBody>
      </p:sp>
      <p:sp>
        <p:nvSpPr>
          <p:cNvPr id="4" name="Shape 2"/>
          <p:cNvSpPr/>
          <p:nvPr/>
        </p:nvSpPr>
        <p:spPr>
          <a:xfrm>
            <a:off x="548640" y="1645920"/>
            <a:ext cx="5362956" cy="4069080"/>
          </a:xfrm>
          <a:prstGeom prst="roundRect">
            <a:avLst>
              <a:gd name="adj" fmla="val 1798"/>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5" name="Shape 3"/>
          <p:cNvSpPr/>
          <p:nvPr/>
        </p:nvSpPr>
        <p:spPr>
          <a:xfrm>
            <a:off x="859536" y="1901952"/>
            <a:ext cx="749808" cy="420624"/>
          </a:xfrm>
          <a:prstGeom prst="roundRect">
            <a:avLst>
              <a:gd name="adj" fmla="val 17391"/>
            </a:avLst>
          </a:prstGeom>
          <a:solidFill>
            <a:srgbClr val="0A2540"/>
          </a:solidFill>
          <a:ln w="12700">
            <a:solidFill>
              <a:srgbClr val="0A2540"/>
            </a:solidFill>
            <a:prstDash val="solid"/>
          </a:ln>
        </p:spPr>
      </p:sp>
      <p:sp>
        <p:nvSpPr>
          <p:cNvPr id="6" name="Text 4"/>
          <p:cNvSpPr txBox="1"/>
          <p:nvPr/>
        </p:nvSpPr>
        <p:spPr>
          <a:xfrm>
            <a:off x="859536" y="190195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A2</a:t>
            </a:r>
            <a:endParaRPr lang="en-US" sz="1600" dirty="0"/>
          </a:p>
        </p:txBody>
      </p:sp>
      <p:sp>
        <p:nvSpPr>
          <p:cNvPr id="7" name="Text 5"/>
          <p:cNvSpPr txBox="1"/>
          <p:nvPr/>
        </p:nvSpPr>
        <p:spPr>
          <a:xfrm>
            <a:off x="1737360" y="1810512"/>
            <a:ext cx="3863340" cy="603504"/>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Documents inside every order</a:t>
            </a:r>
            <a:endParaRPr lang="en-US" sz="1700" dirty="0"/>
          </a:p>
        </p:txBody>
      </p:sp>
      <p:sp>
        <p:nvSpPr>
          <p:cNvPr id="8" name="Text 6"/>
          <p:cNvSpPr txBox="1"/>
          <p:nvPr/>
        </p:nvSpPr>
        <p:spPr>
          <a:xfrm>
            <a:off x="859536" y="2615184"/>
            <a:ext cx="4741164" cy="256032"/>
          </a:xfrm>
          <a:prstGeom prst="rect">
            <a:avLst/>
          </a:prstGeom>
          <a:noFill/>
          <a:ln/>
        </p:spPr>
        <p:txBody>
          <a:bodyPr wrap="square" lIns="0" tIns="0" rIns="0" bIns="0" rtlCol="0" anchor="ctr"/>
          <a:lstStyle/>
          <a:p>
            <a:pPr indent="0" marL="0">
              <a:buNone/>
            </a:pPr>
            <a:r>
              <a:rPr lang="en-US" sz="1050" b="1" spc="140" kern="0" dirty="0">
                <a:solidFill>
                  <a:srgbClr val="4A5B6E"/>
                </a:solidFill>
                <a:latin typeface="Calibri" pitchFamily="34" charset="0"/>
                <a:ea typeface="Calibri" pitchFamily="34" charset="-122"/>
                <a:cs typeface="Calibri" pitchFamily="34" charset="-120"/>
              </a:rPr>
              <a:t>WHAT WE PROPOSE</a:t>
            </a:r>
            <a:endParaRPr lang="en-US" sz="1050" dirty="0"/>
          </a:p>
        </p:txBody>
      </p:sp>
      <p:sp>
        <p:nvSpPr>
          <p:cNvPr id="9" name="Text 7"/>
          <p:cNvSpPr txBox="1"/>
          <p:nvPr/>
        </p:nvSpPr>
        <p:spPr>
          <a:xfrm>
            <a:off x="859536" y="2889504"/>
            <a:ext cx="4741164" cy="91440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We propose verifying the business once, at account level, and letting an unverified buyer place an order while dispatch waits on the check.</a:t>
            </a:r>
            <a:endParaRPr lang="en-US" sz="1350" dirty="0"/>
          </a:p>
        </p:txBody>
      </p:sp>
      <p:sp>
        <p:nvSpPr>
          <p:cNvPr id="10" name="Text 8"/>
          <p:cNvSpPr txBox="1"/>
          <p:nvPr/>
        </p:nvSpPr>
        <p:spPr>
          <a:xfrm>
            <a:off x="859536" y="3895344"/>
            <a:ext cx="4741164" cy="256032"/>
          </a:xfrm>
          <a:prstGeom prst="rect">
            <a:avLst/>
          </a:prstGeom>
          <a:noFill/>
          <a:ln/>
        </p:spPr>
        <p:txBody>
          <a:bodyPr wrap="square" lIns="0" tIns="0" rIns="0" bIns="0" rtlCol="0" anchor="ctr"/>
          <a:lstStyle/>
          <a:p>
            <a:pPr indent="0" marL="0">
              <a:buNone/>
            </a:pPr>
            <a:r>
              <a:rPr lang="en-US" sz="1050" b="1" spc="140" kern="0" dirty="0">
                <a:solidFill>
                  <a:srgbClr val="9C5C00"/>
                </a:solidFill>
                <a:latin typeface="Calibri" pitchFamily="34" charset="0"/>
                <a:ea typeface="Calibri" pitchFamily="34" charset="-122"/>
                <a:cs typeface="Calibri" pitchFamily="34" charset="-120"/>
              </a:rPr>
              <a:t>WHAT WE NEED YOU TO CONFIRM</a:t>
            </a:r>
            <a:endParaRPr lang="en-US" sz="1050" dirty="0"/>
          </a:p>
        </p:txBody>
      </p:sp>
      <p:sp>
        <p:nvSpPr>
          <p:cNvPr id="11" name="Text 9"/>
          <p:cNvSpPr txBox="1"/>
          <p:nvPr/>
        </p:nvSpPr>
        <p:spPr>
          <a:xfrm>
            <a:off x="859536" y="4169664"/>
            <a:ext cx="4741164" cy="1481328"/>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Does Bahrain trade regulation, or your own supplier agreements, require the documents to sit against each individual order? If so, the fix becomes “collect once, attach automatically” rather than “collect once, skip afterwards”.</a:t>
            </a:r>
            <a:endParaRPr lang="en-US" sz="1350" dirty="0"/>
          </a:p>
        </p:txBody>
      </p:sp>
      <p:sp>
        <p:nvSpPr>
          <p:cNvPr id="12" name="Shape 10"/>
          <p:cNvSpPr/>
          <p:nvPr/>
        </p:nvSpPr>
        <p:spPr>
          <a:xfrm>
            <a:off x="6277356" y="1645920"/>
            <a:ext cx="5362956" cy="4069080"/>
          </a:xfrm>
          <a:prstGeom prst="roundRect">
            <a:avLst>
              <a:gd name="adj" fmla="val 1798"/>
            </a:avLst>
          </a:prstGeom>
          <a:solidFill>
            <a:srgbClr val="F1F5F9"/>
          </a:solidFill>
          <a:ln w="12700">
            <a:solidFill>
              <a:srgbClr val="F1F5F9"/>
            </a:solidFill>
            <a:prstDash val="solid"/>
          </a:ln>
          <a:effectLst>
            <a:outerShdw sx="100000" sy="100000" kx="0" ky="0" algn="bl" rotWithShape="0" blurRad="127000" dist="12700" dir="5400000">
              <a:srgbClr val="0A2540">
                <a:alpha val="9000"/>
              </a:srgbClr>
            </a:outerShdw>
          </a:effectLst>
        </p:spPr>
      </p:sp>
      <p:sp>
        <p:nvSpPr>
          <p:cNvPr id="13" name="Shape 11"/>
          <p:cNvSpPr/>
          <p:nvPr/>
        </p:nvSpPr>
        <p:spPr>
          <a:xfrm>
            <a:off x="6588252" y="1901952"/>
            <a:ext cx="749808" cy="420624"/>
          </a:xfrm>
          <a:prstGeom prst="roundRect">
            <a:avLst>
              <a:gd name="adj" fmla="val 17391"/>
            </a:avLst>
          </a:prstGeom>
          <a:solidFill>
            <a:srgbClr val="0A2540"/>
          </a:solidFill>
          <a:ln w="12700">
            <a:solidFill>
              <a:srgbClr val="0A2540"/>
            </a:solidFill>
            <a:prstDash val="solid"/>
          </a:ln>
        </p:spPr>
      </p:sp>
      <p:sp>
        <p:nvSpPr>
          <p:cNvPr id="14" name="Text 12"/>
          <p:cNvSpPr txBox="1"/>
          <p:nvPr/>
        </p:nvSpPr>
        <p:spPr>
          <a:xfrm>
            <a:off x="6588252" y="1901952"/>
            <a:ext cx="749808"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a:t>
            </a:r>
            <a:endParaRPr lang="en-US" sz="1600" dirty="0"/>
          </a:p>
        </p:txBody>
      </p:sp>
      <p:sp>
        <p:nvSpPr>
          <p:cNvPr id="15" name="Text 13"/>
          <p:cNvSpPr txBox="1"/>
          <p:nvPr/>
        </p:nvSpPr>
        <p:spPr>
          <a:xfrm>
            <a:off x="7466076" y="1810512"/>
            <a:ext cx="3863340" cy="603504"/>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Receipt upload on a separate page</a:t>
            </a:r>
            <a:endParaRPr lang="en-US" sz="1700" dirty="0"/>
          </a:p>
        </p:txBody>
      </p:sp>
      <p:sp>
        <p:nvSpPr>
          <p:cNvPr id="16" name="Text 14"/>
          <p:cNvSpPr txBox="1"/>
          <p:nvPr/>
        </p:nvSpPr>
        <p:spPr>
          <a:xfrm>
            <a:off x="6588252" y="2615184"/>
            <a:ext cx="4741164" cy="256032"/>
          </a:xfrm>
          <a:prstGeom prst="rect">
            <a:avLst/>
          </a:prstGeom>
          <a:noFill/>
          <a:ln/>
        </p:spPr>
        <p:txBody>
          <a:bodyPr wrap="square" lIns="0" tIns="0" rIns="0" bIns="0" rtlCol="0" anchor="ctr"/>
          <a:lstStyle/>
          <a:p>
            <a:pPr indent="0" marL="0">
              <a:buNone/>
            </a:pPr>
            <a:r>
              <a:rPr lang="en-US" sz="1050" b="1" spc="140" kern="0" dirty="0">
                <a:solidFill>
                  <a:srgbClr val="4A5B6E"/>
                </a:solidFill>
                <a:latin typeface="Calibri" pitchFamily="34" charset="0"/>
                <a:ea typeface="Calibri" pitchFamily="34" charset="-122"/>
                <a:cs typeface="Calibri" pitchFamily="34" charset="-120"/>
              </a:rPr>
              <a:t>WHAT WE PROPOSE</a:t>
            </a:r>
            <a:endParaRPr lang="en-US" sz="1050" dirty="0"/>
          </a:p>
        </p:txBody>
      </p:sp>
      <p:sp>
        <p:nvSpPr>
          <p:cNvPr id="17" name="Text 15"/>
          <p:cNvSpPr txBox="1"/>
          <p:nvPr/>
        </p:nvSpPr>
        <p:spPr>
          <a:xfrm>
            <a:off x="6588252" y="2889504"/>
            <a:ext cx="4741164" cy="914400"/>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We propose completing the transfer receipt on the confirmation page, where the payment is requested.</a:t>
            </a:r>
            <a:endParaRPr lang="en-US" sz="1350" dirty="0"/>
          </a:p>
        </p:txBody>
      </p:sp>
      <p:sp>
        <p:nvSpPr>
          <p:cNvPr id="18" name="Text 16"/>
          <p:cNvSpPr txBox="1"/>
          <p:nvPr/>
        </p:nvSpPr>
        <p:spPr>
          <a:xfrm>
            <a:off x="6588252" y="3895344"/>
            <a:ext cx="4741164" cy="256032"/>
          </a:xfrm>
          <a:prstGeom prst="rect">
            <a:avLst/>
          </a:prstGeom>
          <a:noFill/>
          <a:ln/>
        </p:spPr>
        <p:txBody>
          <a:bodyPr wrap="square" lIns="0" tIns="0" rIns="0" bIns="0" rtlCol="0" anchor="ctr"/>
          <a:lstStyle/>
          <a:p>
            <a:pPr indent="0" marL="0">
              <a:buNone/>
            </a:pPr>
            <a:r>
              <a:rPr lang="en-US" sz="1050" b="1" spc="140" kern="0" dirty="0">
                <a:solidFill>
                  <a:srgbClr val="9C5C00"/>
                </a:solidFill>
                <a:latin typeface="Calibri" pitchFamily="34" charset="0"/>
                <a:ea typeface="Calibri" pitchFamily="34" charset="-122"/>
                <a:cs typeface="Calibri" pitchFamily="34" charset="-120"/>
              </a:rPr>
              <a:t>WHAT WE NEED YOU TO CONFIRM</a:t>
            </a:r>
            <a:endParaRPr lang="en-US" sz="1050" dirty="0"/>
          </a:p>
        </p:txBody>
      </p:sp>
      <p:sp>
        <p:nvSpPr>
          <p:cNvPr id="19" name="Text 17"/>
          <p:cNvSpPr txBox="1"/>
          <p:nvPr/>
        </p:nvSpPr>
        <p:spPr>
          <a:xfrm>
            <a:off x="6588252" y="4169664"/>
            <a:ext cx="4741164" cy="1481328"/>
          </a:xfrm>
          <a:prstGeom prst="rect">
            <a:avLst/>
          </a:prstGeom>
          <a:noFill/>
          <a:ln/>
        </p:spPr>
        <p:txBody>
          <a:bodyPr wrap="square" lIns="0" tIns="0" rIns="0" bIns="0" rtlCol="0" anchor="t"/>
          <a:lstStyle/>
          <a:p>
            <a:pPr indent="0" marL="0">
              <a:lnSpc>
                <a:spcPts val="1900"/>
              </a:lnSpc>
              <a:buNone/>
            </a:pPr>
            <a:r>
              <a:rPr lang="en-US" sz="1350" dirty="0">
                <a:solidFill>
                  <a:srgbClr val="0F1C2B"/>
                </a:solidFill>
                <a:latin typeface="Calibri" pitchFamily="34" charset="0"/>
                <a:ea typeface="Calibri" pitchFamily="34" charset="-122"/>
                <a:cs typeface="Calibri" pitchFamily="34" charset="-120"/>
              </a:rPr>
              <a:t>Was the split deliberate — a finance workflow that needs the receipt tied to a tracked order record? If so, the page can still host the upload and post it to the same record.</a:t>
            </a:r>
            <a:endParaRPr lang="en-US" sz="1350" dirty="0"/>
          </a:p>
        </p:txBody>
      </p:sp>
      <p:sp>
        <p:nvSpPr>
          <p:cNvPr id="20" name="Text 18"/>
          <p:cNvSpPr txBox="1"/>
          <p:nvPr/>
        </p:nvSpPr>
        <p:spPr>
          <a:xfrm>
            <a:off x="548640" y="6327648"/>
            <a:ext cx="7315200" cy="256032"/>
          </a:xfrm>
          <a:prstGeom prst="rect">
            <a:avLst/>
          </a:prstGeom>
          <a:noFill/>
          <a:ln/>
        </p:spPr>
        <p:txBody>
          <a:bodyPr wrap="square" lIns="0" tIns="0" rIns="0" bIns="0" rtlCol="0" anchor="ctr"/>
          <a:lstStyle/>
          <a:p>
            <a:pPr indent="0" marL="0">
              <a:buNone/>
            </a:pPr>
            <a:r>
              <a:rPr lang="en-US" sz="900" dirty="0">
                <a:solidFill>
                  <a:srgbClr val="7C8DA0"/>
                </a:solidFill>
                <a:latin typeface="Calibri" pitchFamily="34" charset="0"/>
                <a:ea typeface="Calibri" pitchFamily="34" charset="-122"/>
                <a:cs typeface="Calibri" pitchFamily="34" charset="-120"/>
              </a:rPr>
              <a:t>HIGHBASE checkout — heuristic evaluation</a:t>
            </a:r>
            <a:endParaRPr lang="en-US" sz="900" dirty="0"/>
          </a:p>
        </p:txBody>
      </p:sp>
      <p:sp>
        <p:nvSpPr>
          <p:cNvPr id="21" name="Text 19"/>
          <p:cNvSpPr txBox="1"/>
          <p:nvPr/>
        </p:nvSpPr>
        <p:spPr>
          <a:xfrm>
            <a:off x="11091672" y="6327648"/>
            <a:ext cx="548640" cy="256032"/>
          </a:xfrm>
          <a:prstGeom prst="rect">
            <a:avLst/>
          </a:prstGeom>
          <a:noFill/>
          <a:ln/>
        </p:spPr>
        <p:txBody>
          <a:bodyPr wrap="square" lIns="0" tIns="0" rIns="0" bIns="0" rtlCol="0" anchor="ctr"/>
          <a:lstStyle/>
          <a:p>
            <a:pPr algn="r" indent="0" marL="0">
              <a:buNone/>
            </a:pPr>
            <a:r>
              <a:rPr lang="en-US" sz="900" dirty="0">
                <a:solidFill>
                  <a:srgbClr val="7C8DA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548640" y="173736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prototype</a:t>
            </a:r>
            <a:endParaRPr lang="en-US" sz="4000" dirty="0"/>
          </a:p>
        </p:txBody>
      </p:sp>
      <p:sp>
        <p:nvSpPr>
          <p:cNvPr id="3" name="Text 1"/>
          <p:cNvSpPr txBox="1"/>
          <p:nvPr/>
        </p:nvSpPr>
        <p:spPr>
          <a:xfrm>
            <a:off x="548640" y="2606040"/>
            <a:ext cx="8595360" cy="1005840"/>
          </a:xfrm>
          <a:prstGeom prst="rect">
            <a:avLst/>
          </a:prstGeom>
          <a:noFill/>
          <a:ln/>
        </p:spPr>
        <p:txBody>
          <a:bodyPr wrap="square" lIns="0" tIns="0" rIns="0" bIns="0" rtlCol="0" anchor="ctr"/>
          <a:lstStyle/>
          <a:p>
            <a:pPr indent="0" marL="0">
              <a:lnSpc>
                <a:spcPts val="2500"/>
              </a:lnSpc>
              <a:buNone/>
            </a:pPr>
            <a:r>
              <a:rPr lang="en-US" sz="1700" dirty="0">
                <a:solidFill>
                  <a:srgbClr val="C7DCF0"/>
                </a:solidFill>
                <a:latin typeface="Calibri" pitchFamily="34" charset="0"/>
                <a:ea typeface="Calibri" pitchFamily="34" charset="-122"/>
                <a:cs typeface="Calibri" pitchFamily="34" charset="-120"/>
              </a:rPr>
              <a:t>Every fix in this deck is clickable — cart, checkout and payment, with an annotations layer that puts each finding next to the change it produced, and the full evaluation as a fourth tab.</a:t>
            </a:r>
            <a:endParaRPr lang="en-US" sz="1700" dirty="0"/>
          </a:p>
        </p:txBody>
      </p:sp>
      <p:sp>
        <p:nvSpPr>
          <p:cNvPr id="4" name="Shape 2"/>
          <p:cNvSpPr/>
          <p:nvPr/>
        </p:nvSpPr>
        <p:spPr>
          <a:xfrm>
            <a:off x="548640" y="3794760"/>
            <a:ext cx="8595360" cy="786384"/>
          </a:xfrm>
          <a:prstGeom prst="roundRect">
            <a:avLst>
              <a:gd name="adj" fmla="val 9302"/>
            </a:avLst>
          </a:prstGeom>
          <a:solidFill>
            <a:srgbClr val="16456F"/>
          </a:solidFill>
          <a:ln w="12700">
            <a:solidFill>
              <a:srgbClr val="16456F"/>
            </a:solidFill>
            <a:prstDash val="solid"/>
          </a:ln>
          <a:effectLst>
            <a:outerShdw sx="100000" sy="100000" kx="0" ky="0" algn="bl" rotWithShape="0" blurRad="127000" dist="12700" dir="5400000">
              <a:srgbClr val="0A2540">
                <a:alpha val="9000"/>
              </a:srgbClr>
            </a:outerShdw>
          </a:effectLst>
        </p:spPr>
      </p:sp>
      <p:sp>
        <p:nvSpPr>
          <p:cNvPr id="5" name="Text 3"/>
          <p:cNvSpPr txBox="1"/>
          <p:nvPr/>
        </p:nvSpPr>
        <p:spPr>
          <a:xfrm>
            <a:off x="914400" y="3794760"/>
            <a:ext cx="7863840" cy="7863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claude.ai/code/artifact/3347569c-c1ae-4db3-ab55-23807cda4690</a:t>
            </a:r>
            <a:endParaRPr lang="en-US" sz="1500" dirty="0"/>
          </a:p>
        </p:txBody>
      </p:sp>
      <p:sp>
        <p:nvSpPr>
          <p:cNvPr id="6" name="Text 4"/>
          <p:cNvSpPr txBox="1"/>
          <p:nvPr/>
        </p:nvSpPr>
        <p:spPr>
          <a:xfrm>
            <a:off x="548640" y="4754880"/>
            <a:ext cx="8595360" cy="365760"/>
          </a:xfrm>
          <a:prstGeom prst="rect">
            <a:avLst/>
          </a:prstGeom>
          <a:noFill/>
          <a:ln/>
        </p:spPr>
        <p:txBody>
          <a:bodyPr wrap="square" lIns="0" tIns="0" rIns="0" bIns="0" rtlCol="0" anchor="ctr"/>
          <a:lstStyle/>
          <a:p>
            <a:pPr indent="0" marL="0">
              <a:buNone/>
            </a:pPr>
            <a:r>
              <a:rPr lang="en-US" sz="1300" dirty="0">
                <a:solidFill>
                  <a:srgbClr val="8FA9C4"/>
                </a:solidFill>
                <a:latin typeface="Calibri" pitchFamily="34" charset="0"/>
                <a:ea typeface="Calibri" pitchFamily="34" charset="-122"/>
                <a:cs typeface="Calibri" pitchFamily="34" charset="-120"/>
              </a:rPr>
              <a:t>Open the Evaluation tab for the full findings table with evidence, heuristics and severities.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HIGHBASE checkout — heuristic evaluation</dc:title>
  <dc:subject>PptxGenJS Presentation</dc:subject>
  <dc:creator>Design</dc:creator>
  <cp:lastModifiedBy>Design</cp:lastModifiedBy>
  <cp:revision>1</cp:revision>
  <dcterms:created xsi:type="dcterms:W3CDTF">2026-09-10T12:56:34Z</dcterms:created>
  <dcterms:modified xsi:type="dcterms:W3CDTF">2026-09-10T12:56:34Z</dcterms:modified>
</cp:coreProperties>
</file>